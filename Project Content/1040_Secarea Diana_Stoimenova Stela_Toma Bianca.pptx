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Ex1.xml" ContentType="application/vnd.ms-office.chartex+xml"/>
  <Override PartName="/ppt/charts/chartEx2.xml" ContentType="application/vnd.ms-office.chartex+xml"/>
  <Override PartName="/ppt/charts/chartEx3.xml" ContentType="application/vnd.ms-office.chartex+xml"/>
  <Override PartName="/ppt/charts/chartEx4.xml" ContentType="application/vnd.ms-office.chartex+xml"/>
  <Override PartName="/docMetadata/LabelInfo.xml" ContentType="application/vnd.ms-office.classificationlabels+xml"/>
  <Override PartName="/ppt/authors.xml" ContentType="application/vnd.ms-powerpoint.authors+xml"/>
  <Override PartName="/ppt/charts/colors9.xml" ContentType="application/vnd.ms-office.chartcolorstyle+xml"/>
  <Override PartName="/ppt/charts/style9.xml" ContentType="application/vnd.ms-office.chartstyle+xml"/>
  <Override PartName="/ppt/charts/colors10.xml" ContentType="application/vnd.ms-office.chartcolorstyle+xml"/>
  <Override PartName="/ppt/charts/style10.xml" ContentType="application/vnd.ms-office.chartstyle+xml"/>
  <Override PartName="/ppt/charts/colors11.xml" ContentType="application/vnd.ms-office.chartcolorstyle+xml"/>
  <Override PartName="/ppt/charts/style11.xml" ContentType="application/vnd.ms-office.chartstyle+xml"/>
  <Override PartName="/ppt/charts/colors12.xml" ContentType="application/vnd.ms-office.chartcolorstyle+xml"/>
  <Override PartName="/ppt/charts/style12.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6"/>
  </p:notesMasterIdLst>
  <p:sldIdLst>
    <p:sldId id="278" r:id="rId5"/>
    <p:sldId id="279" r:id="rId6"/>
    <p:sldId id="280" r:id="rId7"/>
    <p:sldId id="296" r:id="rId8"/>
    <p:sldId id="297" r:id="rId9"/>
    <p:sldId id="298" r:id="rId10"/>
    <p:sldId id="299" r:id="rId11"/>
    <p:sldId id="300" r:id="rId12"/>
    <p:sldId id="281" r:id="rId13"/>
    <p:sldId id="301" r:id="rId14"/>
    <p:sldId id="302" r:id="rId15"/>
    <p:sldId id="303" r:id="rId16"/>
    <p:sldId id="304" r:id="rId17"/>
    <p:sldId id="284" r:id="rId18"/>
    <p:sldId id="306" r:id="rId19"/>
    <p:sldId id="307" r:id="rId20"/>
    <p:sldId id="308" r:id="rId21"/>
    <p:sldId id="309" r:id="rId22"/>
    <p:sldId id="314" r:id="rId23"/>
    <p:sldId id="282" r:id="rId24"/>
    <p:sldId id="292" r:id="rId25"/>
    <p:sldId id="310" r:id="rId26"/>
    <p:sldId id="311" r:id="rId27"/>
    <p:sldId id="312" r:id="rId28"/>
    <p:sldId id="313" r:id="rId29"/>
    <p:sldId id="290" r:id="rId30"/>
    <p:sldId id="315" r:id="rId31"/>
    <p:sldId id="305" r:id="rId32"/>
    <p:sldId id="293" r:id="rId33"/>
    <p:sldId id="294" r:id="rId34"/>
    <p:sldId id="295" r:id="rId3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15" autoAdjust="0"/>
    <p:restoredTop sz="94609" autoAdjust="0"/>
  </p:normalViewPr>
  <p:slideViewPr>
    <p:cSldViewPr snapToGrid="0" snapToObjects="1">
      <p:cViewPr varScale="1">
        <p:scale>
          <a:sx n="87" d="100"/>
          <a:sy n="87" d="100"/>
        </p:scale>
        <p:origin x="720" y="62"/>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oleObject" Target="file:///E:\college\Statistics\Statistic_project(2).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E:\college\Statistics\Statistic_project(2).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E:\college\Statistics\Statistic_project(2).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E:\college\Statistics\Statistic_project(2).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E:\college\Statistics\Statistic_project(2).xlsx" TargetMode="External"/></Relationships>
</file>

<file path=ppt/charts/_rels/chart13.xml.rels><?xml version="1.0" encoding="UTF-8" standalone="yes"?>
<Relationships xmlns="http://schemas.openxmlformats.org/package/2006/relationships"><Relationship Id="rId3" Type="http://schemas.openxmlformats.org/officeDocument/2006/relationships/oleObject" Target="file:///E:\college\Statistics\Statistic_project(2).xlsx" TargetMode="External"/><Relationship Id="rId2" Type="http://schemas.microsoft.com/office/2011/relationships/chartColorStyle" Target="colors8.xml"/><Relationship Id="rId1" Type="http://schemas.microsoft.com/office/2011/relationships/chartStyle" Target="style8.xml"/></Relationships>
</file>

<file path=ppt/charts/_rels/chartEx1.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E:\college\Statistics\Statistic_project(2).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E:\college\Statistics\Statistic_project(2).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file:///E:\college\Statistics\Statistic_project(2).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file:///E:\college\Statistics\Statistic_project(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'Main sheet'!$B$1</c:f>
              <c:strCache>
                <c:ptCount val="1"/>
                <c:pt idx="0">
                  <c:v>No. of hospitals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 sheet'!$A$2:$A$31</c:f>
              <c:strCache>
                <c:ptCount val="30"/>
                <c:pt idx="0">
                  <c:v>Bistrita-Nasaud</c:v>
                </c:pt>
                <c:pt idx="1">
                  <c:v>Cluj</c:v>
                </c:pt>
                <c:pt idx="2">
                  <c:v>Maramures</c:v>
                </c:pt>
                <c:pt idx="3">
                  <c:v>Satu Mare</c:v>
                </c:pt>
                <c:pt idx="4">
                  <c:v>Salaj</c:v>
                </c:pt>
                <c:pt idx="5">
                  <c:v>Alba</c:v>
                </c:pt>
                <c:pt idx="6">
                  <c:v>Brasov</c:v>
                </c:pt>
                <c:pt idx="7">
                  <c:v>Covasna</c:v>
                </c:pt>
                <c:pt idx="8">
                  <c:v>Harghita</c:v>
                </c:pt>
                <c:pt idx="9">
                  <c:v>Mures</c:v>
                </c:pt>
                <c:pt idx="10">
                  <c:v>Sibiu</c:v>
                </c:pt>
                <c:pt idx="11">
                  <c:v>Bacau</c:v>
                </c:pt>
                <c:pt idx="12">
                  <c:v>Botosani</c:v>
                </c:pt>
                <c:pt idx="13">
                  <c:v>Iasi</c:v>
                </c:pt>
                <c:pt idx="14">
                  <c:v>Neamt</c:v>
                </c:pt>
                <c:pt idx="15">
                  <c:v>Suceava</c:v>
                </c:pt>
                <c:pt idx="16">
                  <c:v>Vaslui</c:v>
                </c:pt>
                <c:pt idx="17">
                  <c:v>Braila</c:v>
                </c:pt>
                <c:pt idx="18">
                  <c:v>Buzau</c:v>
                </c:pt>
                <c:pt idx="19">
                  <c:v>Constanta</c:v>
                </c:pt>
                <c:pt idx="20">
                  <c:v>Galati</c:v>
                </c:pt>
                <c:pt idx="21">
                  <c:v>Tulcea</c:v>
                </c:pt>
                <c:pt idx="22">
                  <c:v>Vrancea</c:v>
                </c:pt>
                <c:pt idx="23">
                  <c:v>Arges</c:v>
                </c:pt>
                <c:pt idx="24">
                  <c:v>Calarasi</c:v>
                </c:pt>
                <c:pt idx="25">
                  <c:v>Dambovita</c:v>
                </c:pt>
                <c:pt idx="26">
                  <c:v>Giurgiu</c:v>
                </c:pt>
                <c:pt idx="27">
                  <c:v>Ialomita</c:v>
                </c:pt>
                <c:pt idx="28">
                  <c:v>Prahova</c:v>
                </c:pt>
                <c:pt idx="29">
                  <c:v>Teleorman</c:v>
                </c:pt>
              </c:strCache>
            </c:strRef>
          </c:cat>
          <c:val>
            <c:numRef>
              <c:f>'Main sheet'!$B$2:$B$31</c:f>
              <c:numCache>
                <c:formatCode>General</c:formatCode>
                <c:ptCount val="30"/>
                <c:pt idx="0">
                  <c:v>4</c:v>
                </c:pt>
                <c:pt idx="1">
                  <c:v>37</c:v>
                </c:pt>
                <c:pt idx="2">
                  <c:v>15</c:v>
                </c:pt>
                <c:pt idx="3">
                  <c:v>6</c:v>
                </c:pt>
                <c:pt idx="4">
                  <c:v>6</c:v>
                </c:pt>
                <c:pt idx="5">
                  <c:v>11</c:v>
                </c:pt>
                <c:pt idx="6">
                  <c:v>23</c:v>
                </c:pt>
                <c:pt idx="7">
                  <c:v>4</c:v>
                </c:pt>
                <c:pt idx="8">
                  <c:v>7</c:v>
                </c:pt>
                <c:pt idx="9">
                  <c:v>16</c:v>
                </c:pt>
                <c:pt idx="10">
                  <c:v>12</c:v>
                </c:pt>
                <c:pt idx="11">
                  <c:v>16</c:v>
                </c:pt>
                <c:pt idx="12">
                  <c:v>4</c:v>
                </c:pt>
                <c:pt idx="13">
                  <c:v>29</c:v>
                </c:pt>
                <c:pt idx="14">
                  <c:v>7</c:v>
                </c:pt>
                <c:pt idx="15">
                  <c:v>14</c:v>
                </c:pt>
                <c:pt idx="16">
                  <c:v>5</c:v>
                </c:pt>
                <c:pt idx="17">
                  <c:v>5</c:v>
                </c:pt>
                <c:pt idx="18">
                  <c:v>9</c:v>
                </c:pt>
                <c:pt idx="19">
                  <c:v>20</c:v>
                </c:pt>
                <c:pt idx="20">
                  <c:v>10</c:v>
                </c:pt>
                <c:pt idx="21">
                  <c:v>4</c:v>
                </c:pt>
                <c:pt idx="22">
                  <c:v>7</c:v>
                </c:pt>
                <c:pt idx="23">
                  <c:v>17</c:v>
                </c:pt>
                <c:pt idx="24">
                  <c:v>6</c:v>
                </c:pt>
                <c:pt idx="25">
                  <c:v>4</c:v>
                </c:pt>
                <c:pt idx="26">
                  <c:v>4</c:v>
                </c:pt>
                <c:pt idx="27">
                  <c:v>4</c:v>
                </c:pt>
                <c:pt idx="28">
                  <c:v>25</c:v>
                </c:pt>
                <c:pt idx="29">
                  <c:v>7</c:v>
                </c:pt>
              </c:numCache>
            </c:numRef>
          </c:val>
          <c:extLst>
            <c:ext xmlns:c16="http://schemas.microsoft.com/office/drawing/2014/chart" uri="{C3380CC4-5D6E-409C-BE32-E72D297353CC}">
              <c16:uniqueId val="{00000000-A10F-424F-A694-253E281DABE2}"/>
            </c:ext>
          </c:extLst>
        </c:ser>
        <c:dLbls>
          <c:dLblPos val="outEnd"/>
          <c:showLegendKey val="0"/>
          <c:showVal val="1"/>
          <c:showCatName val="0"/>
          <c:showSerName val="0"/>
          <c:showPercent val="0"/>
          <c:showBubbleSize val="0"/>
        </c:dLbls>
        <c:gapWidth val="219"/>
        <c:overlap val="-27"/>
        <c:axId val="1473603183"/>
        <c:axId val="1659154431"/>
      </c:barChart>
      <c:catAx>
        <c:axId val="1473603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9154431"/>
        <c:crosses val="autoZero"/>
        <c:auto val="1"/>
        <c:lblAlgn val="ctr"/>
        <c:lblOffset val="100"/>
        <c:noMultiLvlLbl val="0"/>
      </c:catAx>
      <c:valAx>
        <c:axId val="1659154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0318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'Main sheet'!$C$1</c:f>
              <c:strCache>
                <c:ptCount val="1"/>
                <c:pt idx="0">
                  <c:v>Physicians (dentists excluded)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 sheet'!$A$2:$A$31</c:f>
              <c:strCache>
                <c:ptCount val="30"/>
                <c:pt idx="0">
                  <c:v>Bistrita-Nasaud</c:v>
                </c:pt>
                <c:pt idx="1">
                  <c:v>Cluj</c:v>
                </c:pt>
                <c:pt idx="2">
                  <c:v>Maramures</c:v>
                </c:pt>
                <c:pt idx="3">
                  <c:v>Satu Mare</c:v>
                </c:pt>
                <c:pt idx="4">
                  <c:v>Salaj</c:v>
                </c:pt>
                <c:pt idx="5">
                  <c:v>Alba</c:v>
                </c:pt>
                <c:pt idx="6">
                  <c:v>Brasov</c:v>
                </c:pt>
                <c:pt idx="7">
                  <c:v>Covasna</c:v>
                </c:pt>
                <c:pt idx="8">
                  <c:v>Harghita</c:v>
                </c:pt>
                <c:pt idx="9">
                  <c:v>Mures</c:v>
                </c:pt>
                <c:pt idx="10">
                  <c:v>Sibiu</c:v>
                </c:pt>
                <c:pt idx="11">
                  <c:v>Bacau</c:v>
                </c:pt>
                <c:pt idx="12">
                  <c:v>Botosani</c:v>
                </c:pt>
                <c:pt idx="13">
                  <c:v>Iasi</c:v>
                </c:pt>
                <c:pt idx="14">
                  <c:v>Neamt</c:v>
                </c:pt>
                <c:pt idx="15">
                  <c:v>Suceava</c:v>
                </c:pt>
                <c:pt idx="16">
                  <c:v>Vaslui</c:v>
                </c:pt>
                <c:pt idx="17">
                  <c:v>Braila</c:v>
                </c:pt>
                <c:pt idx="18">
                  <c:v>Buzau</c:v>
                </c:pt>
                <c:pt idx="19">
                  <c:v>Constanta</c:v>
                </c:pt>
                <c:pt idx="20">
                  <c:v>Galati</c:v>
                </c:pt>
                <c:pt idx="21">
                  <c:v>Tulcea</c:v>
                </c:pt>
                <c:pt idx="22">
                  <c:v>Vrancea</c:v>
                </c:pt>
                <c:pt idx="23">
                  <c:v>Arges</c:v>
                </c:pt>
                <c:pt idx="24">
                  <c:v>Calarasi</c:v>
                </c:pt>
                <c:pt idx="25">
                  <c:v>Dambovita</c:v>
                </c:pt>
                <c:pt idx="26">
                  <c:v>Giurgiu</c:v>
                </c:pt>
                <c:pt idx="27">
                  <c:v>Ialomita</c:v>
                </c:pt>
                <c:pt idx="28">
                  <c:v>Prahova</c:v>
                </c:pt>
                <c:pt idx="29">
                  <c:v>Teleorman</c:v>
                </c:pt>
              </c:strCache>
            </c:strRef>
          </c:cat>
          <c:val>
            <c:numRef>
              <c:f>'Main sheet'!$C$2:$C$31</c:f>
              <c:numCache>
                <c:formatCode>General</c:formatCode>
                <c:ptCount val="30"/>
                <c:pt idx="0">
                  <c:v>504</c:v>
                </c:pt>
                <c:pt idx="1">
                  <c:v>4383</c:v>
                </c:pt>
                <c:pt idx="2">
                  <c:v>948</c:v>
                </c:pt>
                <c:pt idx="3">
                  <c:v>630</c:v>
                </c:pt>
                <c:pt idx="4">
                  <c:v>456</c:v>
                </c:pt>
                <c:pt idx="5">
                  <c:v>672</c:v>
                </c:pt>
                <c:pt idx="6">
                  <c:v>2035</c:v>
                </c:pt>
                <c:pt idx="7">
                  <c:v>436</c:v>
                </c:pt>
                <c:pt idx="8">
                  <c:v>620</c:v>
                </c:pt>
                <c:pt idx="9">
                  <c:v>2984</c:v>
                </c:pt>
                <c:pt idx="10">
                  <c:v>1561</c:v>
                </c:pt>
                <c:pt idx="11">
                  <c:v>1065</c:v>
                </c:pt>
                <c:pt idx="12">
                  <c:v>674</c:v>
                </c:pt>
                <c:pt idx="13">
                  <c:v>5294</c:v>
                </c:pt>
                <c:pt idx="14">
                  <c:v>862</c:v>
                </c:pt>
                <c:pt idx="15">
                  <c:v>984</c:v>
                </c:pt>
                <c:pt idx="16">
                  <c:v>543</c:v>
                </c:pt>
                <c:pt idx="17">
                  <c:v>565</c:v>
                </c:pt>
                <c:pt idx="18">
                  <c:v>629</c:v>
                </c:pt>
                <c:pt idx="19">
                  <c:v>2608</c:v>
                </c:pt>
                <c:pt idx="20">
                  <c:v>1203</c:v>
                </c:pt>
                <c:pt idx="21">
                  <c:v>321</c:v>
                </c:pt>
                <c:pt idx="22">
                  <c:v>523</c:v>
                </c:pt>
                <c:pt idx="23">
                  <c:v>1538</c:v>
                </c:pt>
                <c:pt idx="24">
                  <c:v>347</c:v>
                </c:pt>
                <c:pt idx="25">
                  <c:v>604</c:v>
                </c:pt>
                <c:pt idx="26">
                  <c:v>313</c:v>
                </c:pt>
                <c:pt idx="27">
                  <c:v>360</c:v>
                </c:pt>
                <c:pt idx="28">
                  <c:v>1197</c:v>
                </c:pt>
                <c:pt idx="29">
                  <c:v>481</c:v>
                </c:pt>
              </c:numCache>
            </c:numRef>
          </c:val>
          <c:extLst>
            <c:ext xmlns:c16="http://schemas.microsoft.com/office/drawing/2014/chart" uri="{C3380CC4-5D6E-409C-BE32-E72D297353CC}">
              <c16:uniqueId val="{00000000-DA9D-498C-AFF6-EC81EF971390}"/>
            </c:ext>
          </c:extLst>
        </c:ser>
        <c:dLbls>
          <c:dLblPos val="outEnd"/>
          <c:showLegendKey val="0"/>
          <c:showVal val="1"/>
          <c:showCatName val="0"/>
          <c:showSerName val="0"/>
          <c:showPercent val="0"/>
          <c:showBubbleSize val="0"/>
        </c:dLbls>
        <c:gapWidth val="219"/>
        <c:overlap val="-27"/>
        <c:axId val="1473623823"/>
        <c:axId val="1658358383"/>
      </c:barChart>
      <c:catAx>
        <c:axId val="1473623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8358383"/>
        <c:crosses val="autoZero"/>
        <c:auto val="1"/>
        <c:lblAlgn val="ctr"/>
        <c:lblOffset val="100"/>
        <c:noMultiLvlLbl val="0"/>
      </c:catAx>
      <c:valAx>
        <c:axId val="1658358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238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'Main sheet'!$D$1</c:f>
              <c:strCache>
                <c:ptCount val="1"/>
                <c:pt idx="0">
                  <c:v>Family doctors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'Main sheet'!$A$2:$A$31</c:f>
              <c:strCache>
                <c:ptCount val="30"/>
                <c:pt idx="0">
                  <c:v>Bistrita-Nasaud</c:v>
                </c:pt>
                <c:pt idx="1">
                  <c:v>Cluj</c:v>
                </c:pt>
                <c:pt idx="2">
                  <c:v>Maramures</c:v>
                </c:pt>
                <c:pt idx="3">
                  <c:v>Satu Mare</c:v>
                </c:pt>
                <c:pt idx="4">
                  <c:v>Salaj</c:v>
                </c:pt>
                <c:pt idx="5">
                  <c:v>Alba</c:v>
                </c:pt>
                <c:pt idx="6">
                  <c:v>Brasov</c:v>
                </c:pt>
                <c:pt idx="7">
                  <c:v>Covasna</c:v>
                </c:pt>
                <c:pt idx="8">
                  <c:v>Harghita</c:v>
                </c:pt>
                <c:pt idx="9">
                  <c:v>Mures</c:v>
                </c:pt>
                <c:pt idx="10">
                  <c:v>Sibiu</c:v>
                </c:pt>
                <c:pt idx="11">
                  <c:v>Bacau</c:v>
                </c:pt>
                <c:pt idx="12">
                  <c:v>Botosani</c:v>
                </c:pt>
                <c:pt idx="13">
                  <c:v>Iasi</c:v>
                </c:pt>
                <c:pt idx="14">
                  <c:v>Neamt</c:v>
                </c:pt>
                <c:pt idx="15">
                  <c:v>Suceava</c:v>
                </c:pt>
                <c:pt idx="16">
                  <c:v>Vaslui</c:v>
                </c:pt>
                <c:pt idx="17">
                  <c:v>Braila</c:v>
                </c:pt>
                <c:pt idx="18">
                  <c:v>Buzau</c:v>
                </c:pt>
                <c:pt idx="19">
                  <c:v>Constanta</c:v>
                </c:pt>
                <c:pt idx="20">
                  <c:v>Galati</c:v>
                </c:pt>
                <c:pt idx="21">
                  <c:v>Tulcea</c:v>
                </c:pt>
                <c:pt idx="22">
                  <c:v>Vrancea</c:v>
                </c:pt>
                <c:pt idx="23">
                  <c:v>Arges</c:v>
                </c:pt>
                <c:pt idx="24">
                  <c:v>Calarasi</c:v>
                </c:pt>
                <c:pt idx="25">
                  <c:v>Dambovita</c:v>
                </c:pt>
                <c:pt idx="26">
                  <c:v>Giurgiu</c:v>
                </c:pt>
                <c:pt idx="27">
                  <c:v>Ialomita</c:v>
                </c:pt>
                <c:pt idx="28">
                  <c:v>Prahova</c:v>
                </c:pt>
                <c:pt idx="29">
                  <c:v>Teleorman</c:v>
                </c:pt>
              </c:strCache>
            </c:strRef>
          </c:cat>
          <c:val>
            <c:numRef>
              <c:f>'Main sheet'!$D$2:$D$31</c:f>
              <c:numCache>
                <c:formatCode>General</c:formatCode>
                <c:ptCount val="30"/>
                <c:pt idx="0">
                  <c:v>133</c:v>
                </c:pt>
                <c:pt idx="1">
                  <c:v>491</c:v>
                </c:pt>
                <c:pt idx="2">
                  <c:v>244</c:v>
                </c:pt>
                <c:pt idx="3">
                  <c:v>174</c:v>
                </c:pt>
                <c:pt idx="4">
                  <c:v>108</c:v>
                </c:pt>
                <c:pt idx="5">
                  <c:v>166</c:v>
                </c:pt>
                <c:pt idx="6">
                  <c:v>400</c:v>
                </c:pt>
                <c:pt idx="7">
                  <c:v>91</c:v>
                </c:pt>
                <c:pt idx="8">
                  <c:v>162</c:v>
                </c:pt>
                <c:pt idx="9">
                  <c:v>387</c:v>
                </c:pt>
                <c:pt idx="10">
                  <c:v>317</c:v>
                </c:pt>
                <c:pt idx="11">
                  <c:v>250</c:v>
                </c:pt>
                <c:pt idx="12">
                  <c:v>153</c:v>
                </c:pt>
                <c:pt idx="13">
                  <c:v>542</c:v>
                </c:pt>
                <c:pt idx="14">
                  <c:v>238</c:v>
                </c:pt>
                <c:pt idx="15">
                  <c:v>256</c:v>
                </c:pt>
                <c:pt idx="16">
                  <c:v>141</c:v>
                </c:pt>
                <c:pt idx="17">
                  <c:v>137</c:v>
                </c:pt>
                <c:pt idx="18">
                  <c:v>193</c:v>
                </c:pt>
                <c:pt idx="19">
                  <c:v>441</c:v>
                </c:pt>
                <c:pt idx="20">
                  <c:v>297</c:v>
                </c:pt>
                <c:pt idx="21">
                  <c:v>80</c:v>
                </c:pt>
                <c:pt idx="22">
                  <c:v>141</c:v>
                </c:pt>
                <c:pt idx="23">
                  <c:v>335</c:v>
                </c:pt>
                <c:pt idx="24">
                  <c:v>108</c:v>
                </c:pt>
                <c:pt idx="25">
                  <c:v>211</c:v>
                </c:pt>
                <c:pt idx="26">
                  <c:v>102</c:v>
                </c:pt>
                <c:pt idx="27">
                  <c:v>106</c:v>
                </c:pt>
                <c:pt idx="28">
                  <c:v>362</c:v>
                </c:pt>
                <c:pt idx="29">
                  <c:v>153</c:v>
                </c:pt>
              </c:numCache>
            </c:numRef>
          </c:val>
          <c:extLst>
            <c:ext xmlns:c16="http://schemas.microsoft.com/office/drawing/2014/chart" uri="{C3380CC4-5D6E-409C-BE32-E72D297353CC}">
              <c16:uniqueId val="{00000000-1D4D-4F3A-BABD-2B81A48A7BDA}"/>
            </c:ext>
          </c:extLst>
        </c:ser>
        <c:dLbls>
          <c:showLegendKey val="0"/>
          <c:showVal val="0"/>
          <c:showCatName val="0"/>
          <c:showSerName val="0"/>
          <c:showPercent val="0"/>
          <c:showBubbleSize val="0"/>
        </c:dLbls>
        <c:gapWidth val="219"/>
        <c:overlap val="-27"/>
        <c:axId val="1473606543"/>
        <c:axId val="1465502719"/>
      </c:barChart>
      <c:catAx>
        <c:axId val="1473606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5502719"/>
        <c:crosses val="autoZero"/>
        <c:auto val="1"/>
        <c:lblAlgn val="ctr"/>
        <c:lblOffset val="100"/>
        <c:noMultiLvlLbl val="0"/>
      </c:catAx>
      <c:valAx>
        <c:axId val="1465502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065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473606543"/>
        <c:axId val="1465502719"/>
      </c:barChart>
      <c:catAx>
        <c:axId val="1473606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5502719"/>
        <c:crosses val="autoZero"/>
        <c:auto val="1"/>
        <c:lblAlgn val="ctr"/>
        <c:lblOffset val="100"/>
        <c:noMultiLvlLbl val="0"/>
      </c:catAx>
      <c:valAx>
        <c:axId val="1465502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065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'Main sheet'!$E$1</c:f>
              <c:strCache>
                <c:ptCount val="1"/>
                <c:pt idx="0">
                  <c:v>Number of the beds from sanitary units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'Main sheet'!$A$2:$A$31</c:f>
              <c:strCache>
                <c:ptCount val="30"/>
                <c:pt idx="0">
                  <c:v>Bistrita-Nasaud</c:v>
                </c:pt>
                <c:pt idx="1">
                  <c:v>Cluj</c:v>
                </c:pt>
                <c:pt idx="2">
                  <c:v>Maramures</c:v>
                </c:pt>
                <c:pt idx="3">
                  <c:v>Satu Mare</c:v>
                </c:pt>
                <c:pt idx="4">
                  <c:v>Salaj</c:v>
                </c:pt>
                <c:pt idx="5">
                  <c:v>Alba</c:v>
                </c:pt>
                <c:pt idx="6">
                  <c:v>Brasov</c:v>
                </c:pt>
                <c:pt idx="7">
                  <c:v>Covasna</c:v>
                </c:pt>
                <c:pt idx="8">
                  <c:v>Harghita</c:v>
                </c:pt>
                <c:pt idx="9">
                  <c:v>Mures</c:v>
                </c:pt>
                <c:pt idx="10">
                  <c:v>Sibiu</c:v>
                </c:pt>
                <c:pt idx="11">
                  <c:v>Bacau</c:v>
                </c:pt>
                <c:pt idx="12">
                  <c:v>Botosani</c:v>
                </c:pt>
                <c:pt idx="13">
                  <c:v>Iasi</c:v>
                </c:pt>
                <c:pt idx="14">
                  <c:v>Neamt</c:v>
                </c:pt>
                <c:pt idx="15">
                  <c:v>Suceava</c:v>
                </c:pt>
                <c:pt idx="16">
                  <c:v>Vaslui</c:v>
                </c:pt>
                <c:pt idx="17">
                  <c:v>Braila</c:v>
                </c:pt>
                <c:pt idx="18">
                  <c:v>Buzau</c:v>
                </c:pt>
                <c:pt idx="19">
                  <c:v>Constanta</c:v>
                </c:pt>
                <c:pt idx="20">
                  <c:v>Galati</c:v>
                </c:pt>
                <c:pt idx="21">
                  <c:v>Tulcea</c:v>
                </c:pt>
                <c:pt idx="22">
                  <c:v>Vrancea</c:v>
                </c:pt>
                <c:pt idx="23">
                  <c:v>Arges</c:v>
                </c:pt>
                <c:pt idx="24">
                  <c:v>Calarasi</c:v>
                </c:pt>
                <c:pt idx="25">
                  <c:v>Dambovita</c:v>
                </c:pt>
                <c:pt idx="26">
                  <c:v>Giurgiu</c:v>
                </c:pt>
                <c:pt idx="27">
                  <c:v>Ialomita</c:v>
                </c:pt>
                <c:pt idx="28">
                  <c:v>Prahova</c:v>
                </c:pt>
                <c:pt idx="29">
                  <c:v>Teleorman</c:v>
                </c:pt>
              </c:strCache>
            </c:strRef>
          </c:cat>
          <c:val>
            <c:numRef>
              <c:f>'Main sheet'!$E$2:$E$31</c:f>
              <c:numCache>
                <c:formatCode>General</c:formatCode>
                <c:ptCount val="30"/>
                <c:pt idx="0">
                  <c:v>1520</c:v>
                </c:pt>
                <c:pt idx="1">
                  <c:v>7142</c:v>
                </c:pt>
                <c:pt idx="2">
                  <c:v>2920</c:v>
                </c:pt>
                <c:pt idx="3">
                  <c:v>1804</c:v>
                </c:pt>
                <c:pt idx="4">
                  <c:v>1303</c:v>
                </c:pt>
                <c:pt idx="5">
                  <c:v>2087</c:v>
                </c:pt>
                <c:pt idx="6">
                  <c:v>3877</c:v>
                </c:pt>
                <c:pt idx="7">
                  <c:v>1810</c:v>
                </c:pt>
                <c:pt idx="8">
                  <c:v>1966</c:v>
                </c:pt>
                <c:pt idx="9">
                  <c:v>4160</c:v>
                </c:pt>
                <c:pt idx="10">
                  <c:v>2814</c:v>
                </c:pt>
                <c:pt idx="11">
                  <c:v>3391</c:v>
                </c:pt>
                <c:pt idx="12">
                  <c:v>2191</c:v>
                </c:pt>
                <c:pt idx="13">
                  <c:v>7575</c:v>
                </c:pt>
                <c:pt idx="14">
                  <c:v>2340</c:v>
                </c:pt>
                <c:pt idx="15">
                  <c:v>3091</c:v>
                </c:pt>
                <c:pt idx="16">
                  <c:v>1951</c:v>
                </c:pt>
                <c:pt idx="17">
                  <c:v>1952</c:v>
                </c:pt>
                <c:pt idx="18">
                  <c:v>2581</c:v>
                </c:pt>
                <c:pt idx="19">
                  <c:v>4485</c:v>
                </c:pt>
                <c:pt idx="20">
                  <c:v>2965</c:v>
                </c:pt>
                <c:pt idx="21">
                  <c:v>831</c:v>
                </c:pt>
                <c:pt idx="22">
                  <c:v>1327</c:v>
                </c:pt>
                <c:pt idx="23">
                  <c:v>3619</c:v>
                </c:pt>
                <c:pt idx="24">
                  <c:v>1211</c:v>
                </c:pt>
                <c:pt idx="25">
                  <c:v>2357</c:v>
                </c:pt>
                <c:pt idx="26">
                  <c:v>831</c:v>
                </c:pt>
                <c:pt idx="27">
                  <c:v>859</c:v>
                </c:pt>
                <c:pt idx="28">
                  <c:v>4415</c:v>
                </c:pt>
                <c:pt idx="29">
                  <c:v>1913</c:v>
                </c:pt>
              </c:numCache>
            </c:numRef>
          </c:val>
          <c:extLst>
            <c:ext xmlns:c16="http://schemas.microsoft.com/office/drawing/2014/chart" uri="{C3380CC4-5D6E-409C-BE32-E72D297353CC}">
              <c16:uniqueId val="{00000000-E047-4996-8BD5-9B53A5F16DF9}"/>
            </c:ext>
          </c:extLst>
        </c:ser>
        <c:dLbls>
          <c:dLblPos val="outEnd"/>
          <c:showLegendKey val="0"/>
          <c:showVal val="1"/>
          <c:showCatName val="0"/>
          <c:showSerName val="0"/>
          <c:showPercent val="0"/>
          <c:showBubbleSize val="0"/>
        </c:dLbls>
        <c:gapWidth val="219"/>
        <c:overlap val="-27"/>
        <c:axId val="1473607023"/>
        <c:axId val="1671571823"/>
      </c:barChart>
      <c:catAx>
        <c:axId val="1473607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1571823"/>
        <c:crosses val="autoZero"/>
        <c:auto val="1"/>
        <c:lblAlgn val="ctr"/>
        <c:lblOffset val="100"/>
        <c:noMultiLvlLbl val="0"/>
      </c:catAx>
      <c:valAx>
        <c:axId val="16715718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070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473606543"/>
        <c:axId val="1465502719"/>
      </c:barChart>
      <c:catAx>
        <c:axId val="1473606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5502719"/>
        <c:crosses val="autoZero"/>
        <c:auto val="1"/>
        <c:lblAlgn val="ctr"/>
        <c:lblOffset val="100"/>
        <c:noMultiLvlLbl val="0"/>
      </c:catAx>
      <c:valAx>
        <c:axId val="1465502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065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'Main sheet'!$F$1</c:f>
              <c:strCache>
                <c:ptCount val="1"/>
                <c:pt idx="0">
                  <c:v>Number of deaths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 sheet'!$A$2:$A$31</c:f>
              <c:strCache>
                <c:ptCount val="30"/>
                <c:pt idx="0">
                  <c:v>Bistrita-Nasaud</c:v>
                </c:pt>
                <c:pt idx="1">
                  <c:v>Cluj</c:v>
                </c:pt>
                <c:pt idx="2">
                  <c:v>Maramures</c:v>
                </c:pt>
                <c:pt idx="3">
                  <c:v>Satu Mare</c:v>
                </c:pt>
                <c:pt idx="4">
                  <c:v>Salaj</c:v>
                </c:pt>
                <c:pt idx="5">
                  <c:v>Alba</c:v>
                </c:pt>
                <c:pt idx="6">
                  <c:v>Brasov</c:v>
                </c:pt>
                <c:pt idx="7">
                  <c:v>Covasna</c:v>
                </c:pt>
                <c:pt idx="8">
                  <c:v>Harghita</c:v>
                </c:pt>
                <c:pt idx="9">
                  <c:v>Mures</c:v>
                </c:pt>
                <c:pt idx="10">
                  <c:v>Sibiu</c:v>
                </c:pt>
                <c:pt idx="11">
                  <c:v>Bacau</c:v>
                </c:pt>
                <c:pt idx="12">
                  <c:v>Botosani</c:v>
                </c:pt>
                <c:pt idx="13">
                  <c:v>Iasi</c:v>
                </c:pt>
                <c:pt idx="14">
                  <c:v>Neamt</c:v>
                </c:pt>
                <c:pt idx="15">
                  <c:v>Suceava</c:v>
                </c:pt>
                <c:pt idx="16">
                  <c:v>Vaslui</c:v>
                </c:pt>
                <c:pt idx="17">
                  <c:v>Braila</c:v>
                </c:pt>
                <c:pt idx="18">
                  <c:v>Buzau</c:v>
                </c:pt>
                <c:pt idx="19">
                  <c:v>Constanta</c:v>
                </c:pt>
                <c:pt idx="20">
                  <c:v>Galati</c:v>
                </c:pt>
                <c:pt idx="21">
                  <c:v>Tulcea</c:v>
                </c:pt>
                <c:pt idx="22">
                  <c:v>Vrancea</c:v>
                </c:pt>
                <c:pt idx="23">
                  <c:v>Arges</c:v>
                </c:pt>
                <c:pt idx="24">
                  <c:v>Calarasi</c:v>
                </c:pt>
                <c:pt idx="25">
                  <c:v>Dambovita</c:v>
                </c:pt>
                <c:pt idx="26">
                  <c:v>Giurgiu</c:v>
                </c:pt>
                <c:pt idx="27">
                  <c:v>Ialomita</c:v>
                </c:pt>
                <c:pt idx="28">
                  <c:v>Prahova</c:v>
                </c:pt>
                <c:pt idx="29">
                  <c:v>Teleorman</c:v>
                </c:pt>
              </c:strCache>
            </c:strRef>
          </c:cat>
          <c:val>
            <c:numRef>
              <c:f>'Main sheet'!$F$2:$F$31</c:f>
              <c:numCache>
                <c:formatCode>General</c:formatCode>
                <c:ptCount val="30"/>
                <c:pt idx="0">
                  <c:v>3500</c:v>
                </c:pt>
                <c:pt idx="1">
                  <c:v>8697</c:v>
                </c:pt>
                <c:pt idx="2">
                  <c:v>5995</c:v>
                </c:pt>
                <c:pt idx="3">
                  <c:v>4485</c:v>
                </c:pt>
                <c:pt idx="4">
                  <c:v>3161</c:v>
                </c:pt>
                <c:pt idx="5">
                  <c:v>4646</c:v>
                </c:pt>
                <c:pt idx="6">
                  <c:v>6981</c:v>
                </c:pt>
                <c:pt idx="7">
                  <c:v>2756</c:v>
                </c:pt>
                <c:pt idx="8">
                  <c:v>3924</c:v>
                </c:pt>
                <c:pt idx="9">
                  <c:v>7686</c:v>
                </c:pt>
                <c:pt idx="10">
                  <c:v>4836</c:v>
                </c:pt>
                <c:pt idx="11">
                  <c:v>9129</c:v>
                </c:pt>
                <c:pt idx="12">
                  <c:v>5729</c:v>
                </c:pt>
                <c:pt idx="13">
                  <c:v>9282</c:v>
                </c:pt>
                <c:pt idx="14">
                  <c:v>7195</c:v>
                </c:pt>
                <c:pt idx="15">
                  <c:v>8053</c:v>
                </c:pt>
                <c:pt idx="16">
                  <c:v>5577</c:v>
                </c:pt>
                <c:pt idx="17">
                  <c:v>5189</c:v>
                </c:pt>
                <c:pt idx="18">
                  <c:v>6977</c:v>
                </c:pt>
                <c:pt idx="19">
                  <c:v>9203</c:v>
                </c:pt>
                <c:pt idx="20">
                  <c:v>7431</c:v>
                </c:pt>
                <c:pt idx="21">
                  <c:v>3160</c:v>
                </c:pt>
                <c:pt idx="22">
                  <c:v>4842</c:v>
                </c:pt>
                <c:pt idx="23">
                  <c:v>8193</c:v>
                </c:pt>
                <c:pt idx="24">
                  <c:v>4623</c:v>
                </c:pt>
                <c:pt idx="25">
                  <c:v>6873</c:v>
                </c:pt>
                <c:pt idx="26">
                  <c:v>4418</c:v>
                </c:pt>
                <c:pt idx="27">
                  <c:v>4087</c:v>
                </c:pt>
                <c:pt idx="28">
                  <c:v>11195</c:v>
                </c:pt>
                <c:pt idx="29">
                  <c:v>6286</c:v>
                </c:pt>
              </c:numCache>
            </c:numRef>
          </c:val>
          <c:extLst>
            <c:ext xmlns:c16="http://schemas.microsoft.com/office/drawing/2014/chart" uri="{C3380CC4-5D6E-409C-BE32-E72D297353CC}">
              <c16:uniqueId val="{00000000-2D27-4A40-9BAA-2628F3A17EFD}"/>
            </c:ext>
          </c:extLst>
        </c:ser>
        <c:dLbls>
          <c:dLblPos val="outEnd"/>
          <c:showLegendKey val="0"/>
          <c:showVal val="1"/>
          <c:showCatName val="0"/>
          <c:showSerName val="0"/>
          <c:showPercent val="0"/>
          <c:showBubbleSize val="0"/>
        </c:dLbls>
        <c:gapWidth val="219"/>
        <c:overlap val="-27"/>
        <c:axId val="1473611823"/>
        <c:axId val="1659670127"/>
      </c:barChart>
      <c:catAx>
        <c:axId val="1473611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9670127"/>
        <c:crosses val="autoZero"/>
        <c:auto val="1"/>
        <c:lblAlgn val="ctr"/>
        <c:lblOffset val="100"/>
        <c:noMultiLvlLbl val="0"/>
      </c:catAx>
      <c:valAx>
        <c:axId val="16596701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36118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Hospitals</a:t>
            </a:r>
          </a:p>
        </c:rich>
      </c:tx>
      <c:overlay val="0"/>
    </c:title>
    <c:autoTitleDeleted val="0"/>
    <c:plotArea>
      <c:layout>
        <c:manualLayout>
          <c:layoutTarget val="inner"/>
          <c:xMode val="edge"/>
          <c:yMode val="edge"/>
          <c:x val="0.14542616481706497"/>
          <c:y val="0.28270255143040185"/>
          <c:w val="0.61009470881000982"/>
          <c:h val="0.29086221937254564"/>
        </c:manualLayout>
      </c:layout>
      <c:barChart>
        <c:barDir val="col"/>
        <c:grouping val="clustered"/>
        <c:varyColors val="0"/>
        <c:ser>
          <c:idx val="0"/>
          <c:order val="0"/>
          <c:tx>
            <c:v>Frequency</c:v>
          </c:tx>
          <c:invertIfNegative val="0"/>
          <c:cat>
            <c:strRef>
              <c:f>Hospitals!$B$18:$B$24</c:f>
              <c:strCache>
                <c:ptCount val="7"/>
                <c:pt idx="0">
                  <c:v>(4-9)</c:v>
                </c:pt>
                <c:pt idx="1">
                  <c:v>(10-15)</c:v>
                </c:pt>
                <c:pt idx="2">
                  <c:v>(16-21)</c:v>
                </c:pt>
                <c:pt idx="3">
                  <c:v>(22-27)</c:v>
                </c:pt>
                <c:pt idx="4">
                  <c:v>(28-32)</c:v>
                </c:pt>
                <c:pt idx="5">
                  <c:v>(32-37)</c:v>
                </c:pt>
                <c:pt idx="6">
                  <c:v>More</c:v>
                </c:pt>
              </c:strCache>
            </c:strRef>
          </c:cat>
          <c:val>
            <c:numRef>
              <c:f>Hospitals!$C$18:$C$24</c:f>
              <c:numCache>
                <c:formatCode>General</c:formatCode>
                <c:ptCount val="7"/>
                <c:pt idx="0">
                  <c:v>16</c:v>
                </c:pt>
                <c:pt idx="1">
                  <c:v>5</c:v>
                </c:pt>
                <c:pt idx="2">
                  <c:v>4</c:v>
                </c:pt>
                <c:pt idx="3">
                  <c:v>2</c:v>
                </c:pt>
                <c:pt idx="4">
                  <c:v>1</c:v>
                </c:pt>
                <c:pt idx="5">
                  <c:v>1</c:v>
                </c:pt>
                <c:pt idx="6">
                  <c:v>0</c:v>
                </c:pt>
              </c:numCache>
            </c:numRef>
          </c:val>
          <c:extLst>
            <c:ext xmlns:c16="http://schemas.microsoft.com/office/drawing/2014/chart" uri="{C3380CC4-5D6E-409C-BE32-E72D297353CC}">
              <c16:uniqueId val="{00000000-E695-4306-A6C1-C12BE4A2BC3E}"/>
            </c:ext>
          </c:extLst>
        </c:ser>
        <c:dLbls>
          <c:showLegendKey val="0"/>
          <c:showVal val="0"/>
          <c:showCatName val="0"/>
          <c:showSerName val="0"/>
          <c:showPercent val="0"/>
          <c:showBubbleSize val="0"/>
        </c:dLbls>
        <c:gapWidth val="0"/>
        <c:axId val="408716136"/>
        <c:axId val="408716528"/>
      </c:barChart>
      <c:catAx>
        <c:axId val="408716136"/>
        <c:scaling>
          <c:orientation val="minMax"/>
        </c:scaling>
        <c:delete val="0"/>
        <c:axPos val="b"/>
        <c:title>
          <c:tx>
            <c:rich>
              <a:bodyPr/>
              <a:lstStyle/>
              <a:p>
                <a:pPr>
                  <a:defRPr/>
                </a:pPr>
                <a:r>
                  <a:rPr lang="en-US"/>
                  <a:t>Bin</a:t>
                </a:r>
              </a:p>
            </c:rich>
          </c:tx>
          <c:overlay val="0"/>
        </c:title>
        <c:numFmt formatCode="General" sourceLinked="1"/>
        <c:majorTickMark val="out"/>
        <c:minorTickMark val="none"/>
        <c:tickLblPos val="nextTo"/>
        <c:crossAx val="408716528"/>
        <c:crosses val="autoZero"/>
        <c:auto val="1"/>
        <c:lblAlgn val="ctr"/>
        <c:lblOffset val="100"/>
        <c:noMultiLvlLbl val="0"/>
      </c:catAx>
      <c:valAx>
        <c:axId val="408716528"/>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408716136"/>
        <c:crosses val="autoZero"/>
        <c:crossBetween val="between"/>
      </c:valAx>
    </c:plotArea>
    <c:legend>
      <c:legendPos val="r"/>
      <c:overlay val="0"/>
    </c:legend>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Physicians</a:t>
            </a:r>
          </a:p>
        </c:rich>
      </c:tx>
      <c:overlay val="0"/>
    </c:title>
    <c:autoTitleDeleted val="0"/>
    <c:plotArea>
      <c:layout/>
      <c:barChart>
        <c:barDir val="col"/>
        <c:grouping val="clustered"/>
        <c:varyColors val="0"/>
        <c:ser>
          <c:idx val="0"/>
          <c:order val="0"/>
          <c:tx>
            <c:v>Frequency</c:v>
          </c:tx>
          <c:invertIfNegative val="0"/>
          <c:cat>
            <c:strRef>
              <c:f>Physicians!$E$10:$E$16</c:f>
              <c:strCache>
                <c:ptCount val="7"/>
                <c:pt idx="0">
                  <c:v>(313-436)</c:v>
                </c:pt>
                <c:pt idx="1">
                  <c:v>(456-543)</c:v>
                </c:pt>
                <c:pt idx="2">
                  <c:v>(565-630)</c:v>
                </c:pt>
                <c:pt idx="3">
                  <c:v>(672-984)</c:v>
                </c:pt>
                <c:pt idx="4">
                  <c:v>(1065-1561)</c:v>
                </c:pt>
                <c:pt idx="5">
                  <c:v>(2035-5294)</c:v>
                </c:pt>
                <c:pt idx="6">
                  <c:v>More</c:v>
                </c:pt>
              </c:strCache>
            </c:strRef>
          </c:cat>
          <c:val>
            <c:numRef>
              <c:f>Physicians!$F$10:$F$16</c:f>
              <c:numCache>
                <c:formatCode>General</c:formatCode>
                <c:ptCount val="7"/>
                <c:pt idx="0">
                  <c:v>5</c:v>
                </c:pt>
                <c:pt idx="1">
                  <c:v>5</c:v>
                </c:pt>
                <c:pt idx="2">
                  <c:v>5</c:v>
                </c:pt>
                <c:pt idx="3">
                  <c:v>5</c:v>
                </c:pt>
                <c:pt idx="4">
                  <c:v>5</c:v>
                </c:pt>
                <c:pt idx="5">
                  <c:v>5</c:v>
                </c:pt>
                <c:pt idx="6">
                  <c:v>0</c:v>
                </c:pt>
              </c:numCache>
            </c:numRef>
          </c:val>
          <c:extLst>
            <c:ext xmlns:c16="http://schemas.microsoft.com/office/drawing/2014/chart" uri="{C3380CC4-5D6E-409C-BE32-E72D297353CC}">
              <c16:uniqueId val="{00000000-E7D6-4277-8420-2ACE46A9B425}"/>
            </c:ext>
          </c:extLst>
        </c:ser>
        <c:dLbls>
          <c:showLegendKey val="0"/>
          <c:showVal val="0"/>
          <c:showCatName val="0"/>
          <c:showSerName val="0"/>
          <c:showPercent val="0"/>
          <c:showBubbleSize val="0"/>
        </c:dLbls>
        <c:gapWidth val="0"/>
        <c:axId val="401756600"/>
        <c:axId val="401756992"/>
      </c:barChart>
      <c:catAx>
        <c:axId val="401756600"/>
        <c:scaling>
          <c:orientation val="minMax"/>
        </c:scaling>
        <c:delete val="0"/>
        <c:axPos val="b"/>
        <c:title>
          <c:tx>
            <c:rich>
              <a:bodyPr/>
              <a:lstStyle/>
              <a:p>
                <a:pPr>
                  <a:defRPr/>
                </a:pPr>
                <a:r>
                  <a:rPr lang="en-US"/>
                  <a:t>Bin</a:t>
                </a:r>
              </a:p>
            </c:rich>
          </c:tx>
          <c:overlay val="0"/>
        </c:title>
        <c:numFmt formatCode="General" sourceLinked="1"/>
        <c:majorTickMark val="out"/>
        <c:minorTickMark val="none"/>
        <c:tickLblPos val="nextTo"/>
        <c:crossAx val="401756992"/>
        <c:crosses val="autoZero"/>
        <c:auto val="1"/>
        <c:lblAlgn val="ctr"/>
        <c:lblOffset val="100"/>
        <c:noMultiLvlLbl val="0"/>
      </c:catAx>
      <c:valAx>
        <c:axId val="401756992"/>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401756600"/>
        <c:crosses val="autoZero"/>
        <c:crossBetween val="between"/>
      </c:valAx>
    </c:plotArea>
    <c:legend>
      <c:legendPos val="r"/>
      <c:overlay val="0"/>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Family</a:t>
            </a:r>
            <a:r>
              <a:rPr lang="en-US" baseline="0"/>
              <a:t> doctors</a:t>
            </a:r>
            <a:endParaRPr lang="en-US"/>
          </a:p>
        </c:rich>
      </c:tx>
      <c:overlay val="0"/>
    </c:title>
    <c:autoTitleDeleted val="0"/>
    <c:plotArea>
      <c:layout/>
      <c:barChart>
        <c:barDir val="col"/>
        <c:grouping val="clustered"/>
        <c:varyColors val="0"/>
        <c:ser>
          <c:idx val="0"/>
          <c:order val="0"/>
          <c:tx>
            <c:v>Frequency</c:v>
          </c:tx>
          <c:invertIfNegative val="0"/>
          <c:cat>
            <c:strRef>
              <c:f>'Family doctors'!$B$20:$B$26</c:f>
              <c:strCache>
                <c:ptCount val="7"/>
                <c:pt idx="0">
                  <c:v>(80-108)</c:v>
                </c:pt>
                <c:pt idx="1">
                  <c:v>(133-141)</c:v>
                </c:pt>
                <c:pt idx="2">
                  <c:v>(153-174)</c:v>
                </c:pt>
                <c:pt idx="3">
                  <c:v>(193-250)</c:v>
                </c:pt>
                <c:pt idx="4">
                  <c:v>(256-362)</c:v>
                </c:pt>
                <c:pt idx="5">
                  <c:v>(387-542)</c:v>
                </c:pt>
                <c:pt idx="6">
                  <c:v>More</c:v>
                </c:pt>
              </c:strCache>
            </c:strRef>
          </c:cat>
          <c:val>
            <c:numRef>
              <c:f>'Family doctors'!$C$20:$C$26</c:f>
              <c:numCache>
                <c:formatCode>General</c:formatCode>
                <c:ptCount val="7"/>
                <c:pt idx="0">
                  <c:v>4</c:v>
                </c:pt>
                <c:pt idx="1">
                  <c:v>1</c:v>
                </c:pt>
                <c:pt idx="2">
                  <c:v>1</c:v>
                </c:pt>
                <c:pt idx="3">
                  <c:v>1</c:v>
                </c:pt>
                <c:pt idx="4">
                  <c:v>2</c:v>
                </c:pt>
                <c:pt idx="5">
                  <c:v>0</c:v>
                </c:pt>
                <c:pt idx="6">
                  <c:v>0</c:v>
                </c:pt>
              </c:numCache>
            </c:numRef>
          </c:val>
          <c:extLst>
            <c:ext xmlns:c16="http://schemas.microsoft.com/office/drawing/2014/chart" uri="{C3380CC4-5D6E-409C-BE32-E72D297353CC}">
              <c16:uniqueId val="{00000000-3D3A-449C-9429-46C6F3DD35B7}"/>
            </c:ext>
          </c:extLst>
        </c:ser>
        <c:dLbls>
          <c:showLegendKey val="0"/>
          <c:showVal val="0"/>
          <c:showCatName val="0"/>
          <c:showSerName val="0"/>
          <c:showPercent val="0"/>
          <c:showBubbleSize val="0"/>
        </c:dLbls>
        <c:gapWidth val="0"/>
        <c:axId val="397237960"/>
        <c:axId val="397232864"/>
      </c:barChart>
      <c:catAx>
        <c:axId val="397237960"/>
        <c:scaling>
          <c:orientation val="minMax"/>
        </c:scaling>
        <c:delete val="0"/>
        <c:axPos val="b"/>
        <c:title>
          <c:tx>
            <c:rich>
              <a:bodyPr/>
              <a:lstStyle/>
              <a:p>
                <a:pPr>
                  <a:defRPr/>
                </a:pPr>
                <a:r>
                  <a:rPr lang="en-US"/>
                  <a:t>Bin</a:t>
                </a:r>
              </a:p>
            </c:rich>
          </c:tx>
          <c:overlay val="0"/>
        </c:title>
        <c:numFmt formatCode="General" sourceLinked="1"/>
        <c:majorTickMark val="out"/>
        <c:minorTickMark val="none"/>
        <c:tickLblPos val="nextTo"/>
        <c:crossAx val="397232864"/>
        <c:crosses val="autoZero"/>
        <c:auto val="1"/>
        <c:lblAlgn val="ctr"/>
        <c:lblOffset val="100"/>
        <c:noMultiLvlLbl val="0"/>
      </c:catAx>
      <c:valAx>
        <c:axId val="397232864"/>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397237960"/>
        <c:crosses val="autoZero"/>
        <c:crossBetween val="between"/>
      </c:valAx>
    </c:plotArea>
    <c:legend>
      <c:legendPos val="r"/>
      <c:overlay val="0"/>
    </c:legend>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 of bed from sanitary units</a:t>
            </a:r>
          </a:p>
        </c:rich>
      </c:tx>
      <c:layout>
        <c:manualLayout>
          <c:xMode val="edge"/>
          <c:yMode val="edge"/>
          <c:x val="0.14810652556489359"/>
          <c:y val="0"/>
        </c:manualLayout>
      </c:layout>
      <c:overlay val="0"/>
    </c:title>
    <c:autoTitleDeleted val="0"/>
    <c:plotArea>
      <c:layout/>
      <c:barChart>
        <c:barDir val="col"/>
        <c:grouping val="clustered"/>
        <c:varyColors val="0"/>
        <c:ser>
          <c:idx val="0"/>
          <c:order val="0"/>
          <c:tx>
            <c:v>Frequency</c:v>
          </c:tx>
          <c:invertIfNegative val="0"/>
          <c:cat>
            <c:strRef>
              <c:f>'Sanitary beds'!$B$18:$B$24</c:f>
              <c:strCache>
                <c:ptCount val="7"/>
                <c:pt idx="0">
                  <c:v>(831-1303)</c:v>
                </c:pt>
                <c:pt idx="1">
                  <c:v>(1327-1913)</c:v>
                </c:pt>
                <c:pt idx="2">
                  <c:v>(1951-2191)</c:v>
                </c:pt>
                <c:pt idx="3">
                  <c:v>(2340-2920)</c:v>
                </c:pt>
                <c:pt idx="4">
                  <c:v>(2965-3877)</c:v>
                </c:pt>
                <c:pt idx="5">
                  <c:v>(4160-7575)</c:v>
                </c:pt>
                <c:pt idx="6">
                  <c:v>More</c:v>
                </c:pt>
              </c:strCache>
            </c:strRef>
          </c:cat>
          <c:val>
            <c:numRef>
              <c:f>'Sanitary beds'!$C$18:$C$24</c:f>
              <c:numCache>
                <c:formatCode>General</c:formatCode>
                <c:ptCount val="7"/>
                <c:pt idx="0">
                  <c:v>5</c:v>
                </c:pt>
                <c:pt idx="1">
                  <c:v>5</c:v>
                </c:pt>
                <c:pt idx="2">
                  <c:v>5</c:v>
                </c:pt>
                <c:pt idx="3">
                  <c:v>5</c:v>
                </c:pt>
                <c:pt idx="4">
                  <c:v>5</c:v>
                </c:pt>
                <c:pt idx="5">
                  <c:v>5</c:v>
                </c:pt>
                <c:pt idx="6">
                  <c:v>0</c:v>
                </c:pt>
              </c:numCache>
            </c:numRef>
          </c:val>
          <c:extLst>
            <c:ext xmlns:c16="http://schemas.microsoft.com/office/drawing/2014/chart" uri="{C3380CC4-5D6E-409C-BE32-E72D297353CC}">
              <c16:uniqueId val="{00000000-26DF-47B8-92E7-E5F8B5D9059C}"/>
            </c:ext>
          </c:extLst>
        </c:ser>
        <c:dLbls>
          <c:showLegendKey val="0"/>
          <c:showVal val="0"/>
          <c:showCatName val="0"/>
          <c:showSerName val="0"/>
          <c:showPercent val="0"/>
          <c:showBubbleSize val="0"/>
        </c:dLbls>
        <c:gapWidth val="0"/>
        <c:axId val="397233256"/>
        <c:axId val="397234040"/>
      </c:barChart>
      <c:catAx>
        <c:axId val="397233256"/>
        <c:scaling>
          <c:orientation val="minMax"/>
        </c:scaling>
        <c:delete val="0"/>
        <c:axPos val="b"/>
        <c:title>
          <c:tx>
            <c:rich>
              <a:bodyPr/>
              <a:lstStyle/>
              <a:p>
                <a:pPr>
                  <a:defRPr/>
                </a:pPr>
                <a:r>
                  <a:rPr lang="en-US"/>
                  <a:t>Bin</a:t>
                </a:r>
              </a:p>
            </c:rich>
          </c:tx>
          <c:overlay val="0"/>
        </c:title>
        <c:numFmt formatCode="General" sourceLinked="1"/>
        <c:majorTickMark val="out"/>
        <c:minorTickMark val="none"/>
        <c:tickLblPos val="nextTo"/>
        <c:crossAx val="397234040"/>
        <c:crosses val="autoZero"/>
        <c:auto val="1"/>
        <c:lblAlgn val="ctr"/>
        <c:lblOffset val="100"/>
        <c:noMultiLvlLbl val="0"/>
      </c:catAx>
      <c:valAx>
        <c:axId val="397234040"/>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397233256"/>
        <c:crosses val="autoZero"/>
        <c:crossBetween val="between"/>
      </c:valAx>
    </c:plotArea>
    <c:legend>
      <c:legendPos val="r"/>
      <c:overlay val="0"/>
    </c:legend>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a:t>
            </a:r>
            <a:r>
              <a:rPr lang="en-US" baseline="0"/>
              <a:t> of deaths</a:t>
            </a:r>
            <a:endParaRPr lang="en-US"/>
          </a:p>
        </c:rich>
      </c:tx>
      <c:layout/>
      <c:overlay val="0"/>
    </c:title>
    <c:autoTitleDeleted val="0"/>
    <c:plotArea>
      <c:layout/>
      <c:barChart>
        <c:barDir val="col"/>
        <c:grouping val="clustered"/>
        <c:varyColors val="0"/>
        <c:ser>
          <c:idx val="0"/>
          <c:order val="0"/>
          <c:tx>
            <c:v>Frequency</c:v>
          </c:tx>
          <c:invertIfNegative val="0"/>
          <c:cat>
            <c:strRef>
              <c:f>Deaths!$D$4:$D$10</c:f>
              <c:strCache>
                <c:ptCount val="7"/>
                <c:pt idx="0">
                  <c:v>(2766-3924)</c:v>
                </c:pt>
                <c:pt idx="1">
                  <c:v>(4087-4646)</c:v>
                </c:pt>
                <c:pt idx="2">
                  <c:v>(4836-5729)</c:v>
                </c:pt>
                <c:pt idx="3">
                  <c:v>(5995-6981)</c:v>
                </c:pt>
                <c:pt idx="4">
                  <c:v>(7195-8193)</c:v>
                </c:pt>
                <c:pt idx="5">
                  <c:v>(8697-11195)</c:v>
                </c:pt>
                <c:pt idx="6">
                  <c:v>More</c:v>
                </c:pt>
              </c:strCache>
            </c:strRef>
          </c:cat>
          <c:val>
            <c:numRef>
              <c:f>Deaths!$E$4:$E$10</c:f>
              <c:numCache>
                <c:formatCode>General</c:formatCode>
                <c:ptCount val="7"/>
                <c:pt idx="0">
                  <c:v>5</c:v>
                </c:pt>
                <c:pt idx="1">
                  <c:v>5</c:v>
                </c:pt>
                <c:pt idx="2">
                  <c:v>5</c:v>
                </c:pt>
                <c:pt idx="3">
                  <c:v>5</c:v>
                </c:pt>
                <c:pt idx="4">
                  <c:v>5</c:v>
                </c:pt>
                <c:pt idx="5">
                  <c:v>5</c:v>
                </c:pt>
                <c:pt idx="6">
                  <c:v>0</c:v>
                </c:pt>
              </c:numCache>
            </c:numRef>
          </c:val>
          <c:extLst>
            <c:ext xmlns:c16="http://schemas.microsoft.com/office/drawing/2014/chart" uri="{C3380CC4-5D6E-409C-BE32-E72D297353CC}">
              <c16:uniqueId val="{00000000-9EC1-47C2-A9EB-8CF7E040AED4}"/>
            </c:ext>
          </c:extLst>
        </c:ser>
        <c:dLbls>
          <c:showLegendKey val="0"/>
          <c:showVal val="0"/>
          <c:showCatName val="0"/>
          <c:showSerName val="0"/>
          <c:showPercent val="0"/>
          <c:showBubbleSize val="0"/>
        </c:dLbls>
        <c:gapWidth val="0"/>
        <c:axId val="486564512"/>
        <c:axId val="486567256"/>
      </c:barChart>
      <c:catAx>
        <c:axId val="486564512"/>
        <c:scaling>
          <c:orientation val="minMax"/>
        </c:scaling>
        <c:delete val="0"/>
        <c:axPos val="b"/>
        <c:title>
          <c:tx>
            <c:rich>
              <a:bodyPr/>
              <a:lstStyle/>
              <a:p>
                <a:pPr>
                  <a:defRPr/>
                </a:pPr>
                <a:r>
                  <a:rPr lang="en-US"/>
                  <a:t>Bin</a:t>
                </a:r>
              </a:p>
            </c:rich>
          </c:tx>
          <c:layout/>
          <c:overlay val="0"/>
        </c:title>
        <c:numFmt formatCode="General" sourceLinked="1"/>
        <c:majorTickMark val="out"/>
        <c:minorTickMark val="none"/>
        <c:tickLblPos val="nextTo"/>
        <c:crossAx val="486567256"/>
        <c:crosses val="autoZero"/>
        <c:auto val="1"/>
        <c:lblAlgn val="ctr"/>
        <c:lblOffset val="100"/>
        <c:noMultiLvlLbl val="0"/>
      </c:catAx>
      <c:valAx>
        <c:axId val="486567256"/>
        <c:scaling>
          <c:orientation val="minMax"/>
        </c:scaling>
        <c:delete val="0"/>
        <c:axPos val="l"/>
        <c:title>
          <c:tx>
            <c:rich>
              <a:bodyPr/>
              <a:lstStyle/>
              <a:p>
                <a:pPr>
                  <a:defRPr/>
                </a:pPr>
                <a:r>
                  <a:rPr lang="en-US"/>
                  <a:t>Frequency</a:t>
                </a:r>
              </a:p>
            </c:rich>
          </c:tx>
          <c:layout/>
          <c:overlay val="0"/>
        </c:title>
        <c:numFmt formatCode="General" sourceLinked="1"/>
        <c:majorTickMark val="out"/>
        <c:minorTickMark val="none"/>
        <c:tickLblPos val="nextTo"/>
        <c:crossAx val="486564512"/>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Beds and Family</a:t>
            </a:r>
            <a:r>
              <a:rPr lang="en-US" baseline="0"/>
              <a:t> Doctors</a:t>
            </a:r>
            <a:endParaRPr lang="en-US"/>
          </a:p>
        </c:rich>
      </c:tx>
      <c:layout>
        <c:manualLayout>
          <c:xMode val="edge"/>
          <c:yMode val="edge"/>
          <c:x val="0.29859711286089241"/>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'Main sheet'!$D$2:$D$31</c:f>
              <c:numCache>
                <c:formatCode>General</c:formatCode>
                <c:ptCount val="30"/>
                <c:pt idx="0">
                  <c:v>133</c:v>
                </c:pt>
                <c:pt idx="1">
                  <c:v>491</c:v>
                </c:pt>
                <c:pt idx="2">
                  <c:v>244</c:v>
                </c:pt>
                <c:pt idx="3">
                  <c:v>174</c:v>
                </c:pt>
                <c:pt idx="4">
                  <c:v>108</c:v>
                </c:pt>
                <c:pt idx="5">
                  <c:v>166</c:v>
                </c:pt>
                <c:pt idx="6">
                  <c:v>400</c:v>
                </c:pt>
                <c:pt idx="7">
                  <c:v>91</c:v>
                </c:pt>
                <c:pt idx="8">
                  <c:v>162</c:v>
                </c:pt>
                <c:pt idx="9">
                  <c:v>387</c:v>
                </c:pt>
                <c:pt idx="10">
                  <c:v>317</c:v>
                </c:pt>
                <c:pt idx="11">
                  <c:v>250</c:v>
                </c:pt>
                <c:pt idx="12">
                  <c:v>153</c:v>
                </c:pt>
                <c:pt idx="13">
                  <c:v>542</c:v>
                </c:pt>
                <c:pt idx="14">
                  <c:v>238</c:v>
                </c:pt>
                <c:pt idx="15">
                  <c:v>256</c:v>
                </c:pt>
                <c:pt idx="16">
                  <c:v>141</c:v>
                </c:pt>
                <c:pt idx="17">
                  <c:v>137</c:v>
                </c:pt>
                <c:pt idx="18">
                  <c:v>193</c:v>
                </c:pt>
                <c:pt idx="19">
                  <c:v>441</c:v>
                </c:pt>
                <c:pt idx="20">
                  <c:v>297</c:v>
                </c:pt>
                <c:pt idx="21">
                  <c:v>80</c:v>
                </c:pt>
                <c:pt idx="22">
                  <c:v>141</c:v>
                </c:pt>
                <c:pt idx="23">
                  <c:v>335</c:v>
                </c:pt>
                <c:pt idx="24">
                  <c:v>108</c:v>
                </c:pt>
                <c:pt idx="25">
                  <c:v>211</c:v>
                </c:pt>
                <c:pt idx="26">
                  <c:v>102</c:v>
                </c:pt>
                <c:pt idx="27">
                  <c:v>106</c:v>
                </c:pt>
                <c:pt idx="28">
                  <c:v>362</c:v>
                </c:pt>
                <c:pt idx="29">
                  <c:v>153</c:v>
                </c:pt>
              </c:numCache>
            </c:numRef>
          </c:xVal>
          <c:yVal>
            <c:numRef>
              <c:f>'Main sheet'!$E$2:$E$31</c:f>
              <c:numCache>
                <c:formatCode>General</c:formatCode>
                <c:ptCount val="30"/>
                <c:pt idx="0">
                  <c:v>1520</c:v>
                </c:pt>
                <c:pt idx="1">
                  <c:v>7142</c:v>
                </c:pt>
                <c:pt idx="2">
                  <c:v>2920</c:v>
                </c:pt>
                <c:pt idx="3">
                  <c:v>1804</c:v>
                </c:pt>
                <c:pt idx="4">
                  <c:v>1303</c:v>
                </c:pt>
                <c:pt idx="5">
                  <c:v>2087</c:v>
                </c:pt>
                <c:pt idx="6">
                  <c:v>3877</c:v>
                </c:pt>
                <c:pt idx="7">
                  <c:v>1810</c:v>
                </c:pt>
                <c:pt idx="8">
                  <c:v>1966</c:v>
                </c:pt>
                <c:pt idx="9">
                  <c:v>4160</c:v>
                </c:pt>
                <c:pt idx="10">
                  <c:v>2814</c:v>
                </c:pt>
                <c:pt idx="11">
                  <c:v>3391</c:v>
                </c:pt>
                <c:pt idx="12">
                  <c:v>2191</c:v>
                </c:pt>
                <c:pt idx="13">
                  <c:v>7575</c:v>
                </c:pt>
                <c:pt idx="14">
                  <c:v>2340</c:v>
                </c:pt>
                <c:pt idx="15">
                  <c:v>3091</c:v>
                </c:pt>
                <c:pt idx="16">
                  <c:v>1951</c:v>
                </c:pt>
                <c:pt idx="17">
                  <c:v>1952</c:v>
                </c:pt>
                <c:pt idx="18">
                  <c:v>2581</c:v>
                </c:pt>
                <c:pt idx="19">
                  <c:v>4485</c:v>
                </c:pt>
                <c:pt idx="20">
                  <c:v>2965</c:v>
                </c:pt>
                <c:pt idx="21">
                  <c:v>831</c:v>
                </c:pt>
                <c:pt idx="22">
                  <c:v>1327</c:v>
                </c:pt>
                <c:pt idx="23">
                  <c:v>3619</c:v>
                </c:pt>
                <c:pt idx="24">
                  <c:v>1211</c:v>
                </c:pt>
                <c:pt idx="25">
                  <c:v>2357</c:v>
                </c:pt>
                <c:pt idx="26">
                  <c:v>831</c:v>
                </c:pt>
                <c:pt idx="27">
                  <c:v>859</c:v>
                </c:pt>
                <c:pt idx="28">
                  <c:v>4415</c:v>
                </c:pt>
                <c:pt idx="29">
                  <c:v>1913</c:v>
                </c:pt>
              </c:numCache>
            </c:numRef>
          </c:yVal>
          <c:smooth val="0"/>
          <c:extLst>
            <c:ext xmlns:c16="http://schemas.microsoft.com/office/drawing/2014/chart" uri="{C3380CC4-5D6E-409C-BE32-E72D297353CC}">
              <c16:uniqueId val="{00000001-CD2A-447D-9FFC-3F3E5BFB15AD}"/>
            </c:ext>
          </c:extLst>
        </c:ser>
        <c:dLbls>
          <c:showLegendKey val="0"/>
          <c:showVal val="0"/>
          <c:showCatName val="0"/>
          <c:showSerName val="0"/>
          <c:showPercent val="0"/>
          <c:showBubbleSize val="0"/>
        </c:dLbls>
        <c:axId val="557565792"/>
        <c:axId val="685117520"/>
      </c:scatterChart>
      <c:valAx>
        <c:axId val="5575657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5117520"/>
        <c:crosses val="autoZero"/>
        <c:crossBetween val="midCat"/>
      </c:valAx>
      <c:valAx>
        <c:axId val="685117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756579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'E:\college\Statistics\[FINAL STATISTICS.xlsx]Sheet3'!$A$2:$A$31</cx:f>
        <cx:lvl ptCount="30">
          <cx:pt idx="0">4</cx:pt>
          <cx:pt idx="1">37</cx:pt>
          <cx:pt idx="2">15</cx:pt>
          <cx:pt idx="3">6</cx:pt>
          <cx:pt idx="4">6</cx:pt>
          <cx:pt idx="5">11</cx:pt>
          <cx:pt idx="6">23</cx:pt>
          <cx:pt idx="7">4</cx:pt>
          <cx:pt idx="8">7</cx:pt>
          <cx:pt idx="9">16</cx:pt>
          <cx:pt idx="10">12</cx:pt>
          <cx:pt idx="11">16</cx:pt>
          <cx:pt idx="12">4</cx:pt>
          <cx:pt idx="13">29</cx:pt>
          <cx:pt idx="14">7</cx:pt>
          <cx:pt idx="15">14</cx:pt>
          <cx:pt idx="16">5</cx:pt>
          <cx:pt idx="17">5</cx:pt>
          <cx:pt idx="18">9</cx:pt>
          <cx:pt idx="19">20</cx:pt>
          <cx:pt idx="20">10</cx:pt>
          <cx:pt idx="21">4</cx:pt>
          <cx:pt idx="22">7</cx:pt>
          <cx:pt idx="23">17</cx:pt>
          <cx:pt idx="24">6</cx:pt>
          <cx:pt idx="25">4</cx:pt>
          <cx:pt idx="26">4</cx:pt>
          <cx:pt idx="27">4</cx:pt>
          <cx:pt idx="28">25</cx:pt>
          <cx:pt idx="29">7</cx:pt>
        </cx:lvl>
      </cx:numDim>
    </cx:data>
  </cx:chartData>
  <cx:chart>
    <cx:title pos="t" align="ctr" overlay="0">
      <cx:tx>
        <cx:txData>
          <cx:v>Box plot</cx:v>
        </cx:txData>
      </cx:tx>
      <cx:txPr>
        <a:bodyPr rot="0" spcFirstLastPara="1" vertOverflow="ellipsis" vert="horz" wrap="square" lIns="0" tIns="0" rIns="0" bIns="0" anchor="ctr" anchorCtr="1"/>
        <a:lstStyle/>
        <a:p>
          <a:pPr algn="ctr">
            <a:defRPr/>
          </a:pPr>
          <a:r>
            <a:rPr lang="en-US"/>
            <a:t>Box plot</a:t>
          </a:r>
        </a:p>
      </cx:txPr>
    </cx:title>
    <cx:plotArea>
      <cx:plotAreaRegion>
        <cx:series layoutId="boxWhisker" uniqueId="{EA607039-FDA2-4147-83B3-A311E658D0C7}" formatIdx="0">
          <cx:tx>
            <cx:txData>
              <cx:v>Hospitals</cx:v>
            </cx:txData>
          </cx:tx>
          <cx:spPr>
            <a:solidFill>
              <a:schemeClr val="accent1"/>
            </a:solidFill>
          </cx:spPr>
          <cx:dataLabels>
            <cx:visibility seriesName="0" categoryName="0" value="1"/>
          </cx:dataLabels>
          <cx:dataId val="0"/>
          <cx:layoutPr>
            <cx:visibility meanLine="1" meanMarker="1" nonoutliers="0" outliers="1"/>
            <cx:statistics quartileMethod="exclusive"/>
          </cx:layoutPr>
        </cx:series>
      </cx:plotAreaRegion>
      <cx:axis id="0">
        <cx:catScaling gapWidth="1.5"/>
        <cx:tickLabels/>
      </cx:axis>
      <cx:axis id="1">
        <cx:valScaling/>
        <cx:majorGridlines/>
        <cx:tickLabels/>
      </cx:axis>
    </cx:plotArea>
  </cx:chart>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'E:\college\Statistics\[FINAL STATISTICS.xlsx]Sheet4'!$A$2:$A$31</cx:f>
        <cx:lvl ptCount="30">
          <cx:pt idx="0">504</cx:pt>
          <cx:pt idx="1">4383</cx:pt>
          <cx:pt idx="2">948</cx:pt>
          <cx:pt idx="3">630</cx:pt>
          <cx:pt idx="4">456</cx:pt>
          <cx:pt idx="5">672</cx:pt>
          <cx:pt idx="6">2035</cx:pt>
          <cx:pt idx="7">436</cx:pt>
          <cx:pt idx="8">620</cx:pt>
          <cx:pt idx="9">2984</cx:pt>
          <cx:pt idx="10">1561</cx:pt>
          <cx:pt idx="11">1065</cx:pt>
          <cx:pt idx="12">674</cx:pt>
          <cx:pt idx="13">5294</cx:pt>
          <cx:pt idx="14">862</cx:pt>
          <cx:pt idx="15">984</cx:pt>
          <cx:pt idx="16">543</cx:pt>
          <cx:pt idx="17">565</cx:pt>
          <cx:pt idx="18">629</cx:pt>
          <cx:pt idx="19">2608</cx:pt>
          <cx:pt idx="20">1203</cx:pt>
          <cx:pt idx="21">321</cx:pt>
          <cx:pt idx="22">523</cx:pt>
          <cx:pt idx="23">1538</cx:pt>
          <cx:pt idx="24">347</cx:pt>
          <cx:pt idx="25">604</cx:pt>
          <cx:pt idx="26">313</cx:pt>
          <cx:pt idx="27">360</cx:pt>
          <cx:pt idx="28">1197</cx:pt>
          <cx:pt idx="29">481</cx:pt>
        </cx:lvl>
      </cx:numDim>
    </cx:data>
  </cx:chartData>
  <cx:chart>
    <cx:title pos="t" align="ctr" overlay="0">
      <cx:tx>
        <cx:txData>
          <cx:v>Box plot</cx:v>
        </cx:txData>
      </cx:tx>
      <cx:txPr>
        <a:bodyPr rot="0" spcFirstLastPara="1" vertOverflow="ellipsis" vert="horz" wrap="square" lIns="0" tIns="0" rIns="0" bIns="0" anchor="ctr" anchorCtr="1"/>
        <a:lstStyle/>
        <a:p>
          <a:pPr algn="ctr">
            <a:defRPr/>
          </a:pPr>
          <a:r>
            <a:rPr lang="en-US"/>
            <a:t>Box plot</a:t>
          </a:r>
        </a:p>
      </cx:txPr>
    </cx:title>
    <cx:plotArea>
      <cx:plotAreaRegion>
        <cx:series layoutId="boxWhisker" uniqueId="{31DE4768-986B-4276-BCD9-36F7A91BFDD6}">
          <cx:dataLabels>
            <cx:visibility seriesName="0" categoryName="0" value="1"/>
          </cx:dataLabels>
          <cx:dataId val="0"/>
          <cx:layoutPr>
            <cx:visibility meanLine="0" meanMarker="1" nonoutliers="0" outliers="1"/>
            <cx:statistics quartileMethod="exclusive"/>
          </cx:layoutPr>
        </cx:series>
      </cx:plotAreaRegion>
      <cx:axis id="0">
        <cx:catScaling gapWidth="1.5"/>
        <cx:tickLabels/>
      </cx:axis>
      <cx:axis id="1">
        <cx:valScaling/>
        <cx:majorGridlines/>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'E:\college\Statistics\[FINAL STATISTICS.xlsx]Sheet6'!$A$2:$A$31</cx:f>
        <cx:lvl ptCount="30">
          <cx:pt idx="0">1520</cx:pt>
          <cx:pt idx="1">7142</cx:pt>
          <cx:pt idx="2">2920</cx:pt>
          <cx:pt idx="3">1804</cx:pt>
          <cx:pt idx="4">1303</cx:pt>
          <cx:pt idx="5">2087</cx:pt>
          <cx:pt idx="6">3877</cx:pt>
          <cx:pt idx="7">1810</cx:pt>
          <cx:pt idx="8">1966</cx:pt>
          <cx:pt idx="9">4160</cx:pt>
          <cx:pt idx="10">2814</cx:pt>
          <cx:pt idx="11">3391</cx:pt>
          <cx:pt idx="12">2191</cx:pt>
          <cx:pt idx="13">7575</cx:pt>
          <cx:pt idx="14">2340</cx:pt>
          <cx:pt idx="15">3091</cx:pt>
          <cx:pt idx="16">1951</cx:pt>
          <cx:pt idx="17">1952</cx:pt>
          <cx:pt idx="18">2581</cx:pt>
          <cx:pt idx="19">4485</cx:pt>
          <cx:pt idx="20">2965</cx:pt>
          <cx:pt idx="21">831</cx:pt>
          <cx:pt idx="22">1327</cx:pt>
          <cx:pt idx="23">3619</cx:pt>
          <cx:pt idx="24">1211</cx:pt>
          <cx:pt idx="25">2357</cx:pt>
          <cx:pt idx="26">831</cx:pt>
          <cx:pt idx="27">859</cx:pt>
          <cx:pt idx="28">4415</cx:pt>
          <cx:pt idx="29">1913</cx:pt>
        </cx:lvl>
      </cx:numDim>
    </cx:data>
  </cx:chartData>
  <cx:chart>
    <cx:title pos="t" align="ctr" overlay="0">
      <cx:tx>
        <cx:txData>
          <cx:v>Box plot</cx:v>
        </cx:txData>
      </cx:tx>
      <cx:txPr>
        <a:bodyPr rot="0" spcFirstLastPara="1" vertOverflow="ellipsis" vert="horz" wrap="square" lIns="0" tIns="0" rIns="0" bIns="0" anchor="ctr" anchorCtr="1"/>
        <a:lstStyle/>
        <a:p>
          <a:pPr algn="ctr">
            <a:defRPr/>
          </a:pPr>
          <a:r>
            <a:rPr lang="en-US"/>
            <a:t>Box plot</a:t>
          </a:r>
        </a:p>
      </cx:txPr>
    </cx:title>
    <cx:plotArea>
      <cx:plotAreaRegion>
        <cx:series layoutId="boxWhisker" uniqueId="{8B63C3D5-1FE8-4691-998B-103CE964D9D0}">
          <cx:dataLabels>
            <cx:visibility seriesName="0" categoryName="0" value="1"/>
          </cx:dataLabels>
          <cx:dataId val="0"/>
          <cx:layoutPr>
            <cx:visibility meanLine="0" meanMarker="1" nonoutliers="0" outliers="1"/>
            <cx:statistics quartileMethod="exclusive"/>
          </cx:layoutPr>
        </cx:series>
      </cx:plotAreaRegion>
      <cx:axis id="0">
        <cx:catScaling gapWidth="1.5"/>
        <cx:tickLabels/>
      </cx:axis>
      <cx:axis id="1">
        <cx:valScaling/>
        <cx:majorGridlines/>
        <cx:tickLabels/>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'E:\college\Statistics\[FINAL STATISTICS.xlsx]Sheet7'!$A$2:$A$31</cx:f>
        <cx:lvl ptCount="30">
          <cx:pt idx="0">3500</cx:pt>
          <cx:pt idx="1">8697</cx:pt>
          <cx:pt idx="2">5995</cx:pt>
          <cx:pt idx="3">4485</cx:pt>
          <cx:pt idx="4">3161</cx:pt>
          <cx:pt idx="5">4646</cx:pt>
          <cx:pt idx="6">6981</cx:pt>
          <cx:pt idx="7">2756</cx:pt>
          <cx:pt idx="8">3924</cx:pt>
          <cx:pt idx="9">7686</cx:pt>
          <cx:pt idx="10">4836</cx:pt>
          <cx:pt idx="11">9129</cx:pt>
          <cx:pt idx="12">5729</cx:pt>
          <cx:pt idx="13">9282</cx:pt>
          <cx:pt idx="14">7195</cx:pt>
          <cx:pt idx="15">8053</cx:pt>
          <cx:pt idx="16">5577</cx:pt>
          <cx:pt idx="17">5189</cx:pt>
          <cx:pt idx="18">6977</cx:pt>
          <cx:pt idx="19">9203</cx:pt>
          <cx:pt idx="20">7431</cx:pt>
          <cx:pt idx="21">3160</cx:pt>
          <cx:pt idx="22">4842</cx:pt>
          <cx:pt idx="23">8193</cx:pt>
          <cx:pt idx="24">4623</cx:pt>
          <cx:pt idx="25">6873</cx:pt>
          <cx:pt idx="26">4418</cx:pt>
          <cx:pt idx="27">4087</cx:pt>
          <cx:pt idx="28">11195</cx:pt>
          <cx:pt idx="29">6286</cx:pt>
        </cx:lvl>
      </cx:numDim>
    </cx:data>
  </cx:chartData>
  <cx:chart>
    <cx:title pos="t" align="ctr" overlay="0">
      <cx:tx>
        <cx:txData>
          <cx:v>Box plot</cx:v>
        </cx:txData>
      </cx:tx>
      <cx:txPr>
        <a:bodyPr rot="0" spcFirstLastPara="1" vertOverflow="ellipsis" vert="horz" wrap="square" lIns="0" tIns="0" rIns="0" bIns="0" anchor="ctr" anchorCtr="1"/>
        <a:lstStyle/>
        <a:p>
          <a:pPr algn="ctr">
            <a:defRPr/>
          </a:pPr>
          <a:r>
            <a:rPr lang="en-US"/>
            <a:t>Box plot</a:t>
          </a:r>
        </a:p>
      </cx:txPr>
    </cx:title>
    <cx:plotArea>
      <cx:plotAreaRegion>
        <cx:series layoutId="boxWhisker" uniqueId="{38FC8E2C-232F-4C0F-A299-A999BBF511A1}">
          <cx:dataLabels>
            <cx:visibility seriesName="0" categoryName="0" value="1"/>
          </cx:dataLabels>
          <cx:dataId val="0"/>
          <cx:layoutPr>
            <cx:visibility meanLine="0" meanMarker="1" nonoutliers="0" outliers="1"/>
            <cx:statistics quartileMethod="exclusive"/>
          </cx:layoutPr>
        </cx:series>
      </cx:plotAreaRegion>
      <cx:axis id="0">
        <cx:catScaling gapWidth="1.5"/>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baseline="0"/>
    <cs:bodyPr rot="-60000000" vert="horz"/>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cs:dataLabel>
  <cs:dataLabelCallout>
    <cs:lnRef idx="0"/>
    <cs:fillRef idx="0"/>
    <cs:effectRef idx="0"/>
    <cs:fontRef idx="minor">
      <a:schemeClr val="dk1">
        <a:lumMod val="75000"/>
        <a:lumOff val="25000"/>
      </a:schemeClr>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lumMod val="60000"/>
          <a:alpha val="85000"/>
        </a:schemeClr>
      </a:solidFill>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65000"/>
          <a:lumOff val="35000"/>
        </a:schemeClr>
      </a:solidFill>
      <a:ln w="9525" cap="flat" cmpd="sng" algn="ctr">
        <a:solidFill>
          <a:schemeClr val="dk1">
            <a:lumMod val="65000"/>
            <a:lumOff val="35000"/>
          </a:schemeClr>
        </a:solidFill>
        <a:round/>
      </a:ln>
    </cs:spPr>
  </cs:downBar>
  <cs:dropLine>
    <cs:lnRef idx="0"/>
    <cs:fillRef idx="0"/>
    <cs:effectRef idx="0"/>
    <cs:fontRef idx="minor">
      <a:schemeClr val="dk1"/>
    </cs:fontRef>
  </cs:dropLine>
  <cs:errorBar>
    <cs:lnRef idx="0"/>
    <cs:fillRef idx="0"/>
    <cs:effectRef idx="0"/>
    <cs:fontRef idx="minor">
      <a:schemeClr val="dk1"/>
    </cs:fontRef>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15875" cap="flat" cmpd="sng" algn="ctr">
        <a:solidFill>
          <a:schemeClr val="dk1">
            <a:lumMod val="65000"/>
            <a:lumOff val="35000"/>
          </a:schemeClr>
        </a:solidFill>
        <a:round/>
      </a:ln>
    </cs:spPr>
  </cs:hiLoLine>
  <cs:leaderLine>
    <cs:lnRef idx="0"/>
    <cs:fillRef idx="0"/>
    <cs:effectRef idx="0"/>
    <cs:fontRef idx="minor">
      <a:schemeClr val="dk1"/>
    </cs:fontRef>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bodyPr rot="-60000000" vert="horz"/>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dk1">
        <a:lumMod val="75000"/>
        <a:lumOff val="25000"/>
      </a:schemeClr>
    </cs:fontRef>
    <cs:defRPr sz="1800" b="1" kern="1200" baseline="0"/>
    <cs:bodyPr rot="0" vert="horz"/>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cap="flat" cmpd="sng" algn="ctr">
        <a:solidFill>
          <a:schemeClr val="lt1">
            <a:lumMod val="85000"/>
          </a:schemeClr>
        </a:solidFill>
        <a:round/>
      </a:ln>
    </cs:spPr>
  </cs:upBar>
  <cs:valueAxis>
    <cs:lnRef idx="0"/>
    <cs:fillRef idx="0"/>
    <cs:effectRef idx="0"/>
    <cs:fontRef idx="minor">
      <a:schemeClr val="dk1">
        <a:lumMod val="75000"/>
        <a:lumOff val="25000"/>
      </a:schemeClr>
    </cs:fontRef>
    <cs:defRPr sz="900" kern="1200"/>
    <cs:bodyPr rot="-60000000" vert="horz"/>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baseline="0"/>
    <cs:bodyPr rot="-60000000" vert="horz"/>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cs:dataLabel>
  <cs:dataLabelCallout>
    <cs:lnRef idx="0"/>
    <cs:fillRef idx="0"/>
    <cs:effectRef idx="0"/>
    <cs:fontRef idx="minor">
      <a:schemeClr val="dk1">
        <a:lumMod val="75000"/>
        <a:lumOff val="25000"/>
      </a:schemeClr>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lumMod val="60000"/>
          <a:alpha val="85000"/>
        </a:schemeClr>
      </a:solidFill>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65000"/>
          <a:lumOff val="35000"/>
        </a:schemeClr>
      </a:solidFill>
      <a:ln w="9525" cap="flat" cmpd="sng" algn="ctr">
        <a:solidFill>
          <a:schemeClr val="dk1">
            <a:lumMod val="65000"/>
            <a:lumOff val="35000"/>
          </a:schemeClr>
        </a:solidFill>
        <a:round/>
      </a:ln>
    </cs:spPr>
  </cs:downBar>
  <cs:dropLine>
    <cs:lnRef idx="0"/>
    <cs:fillRef idx="0"/>
    <cs:effectRef idx="0"/>
    <cs:fontRef idx="minor">
      <a:schemeClr val="dk1"/>
    </cs:fontRef>
  </cs:dropLine>
  <cs:errorBar>
    <cs:lnRef idx="0"/>
    <cs:fillRef idx="0"/>
    <cs:effectRef idx="0"/>
    <cs:fontRef idx="minor">
      <a:schemeClr val="dk1"/>
    </cs:fontRef>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15875" cap="flat" cmpd="sng" algn="ctr">
        <a:solidFill>
          <a:schemeClr val="dk1">
            <a:lumMod val="65000"/>
            <a:lumOff val="35000"/>
          </a:schemeClr>
        </a:solidFill>
        <a:round/>
      </a:ln>
    </cs:spPr>
  </cs:hiLoLine>
  <cs:leaderLine>
    <cs:lnRef idx="0"/>
    <cs:fillRef idx="0"/>
    <cs:effectRef idx="0"/>
    <cs:fontRef idx="minor">
      <a:schemeClr val="dk1"/>
    </cs:fontRef>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bodyPr rot="-60000000" vert="horz"/>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dk1">
        <a:lumMod val="75000"/>
        <a:lumOff val="25000"/>
      </a:schemeClr>
    </cs:fontRef>
    <cs:defRPr sz="1800" b="1" kern="1200" baseline="0"/>
    <cs:bodyPr rot="0" vert="horz"/>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cap="flat" cmpd="sng" algn="ctr">
        <a:solidFill>
          <a:schemeClr val="lt1">
            <a:lumMod val="85000"/>
          </a:schemeClr>
        </a:solidFill>
        <a:round/>
      </a:ln>
    </cs:spPr>
  </cs:upBar>
  <cs:valueAxis>
    <cs:lnRef idx="0"/>
    <cs:fillRef idx="0"/>
    <cs:effectRef idx="0"/>
    <cs:fontRef idx="minor">
      <a:schemeClr val="dk1">
        <a:lumMod val="75000"/>
        <a:lumOff val="25000"/>
      </a:schemeClr>
    </cs:fontRef>
    <cs:defRPr sz="900" kern="1200"/>
    <cs:bodyPr rot="-60000000" vert="horz"/>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baseline="0"/>
    <cs:bodyPr rot="-60000000" vert="horz"/>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cs:dataLabel>
  <cs:dataLabelCallout>
    <cs:lnRef idx="0"/>
    <cs:fillRef idx="0"/>
    <cs:effectRef idx="0"/>
    <cs:fontRef idx="minor">
      <a:schemeClr val="dk1">
        <a:lumMod val="75000"/>
        <a:lumOff val="25000"/>
      </a:schemeClr>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lumMod val="60000"/>
          <a:alpha val="85000"/>
        </a:schemeClr>
      </a:solidFill>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65000"/>
          <a:lumOff val="35000"/>
        </a:schemeClr>
      </a:solidFill>
      <a:ln w="9525" cap="flat" cmpd="sng" algn="ctr">
        <a:solidFill>
          <a:schemeClr val="dk1">
            <a:lumMod val="65000"/>
            <a:lumOff val="35000"/>
          </a:schemeClr>
        </a:solidFill>
        <a:round/>
      </a:ln>
    </cs:spPr>
  </cs:downBar>
  <cs:dropLine>
    <cs:lnRef idx="0"/>
    <cs:fillRef idx="0"/>
    <cs:effectRef idx="0"/>
    <cs:fontRef idx="minor">
      <a:schemeClr val="dk1"/>
    </cs:fontRef>
  </cs:dropLine>
  <cs:errorBar>
    <cs:lnRef idx="0"/>
    <cs:fillRef idx="0"/>
    <cs:effectRef idx="0"/>
    <cs:fontRef idx="minor">
      <a:schemeClr val="dk1"/>
    </cs:fontRef>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15875" cap="flat" cmpd="sng" algn="ctr">
        <a:solidFill>
          <a:schemeClr val="dk1">
            <a:lumMod val="65000"/>
            <a:lumOff val="35000"/>
          </a:schemeClr>
        </a:solidFill>
        <a:round/>
      </a:ln>
    </cs:spPr>
  </cs:hiLoLine>
  <cs:leaderLine>
    <cs:lnRef idx="0"/>
    <cs:fillRef idx="0"/>
    <cs:effectRef idx="0"/>
    <cs:fontRef idx="minor">
      <a:schemeClr val="dk1"/>
    </cs:fontRef>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bodyPr rot="-60000000" vert="horz"/>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dk1">
        <a:lumMod val="75000"/>
        <a:lumOff val="25000"/>
      </a:schemeClr>
    </cs:fontRef>
    <cs:defRPr sz="1800" b="1" kern="1200" baseline="0"/>
    <cs:bodyPr rot="0" vert="horz"/>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cap="flat" cmpd="sng" algn="ctr">
        <a:solidFill>
          <a:schemeClr val="lt1">
            <a:lumMod val="85000"/>
          </a:schemeClr>
        </a:solidFill>
        <a:round/>
      </a:ln>
    </cs:spPr>
  </cs:upBar>
  <cs:valueAxis>
    <cs:lnRef idx="0"/>
    <cs:fillRef idx="0"/>
    <cs:effectRef idx="0"/>
    <cs:fontRef idx="minor">
      <a:schemeClr val="dk1">
        <a:lumMod val="75000"/>
        <a:lumOff val="25000"/>
      </a:schemeClr>
    </cs:fontRef>
    <cs:defRPr sz="900" kern="1200"/>
    <cs:bodyPr rot="-60000000" vert="horz"/>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baseline="0"/>
    <cs:bodyPr rot="-60000000" vert="horz"/>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dk1">
        <a:lumMod val="75000"/>
        <a:lumOff val="25000"/>
      </a:schemeClr>
    </cs:fontRef>
    <cs:defRPr sz="900"/>
  </cs:dataLabel>
  <cs:dataLabelCallout>
    <cs:lnRef idx="0"/>
    <cs:fillRef idx="0"/>
    <cs:effectRef idx="0"/>
    <cs:fontRef idx="minor">
      <a:schemeClr val="dk1">
        <a:lumMod val="75000"/>
        <a:lumOff val="25000"/>
      </a:schemeClr>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lumMod val="60000"/>
          <a:alpha val="85000"/>
        </a:schemeClr>
      </a:solidFill>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65000"/>
          <a:lumOff val="35000"/>
        </a:schemeClr>
      </a:solidFill>
      <a:ln w="9525" cap="flat" cmpd="sng" algn="ctr">
        <a:solidFill>
          <a:schemeClr val="dk1">
            <a:lumMod val="65000"/>
            <a:lumOff val="35000"/>
          </a:schemeClr>
        </a:solidFill>
        <a:round/>
      </a:ln>
    </cs:spPr>
  </cs:downBar>
  <cs:dropLine>
    <cs:lnRef idx="0"/>
    <cs:fillRef idx="0"/>
    <cs:effectRef idx="0"/>
    <cs:fontRef idx="minor">
      <a:schemeClr val="dk1"/>
    </cs:fontRef>
  </cs:dropLine>
  <cs:errorBar>
    <cs:lnRef idx="0"/>
    <cs:fillRef idx="0"/>
    <cs:effectRef idx="0"/>
    <cs:fontRef idx="minor">
      <a:schemeClr val="dk1"/>
    </cs:fontRef>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15875" cap="flat" cmpd="sng" algn="ctr">
        <a:solidFill>
          <a:schemeClr val="dk1">
            <a:lumMod val="65000"/>
            <a:lumOff val="35000"/>
          </a:schemeClr>
        </a:solidFill>
        <a:round/>
      </a:ln>
    </cs:spPr>
  </cs:hiLoLine>
  <cs:leaderLine>
    <cs:lnRef idx="0"/>
    <cs:fillRef idx="0"/>
    <cs:effectRef idx="0"/>
    <cs:fontRef idx="minor">
      <a:schemeClr val="dk1"/>
    </cs:fontRef>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bodyPr rot="-60000000" vert="horz"/>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dk1">
        <a:lumMod val="75000"/>
        <a:lumOff val="25000"/>
      </a:schemeClr>
    </cs:fontRef>
    <cs:defRPr sz="1800" b="1" kern="1200" baseline="0"/>
    <cs:bodyPr rot="0" vert="horz"/>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cap="flat" cmpd="sng" algn="ctr">
        <a:solidFill>
          <a:schemeClr val="lt1">
            <a:lumMod val="85000"/>
          </a:schemeClr>
        </a:solidFill>
        <a:round/>
      </a:ln>
    </cs:spPr>
  </cs:upBar>
  <cs:valueAxis>
    <cs:lnRef idx="0"/>
    <cs:fillRef idx="0"/>
    <cs:effectRef idx="0"/>
    <cs:fontRef idx="minor">
      <a:schemeClr val="dk1">
        <a:lumMod val="75000"/>
        <a:lumOff val="25000"/>
      </a:schemeClr>
    </cs:fontRef>
    <cs:defRPr sz="900" kern="1200"/>
    <cs:bodyPr rot="-60000000" vert="horz"/>
  </cs:valueAxis>
  <cs:wall>
    <cs:lnRef idx="0"/>
    <cs:fillRef idx="0"/>
    <cs:effectRef idx="0"/>
    <cs:fontRef idx="minor">
      <a:schemeClr val="dk1"/>
    </cs:fontRef>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8:55.524"/>
    </inkml:context>
    <inkml:brush xml:id="br0">
      <inkml:brushProperty name="width" value="0.035" units="cm"/>
      <inkml:brushProperty name="height" value="0.035" units="cm"/>
      <inkml:brushProperty name="color" value="#E71224"/>
    </inkml:brush>
  </inkml:definitions>
  <inkml:trace contextRef="#ctx0" brushRef="#br0">9 16 24575,'0'0'0,"-1"0"0,1 0 0,0 0 0,0 1 0,-1-1 0,1 0 0,0 0 0,0 0 0,-1 0 0,1 0 0,0 0 0,0-1 0,-1 1 0,1 0 0,0 0 0,0 0 0,-1 0 0,1 0 0,0 0 0,0 0 0,0 0 0,-1-1 0,1 1 0,0 0 0,0 0 0,0 0 0,-1 0 0,1-1 0,0 1 0,0 0 0,0 0 0,0 0 0,0-1 0,-1 1 0,1 0 0,0 0 0,0-1 0,0 1 0,0 0 0,0 0 0,0-1 0,0 1 0,0 0 0,0 0 0,0-1 0,0 1 0,0 0 0,0 0 0,0-1 0,0 1 0,0 0 0,0 0 0,1-1 0,-1 0 0,0 1 0,1-1 0,-1 1 0,1-1 0,-1 1 0,1-1 0,-1 1 0,1-1 0,-1 1 0,1 0 0,0-1 0,-1 1 0,1 0 0,0-1 0,-1 1 0,1 0 0,0 0 0,-1 0 0,1-1 0,0 1 0,-1 0 0,3 0 0,7 1 0,1 1 0,-1 0 0,0 1 0,0 0 0,0 0 0,0 1 0,15 8 0,-6-2 0,0 1 0,30 23 0,-36-22 0,-1 1 0,0 0 0,-1 0 0,0 1 0,-1 0 0,0 1 0,-1 0 0,-1 1 0,-1 0 0,0 0 0,-1 1 0,-1-1 0,0 1 0,3 26 0,0 20 0,-2 1 0,-5 100 0,-1-154 0,-1 82 0,2-90 0,-1 0-1,0 0 0,0 0 1,1 0-1,-1 0 1,1 1-1,0-1 0,0 0 1,0 0-1,0-1 1,0 1-1,0 0 0,0 0 1,1 0-1,-1-1 1,0 1-1,1-1 0,0 1 1,2 1-1,3 1-151,0 0-1,0-1 1,0 1-1,10 2 1,-8-3-204,35 10-800,0-3 0,2-1 0,59 4 1,24 4 124,-123-16 1000,0 0-1,0 0 1,-1 1 0,1 0-1,-1 0 1,1 0-1,-1 0 1,7 5 0,-11-6 75,1 0 0,-1 1 0,0-1 0,0 0 0,0 0 1,0 1-1,0-1 0,0 0 0,-1 1 0,1-1 0,0 1 1,-1-1-1,1 1 0,-1-1 0,1 1 0,-1 0 0,0-1 1,0 1-1,0-1 0,0 1 0,0 0 0,0-1 0,0 1 1,0-1-1,-1 1 0,1 0 0,-1-1 0,1 1 0,-1-1 1,1 1-1,-3 2 0,-3 8 1497,-1 0 1,-1 0-1,-9 12 0,11-17-1592,0 0 0,1 1 0,0 0-1,0 0 1,1 0 0,0 0 0,0 1 0,1-1-1,-4 16 1,4 2 51,-5 22 0,2 1 0,3 0 0,3 72 0,1-117 0,1 0 0,-1 0 0,1 0 0,0 0 0,0-1 0,0 1 0,0-1 0,1 1 0,-1-1 0,1 0 0,0 0 0,0 0 0,0-1 0,1 1 0,-1-1 0,0 1 0,5 1 0,21 20 0,-10-5 0,-7-7 0,-1-1 0,17 24 0,-25-29 0,0-1 0,0 1 0,-1 0 0,1-1 0,-1 1 0,0 0 0,-1 0 0,1 1 0,-1-1 0,0 10 0,0-6 0,-1 0 0,0 0 0,-1-1 0,0 1 0,0 0 0,-1-1 0,0 1 0,-1-1 0,0 0 0,0 0 0,-1 0 0,0 0 0,-1 0 0,-10 14 0,11-16 0,0-1 0,-1 1 0,0-1 0,0 1 0,-1-2 0,0 1 0,0-1 0,0 1 0,-1-2 0,0 1 0,0-1 0,0 0 0,0 0 0,-1-1 0,-9 3 0,-3-1-1365,2-1-5461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0.435"/>
    </inkml:context>
    <inkml:brush xml:id="br0">
      <inkml:brushProperty name="width" value="0.035" units="cm"/>
      <inkml:brushProperty name="height" value="0.035" units="cm"/>
      <inkml:brushProperty name="color" value="#E71224"/>
    </inkml:brush>
  </inkml:definitions>
  <inkml:trace contextRef="#ctx0" brushRef="#br0">1 98 24575,'3'0'0,"6"0"0,4 0 0,3 0 0,4-3 0,0-2 0,6 0 0,4-2 0,2-4 0,-2 0 0,2 2 0,-2-1 0,-2 1 0,-5-2 0,-3 2 0,-6 1-8191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1.425"/>
    </inkml:context>
    <inkml:brush xml:id="br0">
      <inkml:brushProperty name="width" value="0.035" units="cm"/>
      <inkml:brushProperty name="height" value="0.035" units="cm"/>
      <inkml:brushProperty name="color" value="#E71224"/>
    </inkml:brush>
  </inkml:definitions>
  <inkml:trace contextRef="#ctx0" brushRef="#br0">1 0 24575,'42'1'0,"83"10"0,-106-7 0,-1 0 0,-1 0 0,1 2 0,-1 0 0,0 1 0,0 1 0,16 10 0,-30-16 0,-1 0 0,1-1 0,-1 1 0,0 0 0,0 1 0,0-1 0,0 0 0,0 1 0,0-1 0,-1 1 0,1-1 0,-1 1 0,0 0 0,0-1 0,0 1 0,0 0 0,0 0 0,0 0 0,-1 0 0,0 0 0,1 0 0,-1 0 0,0 0 0,0 0 0,-1 0 0,1 0 0,-2 4 0,-2 8 0,-1 0 0,0 0 0,-1-1 0,-10 18 0,0 0 0,-23 48-1365,33-65-5461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2.928"/>
    </inkml:context>
    <inkml:brush xml:id="br0">
      <inkml:brushProperty name="width" value="0.035" units="cm"/>
      <inkml:brushProperty name="height" value="0.035" units="cm"/>
      <inkml:brushProperty name="color" value="#E71224"/>
    </inkml:brush>
  </inkml:definitions>
  <inkml:trace contextRef="#ctx0" brushRef="#br0">1 0 24575,'2'1'0,"0"-1"0,0 1 0,0-1 0,0 1 0,0 0 0,0 0 0,0 0 0,-1 0 0,1 0 0,0 0 0,-1 1 0,1-1 0,2 3 0,22 24 0,-19-19 0,54 71 0,-42-52 0,26 28 0,-21-29 0,-12-12 0,1-1 0,1 0 0,26 21 0,-39-35 0,-1 1 0,1-1 0,-1 0 0,1 1 0,-1-1 0,1 0 0,0 0 0,-1 1 0,1-1 0,-1 0 0,1 0 0,0 0 0,-1 0 0,1 0 0,-1 0 0,1 0 0,0 0 0,-1 0 0,1 0 0,-1 0 0,1 0 0,-1-1 0,1 1 0,0 0 0,-1 0 0,1-1 0,0 1 0,12-17 0,2-31 0,-13 41 0,8-33 0,30-93 0,-28 93-1365,-8 23-5461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4.187"/>
    </inkml:context>
    <inkml:brush xml:id="br0">
      <inkml:brushProperty name="width" value="0.035" units="cm"/>
      <inkml:brushProperty name="height" value="0.035" units="cm"/>
      <inkml:brushProperty name="color" value="#E71224"/>
    </inkml:brush>
  </inkml:definitions>
  <inkml:trace contextRef="#ctx0" brushRef="#br0">1 0 24575,'4'2'0,"0"0"0,0 0 0,0 1 0,0-1 0,-1 1 0,1 0 0,-1 0 0,0 0 0,0 1 0,4 4 0,-1-1 0,32 35 0,50 75 0,-27-34 0,-53-74 0,0 0 0,1-1 0,0 0 0,12 7 0,-12-8 0,0 0 0,-1 0 0,1 1 0,-2 0 0,10 10 0,-8-5-1365,0-2-5461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5.049"/>
    </inkml:context>
    <inkml:brush xml:id="br0">
      <inkml:brushProperty name="width" value="0.035" units="cm"/>
      <inkml:brushProperty name="height" value="0.035" units="cm"/>
      <inkml:brushProperty name="color" value="#E71224"/>
    </inkml:brush>
  </inkml:definitions>
  <inkml:trace contextRef="#ctx0" brushRef="#br0">45 0 24575,'0'7'0,"0"6"0,0 5 0,0 2 0,-4-1 0,-1-2 0,0 1 0,-2 1 0,0 0 0,0 2 0,3-1 0,1 1 0,1 1 0,1-5-8191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08.165"/>
    </inkml:context>
    <inkml:brush xml:id="br0">
      <inkml:brushProperty name="width" value="0.035" units="cm"/>
      <inkml:brushProperty name="height" value="0.035" units="cm"/>
      <inkml:brushProperty name="color" value="#E71224"/>
    </inkml:brush>
  </inkml:definitions>
  <inkml:trace contextRef="#ctx0" brushRef="#br0">3 0 24575,'-2'109'0,"4"121"0,11-179-1365,-10-37-5461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0.634"/>
    </inkml:context>
    <inkml:brush xml:id="br0">
      <inkml:brushProperty name="width" value="0.035" units="cm"/>
      <inkml:brushProperty name="height" value="0.035" units="cm"/>
      <inkml:brushProperty name="color" value="#E71224"/>
    </inkml:brush>
  </inkml:definitions>
  <inkml:trace contextRef="#ctx0" brushRef="#br0">1 0 24575,'3'0'0,"6"0"0,4 0 0,3 0 0,4 0 0,-3 4 0,-4 4 0,0 1 0,-3 3 0,-2 3 0,-4 2 0,-2 2 0,-1 2 0,3-4 0,0 0 0,0 0 0,-1-2-8191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2.077"/>
    </inkml:context>
    <inkml:brush xml:id="br0">
      <inkml:brushProperty name="width" value="0.035" units="cm"/>
      <inkml:brushProperty name="height" value="0.035" units="cm"/>
      <inkml:brushProperty name="color" value="#E71224"/>
    </inkml:brush>
  </inkml:definitions>
  <inkml:trace contextRef="#ctx0" brushRef="#br0">1 0 24575,'0'4'0,"0"4"0,0 5 0,0 4 0,0 2 0,0 2 0,0 1 0,0 0 0,0 0 0,0 0 0,0-1 0,0 1 0,0-4-8191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2.630"/>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5.058"/>
    </inkml:context>
    <inkml:brush xml:id="br0">
      <inkml:brushProperty name="width" value="0.035" units="cm"/>
      <inkml:brushProperty name="height" value="0.035" units="cm"/>
      <inkml:brushProperty name="color" value="#E71224"/>
    </inkml:brush>
  </inkml:definitions>
  <inkml:trace contextRef="#ctx0" brushRef="#br0">195 20 24575,'-1'-1'0,"1"0"0,-1 0 0,1 0 0,-1 0 0,1 0 0,-1 0 0,0 0 0,1 0 0,-1 1 0,0-1 0,0 0 0,0 0 0,0 1 0,0-1 0,0 0 0,1 1 0,-2-1 0,1 1 0,0 0 0,0-1 0,0 1 0,0 0 0,0-1 0,0 1 0,0 0 0,0 0 0,-2 0 0,-32-3 0,29 3 0,0 0 0,1 1 0,-1-1 0,1 1 0,-1 0 0,1 1 0,0-1 0,-1 1 0,1 0 0,0 1 0,0-1 0,0 1 0,0 0 0,1 0 0,-1 0 0,1 1 0,0 0 0,0 0 0,0 0 0,0 0 0,1 0 0,0 1 0,0-1 0,0 1 0,0 0 0,1 0 0,0 0 0,0 1 0,0-1 0,0 0 0,1 1 0,0-1 0,0 1 0,0 7 0,1-6 0,0 0 0,0-1 0,1 1 0,-1 0 0,1 0 0,1 0 0,-1 0 0,4 7 0,-4-12 0,1 1 0,-1 0 0,1-1 0,-1 0 0,1 1 0,0-1 0,0 0 0,0 0 0,0 0 0,1 0 0,-1 0 0,0-1 0,1 1 0,-1-1 0,1 0 0,0 1 0,-1-1 0,1 0 0,0 0 0,0-1 0,5 2 0,44 0 0,-42-2 0,0 0 0,-1 0 0,1 1 0,0 0 0,13 4 0,-21-4 0,1 0 0,0 0 0,-1 1 0,1-1 0,0 1 0,-1-1 0,0 1 0,1 0 0,-1 0 0,0 0 0,0 0 0,0 1 0,0-1 0,0 0 0,-1 1 0,1-1 0,-1 1 0,0 0 0,1-1 0,-1 1 0,0 0 0,0 3 0,1 1 0,-1-1 0,1 0 0,-2 0 0,1 1 0,-1-1 0,0 1 0,0-1 0,-1 0 0,1 1 0,-1-1 0,-1 0 0,1 0 0,-4 8 0,3-10 0,0 0 0,0-1 0,0 0 0,0 1 0,-1-1 0,1 0 0,-1 0 0,0 0 0,0 0 0,0-1 0,0 1 0,-1-1 0,1 0 0,-1 0 0,1 0 0,-1 0 0,0-1 0,1 1 0,-1-1 0,0 0 0,-8 1 0,-53 0-1365,46-3-5461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6.080"/>
    </inkml:context>
    <inkml:brush xml:id="br0">
      <inkml:brushProperty name="width" value="0.035" units="cm"/>
      <inkml:brushProperty name="height" value="0.035" units="cm"/>
      <inkml:brushProperty name="color" value="#E71224"/>
    </inkml:brush>
  </inkml:definitions>
  <inkml:trace contextRef="#ctx0" brushRef="#br0">1 0 24575,'0'4'0,"0"8"0,0 5 0,0 5 0,0 1 0,0 0 0,0 0 0,0 0 0,0 0 0,0-1 0,3-4 0,2-2 0,3-3 0,1 0 0,-2 1 0,-1-2-8191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6.900"/>
    </inkml:context>
    <inkml:brush xml:id="br0">
      <inkml:brushProperty name="width" value="0.035" units="cm"/>
      <inkml:brushProperty name="height" value="0.035" units="cm"/>
      <inkml:brushProperty name="color" value="#E71224"/>
    </inkml:brush>
  </inkml:definitions>
  <inkml:trace contextRef="#ctx0" brushRef="#br0">1 55 24575,'3'0'0,"6"0"0,4 0 0,3 0 0,0-4 0,0-1 0,1-3 0,1 0 0,-2-3 0,0 1 0,-3 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7.579"/>
    </inkml:context>
    <inkml:brush xml:id="br0">
      <inkml:brushProperty name="width" value="0.035" units="cm"/>
      <inkml:brushProperty name="height" value="0.035" units="cm"/>
      <inkml:brushProperty name="color" value="#E71224"/>
    </inkml:brush>
  </inkml:definitions>
  <inkml:trace contextRef="#ctx0" brushRef="#br0">1 0 24575,'3'0'0,"2"4"0,3 0 0,4 5 0,4-1 0,2-1 0,3 2 0,0 0 0,-3 1 0,-1-1 0,-4 2 0,1-1 0,0 1 0,-1 3 0,-4-2-8191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19.782"/>
    </inkml:context>
    <inkml:brush xml:id="br0">
      <inkml:brushProperty name="width" value="0.035" units="cm"/>
      <inkml:brushProperty name="height" value="0.035" units="cm"/>
      <inkml:brushProperty name="color" value="#E71224"/>
    </inkml:brush>
  </inkml:definitions>
  <inkml:trace contextRef="#ctx0" brushRef="#br0">1 89 24575,'47'2'0,"-31"-1"0,0 0 0,0-1 0,0 0 0,0-2 0,25-4 0,-39 5 0,1 0 0,-1 0 0,0 1 0,0-1 0,0 0 0,0-1 0,0 1 0,0 0 0,-1-1 0,1 1 0,0-1 0,-1 1 0,1-1 0,-1 0 0,1 0 0,-1 1 0,0-1 0,0 0 0,0 0 0,0-1 0,0 1 0,0 0 0,1-4 0,-2 5 0,0-1 0,0 0 0,0 1 0,-1-1 0,1 1 0,0-1 0,-1 1 0,1-1 0,0 1 0,-1-1 0,0 1 0,1-1 0,-1 1 0,0 0 0,0-1 0,0 1 0,0 0 0,0 0 0,0 0 0,0 0 0,0 0 0,0 0 0,-1 0 0,1 0 0,0 0 0,-1 0 0,1 1 0,-1-1 0,1 0 0,0 1 0,-1-1 0,1 1 0,-1 0 0,-2-1 0,-2 0 0,1 0 0,-1 0 0,0 0 0,0 1 0,1-1 0,-1 1 0,0 1 0,0-1 0,1 1 0,-1 0 0,0 1 0,1-1 0,-10 5 0,11-4 0,1 0 0,0 0 0,0 0 0,0 1 0,1-1 0,-1 1 0,0 0 0,1 0 0,0 0 0,0 0 0,0 0 0,0 1 0,0-1 0,0 0 0,1 1 0,0-1 0,0 1 0,0 0 0,0-1 0,0 1 0,1 7 0,-2 2 0,2-1 0,0 1 0,0 0 0,1 0 0,1-1 0,4 20 0,-4-27 0,-1 1 0,1-1 0,0 0 0,1 0 0,-1-1 0,1 1 0,0 0 0,0-1 0,0 0 0,1 1 0,-1-1 0,1-1 0,0 1 0,0 0 0,1-1 0,-1 0 0,9 4 0,30 12-1365,-29-15-5461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20.609"/>
    </inkml:context>
    <inkml:brush xml:id="br0">
      <inkml:brushProperty name="width" value="0.035" units="cm"/>
      <inkml:brushProperty name="height" value="0.035" units="cm"/>
      <inkml:brushProperty name="color" value="#E71224"/>
    </inkml:brush>
  </inkml:definitions>
  <inkml:trace contextRef="#ctx0" brushRef="#br0">1 0 24575,'0'4'0,"0"4"0,0 5 0,0 3 0,0 3 0,0 2 0,0 5 0,0 1 0,0-1 0,0 0 0,0-2 0,0-1 0,0 0 0,0-5-8191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09:21.541"/>
    </inkml:context>
    <inkml:brush xml:id="br0">
      <inkml:brushProperty name="width" value="0.035" units="cm"/>
      <inkml:brushProperty name="height" value="0.035" units="cm"/>
      <inkml:brushProperty name="color" value="#E71224"/>
    </inkml:brush>
  </inkml:definitions>
  <inkml:trace contextRef="#ctx0" brushRef="#br0">1 22 24575,'4'0'0,"4"0"0,2-3 0,2-2 0,2 0 0,3 2 0,2 0 0,2 1 0,0 2 0,-3 3 0,-1 2 0,0-1 0,-2 4 0,-5 3 0,-3 4 0,-4-1-8191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17.948"/>
    </inkml:context>
    <inkml:brush xml:id="br0">
      <inkml:brushProperty name="width" value="0.035" units="cm"/>
      <inkml:brushProperty name="height" value="0.035" units="cm"/>
      <inkml:brushProperty name="color" value="#E71224"/>
    </inkml:brush>
  </inkml:definitions>
  <inkml:trace contextRef="#ctx0" brushRef="#br0">238 0 24575,'0'4'0,"-1"-1"0,1 1 0,-1 0 0,0-1 0,0 1 0,0-1 0,-1 0 0,1 1 0,-1-1 0,1 0 0,-5 5 0,-29 34 0,7-10 0,26-28 0,-1 0 0,0-1 0,0 1 0,0-1 0,0 1 0,-1-1 0,1 0 0,-1-1 0,1 1 0,-1-1 0,0 1 0,0-1 0,-1 0 0,1 0 0,0-1 0,0 0 0,-1 1 0,1-1 0,-1-1 0,1 1 0,-1-1 0,0 1 0,1-1 0,-1-1 0,1 1 0,-1-1 0,1 1 0,-1-1 0,1-1 0,-1 1 0,1-1 0,-8-3 0,11 5 0,0 0 0,0-1 0,0 1 0,0-1 0,0 1 0,0 0 0,0-1 0,0 0 0,1 1 0,-1-1 0,0 1 0,0-1 0,0 0 0,0 0 0,1 0 0,-1 1 0,0-1 0,1 0 0,-2-2 0,3 3 0,-1-1 0,0 1 0,0-1 0,0 0 0,1 1 0,-1-1 0,0 1 0,1 0 0,-1-1 0,1 1 0,-1-1 0,0 1 0,1-1 0,-1 1 0,1 0 0,-1-1 0,1 1 0,-1 0 0,1 0 0,-1-1 0,1 1 0,-1 0 0,1 0 0,1-1 0,4 0 0,0-1 0,1 1 0,-1 0 0,1 0 0,6 0 0,-8 2 0,0 0 0,0 0 0,0 1 0,0-1 0,-1 1 0,1 0 0,-1 1 0,1-1 0,-1 1 0,0 0 0,0 0 0,0 0 0,0 0 0,0 1 0,-1-1 0,0 1 0,0 0 0,0 0 0,0 0 0,3 7 0,2 3 0,0 0 0,-2 1 0,1 0 0,-2 0 0,5 18 0,-6 0 0,-4-27 0,1 1 0,0-1 0,0 0 0,0 1 0,4 7 0,-4-12 0,0 0 0,0 0 0,0-1 0,0 1 0,0 0 0,0-1 0,1 1 0,-1-1 0,0 0 0,1 1 0,-1-1 0,1 0 0,0 0 0,-1 0 0,1 0 0,0 0 0,0 0 0,0-1 0,0 1 0,0 0 0,3 0 0,13 1-1365,0-2-5461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27.600"/>
    </inkml:context>
    <inkml:brush xml:id="br0">
      <inkml:brushProperty name="width" value="0.035" units="cm"/>
      <inkml:brushProperty name="height" value="0.035" units="cm"/>
      <inkml:brushProperty name="color" value="#E71224"/>
    </inkml:brush>
  </inkml:definitions>
  <inkml:trace contextRef="#ctx0" brushRef="#br0">1 0 24575,'10'1'0,"0"1"0,0-1 0,-1 2 0,1-1 0,-1 2 0,1-1 0,-1 1 0,0 0 0,0 1 0,-1 0 0,11 8 0,-1 3 0,-2 0 0,25 31 0,-31-34 0,1 0 0,0 0 0,1-1 0,0-1 0,1 0 0,25 16 0,-23-17-97,0 0-1,16 14 0,-19-14-974,-1-2-5754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28.330"/>
    </inkml:context>
    <inkml:brush xml:id="br0">
      <inkml:brushProperty name="width" value="0.035" units="cm"/>
      <inkml:brushProperty name="height" value="0.035" units="cm"/>
      <inkml:brushProperty name="color" value="#E71224"/>
    </inkml:brush>
  </inkml:definitions>
  <inkml:trace contextRef="#ctx0" brushRef="#br0">44 0 24575,'0'4'0,"0"4"0,0 9 0,-4 8 0,-4 3 0,-1 2 0,0-2 0,3-2 0,2-1 0,2-2 0,0-1 0,2-1 0,0 0 0,1 0 0,-1-4-8191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29.357"/>
    </inkml:context>
    <inkml:brush xml:id="br0">
      <inkml:brushProperty name="width" value="0.035" units="cm"/>
      <inkml:brushProperty name="height" value="0.035" units="cm"/>
      <inkml:brushProperty name="color" value="#E71224"/>
    </inkml:brush>
  </inkml:definitions>
  <inkml:trace contextRef="#ctx0" brushRef="#br0">5 0 24575,'-4'0'0,"3"0"0,5 0 0,5 4 0,5 4 0,4 5 0,2 4 0,1 2 0,1 2 0,-3 1 0,-2-4 0,1-4 0,-4-2 0,0 2 0,1-3 0,2 2 0,-2-3-8191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0.404"/>
    </inkml:context>
    <inkml:brush xml:id="br0">
      <inkml:brushProperty name="width" value="0.035" units="cm"/>
      <inkml:brushProperty name="height" value="0.035" units="cm"/>
      <inkml:brushProperty name="color" value="#E71224"/>
    </inkml:brush>
  </inkml:definitions>
  <inkml:trace contextRef="#ctx0" brushRef="#br0">66 0 24575,'0'7'0,"-4"3"0,0 6 0,-5 8 0,-3 7 0,1 2 0,1-1 0,3-2 0,2-3 0,3-3 0,1-1 0,0-1 0,2-5-8191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1.593"/>
    </inkml:context>
    <inkml:brush xml:id="br0">
      <inkml:brushProperty name="width" value="0.035" units="cm"/>
      <inkml:brushProperty name="height" value="0.035" units="cm"/>
      <inkml:brushProperty name="color" value="#E71224"/>
    </inkml:brush>
  </inkml:definitions>
  <inkml:trace contextRef="#ctx0" brushRef="#br0">43 0 24575,'1'75'0,"-3"85"0,0-142 43,-2 0 0,-10 35 0,8-34-541,0 1 0,-2 22 0,6-26-6328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2.670"/>
    </inkml:context>
    <inkml:brush xml:id="br0">
      <inkml:brushProperty name="width" value="0.035" units="cm"/>
      <inkml:brushProperty name="height" value="0.035" units="cm"/>
      <inkml:brushProperty name="color" value="#E71224"/>
    </inkml:brush>
  </inkml:definitions>
  <inkml:trace contextRef="#ctx0" brushRef="#br0">1 0 24575,'3'0'0,"6"0"0,4 0 0,4 0 0,2 0 0,-2 4 0,0 1 0,1 3 0,-4 4 0,1 4 0,0 2 0,-1 2 0,-4 1 0,-3 1 0,-3 0 0,-3 0 0,0 0 0,-1-4-8191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3.549"/>
    </inkml:context>
    <inkml:brush xml:id="br0">
      <inkml:brushProperty name="width" value="0.035" units="cm"/>
      <inkml:brushProperty name="height" value="0.035" units="cm"/>
      <inkml:brushProperty name="color" value="#E71224"/>
    </inkml:brush>
  </inkml:definitions>
  <inkml:trace contextRef="#ctx0" brushRef="#br0">1 0 24575,'0'4'0,"0"4"0,4 5 0,1 4 0,-1 2 0,4-1 0,-1-2 0,-1 2 0,-1 0 0,-2 2 0,2-4 0,1-3-8191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3.9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6.092"/>
    </inkml:context>
    <inkml:brush xml:id="br0">
      <inkml:brushProperty name="width" value="0.035" units="cm"/>
      <inkml:brushProperty name="height" value="0.035" units="cm"/>
      <inkml:brushProperty name="color" value="#E71224"/>
    </inkml:brush>
  </inkml:definitions>
  <inkml:trace contextRef="#ctx0" brushRef="#br0">153 36 24575,'-6'-1'0,"1"0"0,0 0 0,-1 0 0,1-1 0,0 0 0,0 0 0,-9-6 0,-17-5 0,29 12 0,0 0 0,-1 0 0,1 1 0,0-1 0,-1 1 0,1-1 0,-1 1 0,1 0 0,0 0 0,-1 0 0,1 0 0,-1 1 0,1-1 0,0 1 0,-1-1 0,1 1 0,0 0 0,0 0 0,0 0 0,-3 1 0,3 0 0,0 1 0,1-1 0,-1 0 0,0 0 0,1 1 0,0-1 0,-1 1 0,1-1 0,0 1 0,0-1 0,0 1 0,1 0 0,-1 0 0,1-1 0,-1 1 0,1 0 0,0 3 0,0 3 0,-1-1 0,1 1 0,1-1 0,0 0 0,0 1 0,1-1 0,3 13 0,-4-18 0,1 0 0,-1 0 0,1-1 0,-1 1 0,1 0 0,0-1 0,0 1 0,0-1 0,0 1 0,0-1 0,1 0 0,-1 0 0,1 0 0,0 0 0,-1-1 0,1 1 0,0-1 0,0 1 0,0-1 0,0 0 0,0 0 0,0-1 0,4 2 0,4-1 0,-1 2 0,0-1 0,0 1 0,0 1 0,0 0 0,-1 0 0,13 8 0,-19-11 0,-1 1 0,0-1 0,0 1 0,0 0 0,0 0 0,0-1 0,0 1 0,0 1 0,0-1 0,-1 0 0,1 0 0,-1 0 0,0 1 0,1-1 0,-1 1 0,0-1 0,-1 1 0,1 0 0,0-1 0,-1 1 0,1 0 0,-1-1 0,0 1 0,0 0 0,0 0 0,0-1 0,0 1 0,-1 0 0,1-1 0,-1 1 0,0 0 0,0-1 0,-1 4 0,0-4 4,1 1 0,-1-1-1,1 0 1,-1 0 0,0 0 0,0 0-1,1 0 1,-2 0 0,1 0 0,0-1-1,0 1 1,0-1 0,-1 1 0,1-1-1,-1 0 1,1 0 0,-1 0 0,1 0-1,-1-1 1,0 1 0,1-1 0,-1 1-1,0-1 1,0 0 0,1 0 0,-1 0-1,0-1 1,0 1 0,1 0 0,-1-1-1,-4-1 1,-3-1-216,0 0 0,0-1 0,0 0-1,0 0 1,0-1 0,-15-11 0,14 8-6614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7.007"/>
    </inkml:context>
    <inkml:brush xml:id="br0">
      <inkml:brushProperty name="width" value="0.035" units="cm"/>
      <inkml:brushProperty name="height" value="0.035" units="cm"/>
      <inkml:brushProperty name="color" value="#E71224"/>
    </inkml:brush>
  </inkml:definitions>
  <inkml:trace contextRef="#ctx0" brushRef="#br0">1 0 24575,'0'4'0,"0"4"0,0 5 0,0 7 0,0 4 0,0 2 0,0-1 0,0 0 0,0-1 0,0-1 0,0-1 0,0-1 0,0 0 0,0 0 0,0 0 0,0-3-8191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7.689"/>
    </inkml:context>
    <inkml:brush xml:id="br0">
      <inkml:brushProperty name="width" value="0.035" units="cm"/>
      <inkml:brushProperty name="height" value="0.035" units="cm"/>
      <inkml:brushProperty name="color" value="#E71224"/>
    </inkml:brush>
  </inkml:definitions>
  <inkml:trace contextRef="#ctx0" brushRef="#br0">1 39 24575,'3'0'0,"6"0"0,0-3 0,3-2 0,3 0 0,2 2 0,2 0 0,2 1 0,0-2 0,1-1 0,-1 0 0,-3 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8.370"/>
    </inkml:context>
    <inkml:brush xml:id="br0">
      <inkml:brushProperty name="width" value="0.035" units="cm"/>
      <inkml:brushProperty name="height" value="0.035" units="cm"/>
      <inkml:brushProperty name="color" value="#E71224"/>
    </inkml:brush>
  </inkml:definitions>
  <inkml:trace contextRef="#ctx0" brushRef="#br0">1 0 24575,'0'4'0,"3"0"0,2 5 0,3-1 0,8 3 0,0 2 0,2 0 0,-2 1 0,-4 2 0,0-3 0,-3-2-8191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39.523"/>
    </inkml:context>
    <inkml:brush xml:id="br0">
      <inkml:brushProperty name="width" value="0.035" units="cm"/>
      <inkml:brushProperty name="height" value="0.035" units="cm"/>
      <inkml:brushProperty name="color" value="#E71224"/>
    </inkml:brush>
  </inkml:definitions>
  <inkml:trace contextRef="#ctx0" brushRef="#br0">1 188 24575,'12'0'0,"1"-1"0,-1 0 0,1-1 0,-1-1 0,0 0 0,0-1 0,0 0 0,0 0 0,-1-1 0,15-9 0,-23 11 0,0-1 0,0 1 0,-1-1 0,1 1 0,-1-1 0,0 0 0,0 0 0,0 0 0,-1 0 0,1 0 0,-1 0 0,0-1 0,0 1 0,0 0 0,-1-1 0,0-7 0,1 9 0,-1 0 0,0 0 0,0 0 0,0 0 0,0 0 0,0 1 0,-1-1 0,1 0 0,-1 0 0,0 0 0,1 0 0,-2 1 0,1-1 0,0 0 0,0 1 0,-1-1 0,1 1 0,-1-1 0,0 1 0,0 0 0,0 0 0,0 0 0,0 0 0,0 0 0,-4-2 0,4 3 0,0 1 0,1-1 0,-1 1 0,0-1 0,0 1 0,0 0 0,1 0 0,-1 0 0,0 0 0,0 0 0,0 1 0,1-1 0,-1 0 0,0 1 0,0-1 0,1 1 0,-1 0 0,1-1 0,-4 3 0,2-1 0,0 1 0,-1 0 0,1 0 0,0 0 0,0 0 0,1 0 0,-1 1 0,-2 3 0,-2 6 0,1-1 0,0 1 0,-8 27 0,13-37 0,-4 11 0,1 0 0,1 1 0,0-1 0,-1 21 0,5-29 0,-1-1 0,0 0 0,1 0 0,0 0 0,0 0 0,1 0 0,-1-1 0,1 1 0,0 0 0,1-1 0,-1 1 0,1-1 0,-1 0 0,1 0 0,1 0 0,4 5 0,65 57-1365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40.587"/>
    </inkml:context>
    <inkml:brush xml:id="br0">
      <inkml:brushProperty name="width" value="0.035" units="cm"/>
      <inkml:brushProperty name="height" value="0.035" units="cm"/>
      <inkml:brushProperty name="color" value="#E71224"/>
    </inkml:brush>
  </inkml:definitions>
  <inkml:trace contextRef="#ctx0" brushRef="#br0">1 0 24575,'0'4'0,"0"4"0,0 5 0,0 4 0,0 2 0,0 2 0,0 1 0,0 0 0,3 0 0,2 0 0,0 0 0,2-1 0,0 0 0,-1-3-8191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2T00:10:41.610"/>
    </inkml:context>
    <inkml:brush xml:id="br0">
      <inkml:brushProperty name="width" value="0.035" units="cm"/>
      <inkml:brushProperty name="height" value="0.035" units="cm"/>
      <inkml:brushProperty name="color" value="#E71224"/>
    </inkml:brush>
  </inkml:definitions>
  <inkml:trace contextRef="#ctx0" brushRef="#br0">1 87 24575,'0'-3'0,"0"-6"0,4 0 0,1-3 0,3 1 0,0-1 0,3 1 0,3 3 0,2 2 0,3 3 0,1 1 0,-3 2-8191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nsse.ro/cm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customXml" Target="../ink/ink8.xml"/><Relationship Id="rId26" Type="http://schemas.openxmlformats.org/officeDocument/2006/relationships/customXml" Target="../ink/ink12.xml"/><Relationship Id="rId21" Type="http://schemas.openxmlformats.org/officeDocument/2006/relationships/image" Target="../media/image18.png"/><Relationship Id="rId34" Type="http://schemas.openxmlformats.org/officeDocument/2006/relationships/customXml" Target="../ink/ink16.xml"/><Relationship Id="rId7" Type="http://schemas.openxmlformats.org/officeDocument/2006/relationships/image" Target="../media/image11.png"/><Relationship Id="rId12" Type="http://schemas.openxmlformats.org/officeDocument/2006/relationships/customXml" Target="../ink/ink5.xml"/><Relationship Id="rId17" Type="http://schemas.openxmlformats.org/officeDocument/2006/relationships/image" Target="../media/image16.png"/><Relationship Id="rId25" Type="http://schemas.openxmlformats.org/officeDocument/2006/relationships/image" Target="../media/image20.png"/><Relationship Id="rId33" Type="http://schemas.openxmlformats.org/officeDocument/2006/relationships/image" Target="../media/image24.png"/><Relationship Id="rId2" Type="http://schemas.microsoft.com/office/2014/relationships/chartEx" Target="../charts/chartEx1.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2.png"/><Relationship Id="rId1" Type="http://schemas.openxmlformats.org/officeDocument/2006/relationships/slideLayout" Target="../slideLayouts/slideLayout14.xml"/><Relationship Id="rId6" Type="http://schemas.openxmlformats.org/officeDocument/2006/relationships/customXml" Target="../ink/ink2.xml"/><Relationship Id="rId11" Type="http://schemas.openxmlformats.org/officeDocument/2006/relationships/image" Target="../media/image13.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6.png"/><Relationship Id="rId5" Type="http://schemas.openxmlformats.org/officeDocument/2006/relationships/image" Target="../media/image10.png"/><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17.png"/><Relationship Id="rId31" Type="http://schemas.openxmlformats.org/officeDocument/2006/relationships/image" Target="../media/image23.png"/><Relationship Id="rId4" Type="http://schemas.openxmlformats.org/officeDocument/2006/relationships/customXml" Target="../ink/ink1.xml"/><Relationship Id="rId9" Type="http://schemas.openxmlformats.org/officeDocument/2006/relationships/image" Target="../media/image12.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1.png"/><Relationship Id="rId30" Type="http://schemas.openxmlformats.org/officeDocument/2006/relationships/customXml" Target="../ink/ink14.xml"/><Relationship Id="rId35" Type="http://schemas.openxmlformats.org/officeDocument/2006/relationships/image" Target="../media/image25.png"/><Relationship Id="rId8" Type="http://schemas.openxmlformats.org/officeDocument/2006/relationships/customXml" Target="../ink/ink3.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4/relationships/chartEx" Target="../charts/chartEx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3" Type="http://schemas.openxmlformats.org/officeDocument/2006/relationships/customXml" Target="../ink/ink23.xml"/><Relationship Id="rId18" Type="http://schemas.openxmlformats.org/officeDocument/2006/relationships/image" Target="../media/image36.png"/><Relationship Id="rId26" Type="http://schemas.openxmlformats.org/officeDocument/2006/relationships/image" Target="../media/image39.png"/><Relationship Id="rId3" Type="http://schemas.openxmlformats.org/officeDocument/2006/relationships/customXml" Target="../ink/ink18.xml"/><Relationship Id="rId21" Type="http://schemas.openxmlformats.org/officeDocument/2006/relationships/customXml" Target="../ink/ink27.xml"/><Relationship Id="rId34" Type="http://schemas.openxmlformats.org/officeDocument/2006/relationships/image" Target="../media/image43.png"/><Relationship Id="rId7" Type="http://schemas.openxmlformats.org/officeDocument/2006/relationships/customXml" Target="../ink/ink20.xml"/><Relationship Id="rId12" Type="http://schemas.openxmlformats.org/officeDocument/2006/relationships/image" Target="../media/image33.png"/><Relationship Id="rId17" Type="http://schemas.openxmlformats.org/officeDocument/2006/relationships/customXml" Target="../ink/ink25.xml"/><Relationship Id="rId25" Type="http://schemas.openxmlformats.org/officeDocument/2006/relationships/customXml" Target="../ink/ink29.xml"/><Relationship Id="rId33" Type="http://schemas.openxmlformats.org/officeDocument/2006/relationships/customXml" Target="../ink/ink33.xml"/><Relationship Id="rId2" Type="http://schemas.openxmlformats.org/officeDocument/2006/relationships/image" Target="../media/image7.png"/><Relationship Id="rId16" Type="http://schemas.openxmlformats.org/officeDocument/2006/relationships/image" Target="../media/image35.png"/><Relationship Id="rId20" Type="http://schemas.openxmlformats.org/officeDocument/2006/relationships/image" Target="../media/image19.png"/><Relationship Id="rId29" Type="http://schemas.openxmlformats.org/officeDocument/2006/relationships/customXml" Target="../ink/ink31.xml"/><Relationship Id="rId1" Type="http://schemas.openxmlformats.org/officeDocument/2006/relationships/slideLayout" Target="../slideLayouts/slideLayout14.xml"/><Relationship Id="rId6" Type="http://schemas.openxmlformats.org/officeDocument/2006/relationships/image" Target="../media/image30.png"/><Relationship Id="rId11" Type="http://schemas.openxmlformats.org/officeDocument/2006/relationships/customXml" Target="../ink/ink22.xml"/><Relationship Id="rId24" Type="http://schemas.openxmlformats.org/officeDocument/2006/relationships/image" Target="../media/image38.png"/><Relationship Id="rId32" Type="http://schemas.openxmlformats.org/officeDocument/2006/relationships/image" Target="../media/image42.png"/><Relationship Id="rId5" Type="http://schemas.openxmlformats.org/officeDocument/2006/relationships/customXml" Target="../ink/ink19.xml"/><Relationship Id="rId15" Type="http://schemas.openxmlformats.org/officeDocument/2006/relationships/customXml" Target="../ink/ink24.xml"/><Relationship Id="rId23" Type="http://schemas.openxmlformats.org/officeDocument/2006/relationships/customXml" Target="../ink/ink28.xml"/><Relationship Id="rId28" Type="http://schemas.openxmlformats.org/officeDocument/2006/relationships/image" Target="../media/image40.png"/><Relationship Id="rId10" Type="http://schemas.openxmlformats.org/officeDocument/2006/relationships/image" Target="../media/image32.png"/><Relationship Id="rId19" Type="http://schemas.openxmlformats.org/officeDocument/2006/relationships/customXml" Target="../ink/ink26.xml"/><Relationship Id="rId31" Type="http://schemas.openxmlformats.org/officeDocument/2006/relationships/customXml" Target="../ink/ink32.xml"/><Relationship Id="rId4" Type="http://schemas.openxmlformats.org/officeDocument/2006/relationships/image" Target="../media/image29.png"/><Relationship Id="rId9" Type="http://schemas.openxmlformats.org/officeDocument/2006/relationships/customXml" Target="../ink/ink21.xml"/><Relationship Id="rId14" Type="http://schemas.openxmlformats.org/officeDocument/2006/relationships/image" Target="../media/image34.png"/><Relationship Id="rId22" Type="http://schemas.openxmlformats.org/officeDocument/2006/relationships/image" Target="../media/image37.png"/><Relationship Id="rId27" Type="http://schemas.openxmlformats.org/officeDocument/2006/relationships/customXml" Target="../ink/ink30.xml"/><Relationship Id="rId30" Type="http://schemas.openxmlformats.org/officeDocument/2006/relationships/image" Target="../media/image41.png"/><Relationship Id="rId8"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4/relationships/chartEx" Target="../charts/chartEx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4/relationships/chartEx" Target="../charts/chartEx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3403092" y="1984248"/>
            <a:ext cx="5385816" cy="1499616"/>
          </a:xfrm>
        </p:spPr>
        <p:txBody>
          <a:bodyPr/>
          <a:lstStyle/>
          <a:p>
            <a:r>
              <a:rPr lang="en-US" spc="600" dirty="0">
                <a:latin typeface="Century Gothic" panose="020B0502020202020204" pitchFamily="34" charset="0"/>
              </a:rPr>
              <a:t>The </a:t>
            </a:r>
            <a:r>
              <a:rPr lang="en-US" spc="600" dirty="0" err="1">
                <a:latin typeface="Century Gothic" panose="020B0502020202020204" pitchFamily="34" charset="0"/>
              </a:rPr>
              <a:t>qualityof</a:t>
            </a:r>
            <a:r>
              <a:rPr lang="en-US" spc="-300" dirty="0">
                <a:latin typeface="Century Gothic" panose="020B0502020202020204" pitchFamily="34" charset="0"/>
              </a:rPr>
              <a:t/>
            </a:r>
            <a:br>
              <a:rPr lang="en-US" spc="-300" dirty="0">
                <a:latin typeface="Century Gothic" panose="020B0502020202020204" pitchFamily="34" charset="0"/>
              </a:rPr>
            </a:br>
            <a:r>
              <a:rPr lang="en-US" spc="-300" dirty="0" err="1">
                <a:latin typeface="Century Gothic" panose="020B0502020202020204" pitchFamily="34" charset="0"/>
              </a:rPr>
              <a:t>HEAlth</a:t>
            </a:r>
            <a:r>
              <a:rPr lang="en-US" spc="-300" dirty="0">
                <a:latin typeface="Century Gothic" panose="020B0502020202020204" pitchFamily="34" charset="0"/>
              </a:rPr>
              <a:t> care</a:t>
            </a:r>
            <a:endParaRPr lang="en-US" dirty="0"/>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p:txBody>
          <a:bodyPr/>
          <a:lstStyle/>
          <a:p>
            <a:r>
              <a:rPr lang="en-US" dirty="0"/>
              <a:t>Made by</a:t>
            </a:r>
          </a:p>
          <a:p>
            <a:r>
              <a:rPr lang="en-US" dirty="0" err="1"/>
              <a:t>Secarea</a:t>
            </a:r>
            <a:r>
              <a:rPr lang="en-US" dirty="0"/>
              <a:t> Diana</a:t>
            </a:r>
          </a:p>
          <a:p>
            <a:r>
              <a:rPr lang="en-US" dirty="0"/>
              <a:t>Stela </a:t>
            </a:r>
            <a:r>
              <a:rPr lang="en-US" dirty="0" err="1"/>
              <a:t>Stoimenova</a:t>
            </a:r>
            <a:endParaRPr lang="en-US" dirty="0"/>
          </a:p>
          <a:p>
            <a:r>
              <a:rPr lang="en-US" dirty="0"/>
              <a:t>Toma Bianca</a:t>
            </a:r>
          </a:p>
          <a:p>
            <a:endParaRPr lang="en-US" dirty="0"/>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402336" y="1628389"/>
            <a:ext cx="7613904" cy="2065153"/>
          </a:xfrm>
        </p:spPr>
        <p:txBody>
          <a:bodyPr/>
          <a:lstStyle/>
          <a:p>
            <a:r>
              <a:rPr lang="en-US" sz="1800" b="0" i="0" u="none" strike="noStrike" baseline="0" dirty="0">
                <a:solidFill>
                  <a:srgbClr val="000000"/>
                </a:solidFill>
                <a:latin typeface="Cambria" panose="02040503050406030204" pitchFamily="18" charset="0"/>
              </a:rPr>
              <a:t/>
            </a:r>
            <a:br>
              <a:rPr lang="en-US" sz="1800" b="0" i="0" u="none" strike="noStrike" baseline="0" dirty="0">
                <a:solidFill>
                  <a:srgbClr val="000000"/>
                </a:solidFill>
                <a:latin typeface="Cambria" panose="02040503050406030204" pitchFamily="18" charset="0"/>
              </a:rPr>
            </a:br>
            <a:r>
              <a:rPr lang="en-US" sz="2400" i="0" u="none" strike="noStrike" baseline="0" dirty="0">
                <a:solidFill>
                  <a:schemeClr val="accent3">
                    <a:lumMod val="50000"/>
                  </a:schemeClr>
                </a:solidFill>
                <a:latin typeface="Century Gothic" panose="020B0502020202020204" pitchFamily="34" charset="0"/>
              </a:rPr>
              <a:t>1. Explain the selection of the variables; describe the data sources and the metadata for the selected variables. </a:t>
            </a:r>
            <a:br>
              <a:rPr lang="en-US" sz="2400" i="0" u="none" strike="noStrike" baseline="0" dirty="0">
                <a:solidFill>
                  <a:schemeClr val="accent3">
                    <a:lumMod val="50000"/>
                  </a:schemeClr>
                </a:solidFill>
                <a:latin typeface="Century Gothic" panose="020B0502020202020204" pitchFamily="34" charset="0"/>
              </a:rPr>
            </a:br>
            <a:endParaRPr lang="en-US" sz="2400" i="0" u="none" strike="noStrike" baseline="0" dirty="0">
              <a:solidFill>
                <a:schemeClr val="accent3">
                  <a:lumMod val="50000"/>
                </a:schemeClr>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314005" y="3693543"/>
            <a:ext cx="7355757" cy="3122168"/>
          </a:xfrm>
        </p:spPr>
        <p:txBody>
          <a:bodyPr/>
          <a:lstStyle/>
          <a:p>
            <a:r>
              <a:rPr lang="en-US" sz="1600" dirty="0"/>
              <a:t>The variables we have chosen are taken from </a:t>
            </a:r>
            <a:r>
              <a:rPr lang="en-US" sz="1600" dirty="0">
                <a:hlinkClick r:id="rId2"/>
              </a:rPr>
              <a:t>https://insse.ro/cms/</a:t>
            </a:r>
            <a:r>
              <a:rPr lang="en-US" sz="1600" dirty="0"/>
              <a:t> (the TEMPO section). We selected them as we wanted to see the correlation of all the variables with each other and ,</a:t>
            </a:r>
            <a:r>
              <a:rPr lang="en-US" sz="1600" dirty="0" err="1"/>
              <a:t>thus,provide</a:t>
            </a:r>
            <a:r>
              <a:rPr lang="en-US" sz="1600" dirty="0"/>
              <a:t> an insight into the impact they have on the health system .Our metadata is comprised of classes pertaining health personnel(physicians and family doctors),mortality ,number of hospitals and hospital capacity(beds).</a:t>
            </a:r>
          </a:p>
        </p:txBody>
      </p:sp>
    </p:spTree>
    <p:extLst>
      <p:ext uri="{BB962C8B-B14F-4D97-AF65-F5344CB8AC3E}">
        <p14:creationId xmlns:p14="http://schemas.microsoft.com/office/powerpoint/2010/main" val="385553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2034238"/>
            <a:ext cx="7855712" cy="1188513"/>
          </a:xfrm>
        </p:spPr>
        <p:txBody>
          <a:bodyPr/>
          <a:lstStyle/>
          <a:p>
            <a:r>
              <a:rPr lang="en-US" sz="2400" i="0" u="none" strike="noStrike" baseline="0" dirty="0">
                <a:solidFill>
                  <a:schemeClr val="accent3">
                    <a:lumMod val="50000"/>
                  </a:schemeClr>
                </a:solidFill>
                <a:latin typeface="Century Gothic" panose="020B0502020202020204" pitchFamily="34" charset="0"/>
              </a:rPr>
              <a:t>I. Explain the relevance of your analysis and use some references in this purpose.</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literature </a:t>
            </a:r>
            <a:r>
              <a:rPr lang="en-US" sz="2400" i="0" u="none" strike="noStrike" baseline="0" dirty="0" err="1">
                <a:solidFill>
                  <a:schemeClr val="accent3">
                    <a:lumMod val="50000"/>
                  </a:schemeClr>
                </a:solidFill>
                <a:latin typeface="Century Gothic" panose="020B0502020202020204" pitchFamily="34" charset="0"/>
              </a:rPr>
              <a:t>REVIew</a:t>
            </a:r>
            <a:endParaRPr lang="en-US" sz="2400" dirty="0">
              <a:solidFill>
                <a:schemeClr val="accent3">
                  <a:lumMod val="50000"/>
                </a:schemeClr>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p:txBody>
          <a:bodyPr/>
          <a:lstStyle/>
          <a:p>
            <a:pPr algn="just"/>
            <a:r>
              <a:rPr lang="en-US" dirty="0"/>
              <a:t>Considering the fact that inhospitality mortality rate records an increase in 2019,which raises eyebrows concerning hospice and nursing home conditions , [1],being the focus of our </a:t>
            </a:r>
            <a:r>
              <a:rPr lang="en-US" dirty="0" err="1"/>
              <a:t>analysis.A</a:t>
            </a:r>
            <a:r>
              <a:rPr lang="en-US" dirty="0"/>
              <a:t> study made by </a:t>
            </a:r>
            <a:r>
              <a:rPr lang="en-US" u="sng" dirty="0">
                <a:solidFill>
                  <a:srgbClr val="205493"/>
                </a:solidFill>
                <a:latin typeface="Helvetica Neue"/>
              </a:rPr>
              <a:t>Cristian </a:t>
            </a:r>
            <a:r>
              <a:rPr lang="en-US" u="sng" dirty="0" err="1">
                <a:solidFill>
                  <a:srgbClr val="205493"/>
                </a:solidFill>
                <a:latin typeface="Helvetica Neue"/>
              </a:rPr>
              <a:t>Vladescu</a:t>
            </a:r>
            <a:r>
              <a:rPr lang="en-US" b="0" i="0" dirty="0">
                <a:solidFill>
                  <a:srgbClr val="212121"/>
                </a:solidFill>
                <a:effectLst/>
                <a:latin typeface="Helvetica Neue"/>
              </a:rPr>
              <a:t>, </a:t>
            </a:r>
            <a:r>
              <a:rPr lang="en-US" u="sng" dirty="0">
                <a:solidFill>
                  <a:srgbClr val="376FAA"/>
                </a:solidFill>
                <a:latin typeface="Helvetica Neue"/>
              </a:rPr>
              <a:t>Marius </a:t>
            </a:r>
            <a:r>
              <a:rPr lang="en-US" u="sng" dirty="0" err="1">
                <a:solidFill>
                  <a:srgbClr val="376FAA"/>
                </a:solidFill>
                <a:latin typeface="Helvetica Neue"/>
              </a:rPr>
              <a:t>Ciutan</a:t>
            </a:r>
            <a:r>
              <a:rPr lang="en-US" u="sng" dirty="0">
                <a:solidFill>
                  <a:srgbClr val="376FAA"/>
                </a:solidFill>
                <a:latin typeface="Helvetica Neue"/>
              </a:rPr>
              <a:t> </a:t>
            </a:r>
            <a:r>
              <a:rPr lang="en-US" u="sng" dirty="0">
                <a:solidFill>
                  <a:schemeClr val="accent3">
                    <a:lumMod val="50000"/>
                  </a:schemeClr>
                </a:solidFill>
              </a:rPr>
              <a:t>and</a:t>
            </a:r>
            <a:r>
              <a:rPr lang="en-US" b="0" i="0" dirty="0">
                <a:solidFill>
                  <a:srgbClr val="212121"/>
                </a:solidFill>
                <a:effectLst/>
                <a:latin typeface="Helvetica Neue"/>
              </a:rPr>
              <a:t>  </a:t>
            </a:r>
            <a:r>
              <a:rPr lang="en-US" u="sng" dirty="0">
                <a:solidFill>
                  <a:srgbClr val="376FAA"/>
                </a:solidFill>
                <a:latin typeface="Helvetica Neue"/>
              </a:rPr>
              <a:t>Alexandru </a:t>
            </a:r>
            <a:r>
              <a:rPr lang="en-US" u="sng" dirty="0" err="1">
                <a:solidFill>
                  <a:srgbClr val="376FAA"/>
                </a:solidFill>
                <a:latin typeface="Helvetica Neue"/>
              </a:rPr>
              <a:t>Rafila</a:t>
            </a:r>
            <a:r>
              <a:rPr lang="en-US" u="sng" baseline="30000" dirty="0">
                <a:solidFill>
                  <a:srgbClr val="212121"/>
                </a:solidFill>
                <a:latin typeface="Helvetica Neue"/>
              </a:rPr>
              <a:t> </a:t>
            </a:r>
            <a:r>
              <a:rPr lang="en-US" dirty="0"/>
              <a:t> about the advent of COVID-19 events[2] shows nothing ,but that having difficulty with hospital capacity and economic weakness has had a negative effect on the well-being of the population that’s suffered from COVID or not .</a:t>
            </a:r>
          </a:p>
          <a:p>
            <a:pPr algn="just"/>
            <a:endParaRPr lang="en-US" dirty="0"/>
          </a:p>
          <a:p>
            <a:pPr algn="just"/>
            <a:r>
              <a:rPr lang="en-US" dirty="0"/>
              <a:t>Thus ,our analysis is relevant in the context of health care quality.</a:t>
            </a: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a:t>
            </a:fld>
            <a:endParaRPr lang="en-US" dirty="0"/>
          </a:p>
        </p:txBody>
      </p:sp>
    </p:spTree>
    <p:extLst>
      <p:ext uri="{BB962C8B-B14F-4D97-AF65-F5344CB8AC3E}">
        <p14:creationId xmlns:p14="http://schemas.microsoft.com/office/powerpoint/2010/main" val="97962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932584"/>
            <a:ext cx="5961193" cy="1044551"/>
          </a:xfrm>
        </p:spPr>
        <p:txBody>
          <a:bodyPr/>
          <a:lstStyle/>
          <a:p>
            <a:r>
              <a:rPr lang="en-US" sz="3200" i="0" u="none" strike="noStrike" baseline="0" dirty="0">
                <a:solidFill>
                  <a:schemeClr val="accent3">
                    <a:lumMod val="50000"/>
                  </a:schemeClr>
                </a:solidFill>
                <a:latin typeface="Century Gothic" panose="020B0502020202020204" pitchFamily="34" charset="0"/>
              </a:rPr>
              <a:t>2. Describe your data with graphical tools;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No. of Hospitals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
            </a:r>
            <a:br>
              <a:rPr lang="en-US" sz="3200" i="0" u="none" strike="noStrike" baseline="0" dirty="0">
                <a:solidFill>
                  <a:schemeClr val="accent3">
                    <a:lumMod val="50000"/>
                  </a:schemeClr>
                </a:solidFill>
                <a:latin typeface="Century Gothic" panose="020B0502020202020204" pitchFamily="34" charset="0"/>
              </a:rPr>
            </a:br>
            <a:endParaRPr lang="en-US" sz="3200" dirty="0">
              <a:solidFill>
                <a:schemeClr val="accent3">
                  <a:lumMod val="50000"/>
                </a:schemeClr>
              </a:solidFill>
              <a:latin typeface="Century Gothic" panose="020B0502020202020204" pitchFamily="34" charset="0"/>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4</a:t>
            </a:fld>
            <a:endParaRPr lang="en-US" dirty="0"/>
          </a:p>
        </p:txBody>
      </p:sp>
      <p:graphicFrame>
        <p:nvGraphicFramePr>
          <p:cNvPr id="9" name="Chart 8">
            <a:extLst>
              <a:ext uri="{FF2B5EF4-FFF2-40B4-BE49-F238E27FC236}">
                <a16:creationId xmlns:a16="http://schemas.microsoft.com/office/drawing/2014/main" id="{AEE6FD06-6B93-4051-8A11-086193DFD0BC}"/>
              </a:ext>
            </a:extLst>
          </p:cNvPr>
          <p:cNvGraphicFramePr>
            <a:graphicFrameLocks/>
          </p:cNvGraphicFramePr>
          <p:nvPr>
            <p:extLst>
              <p:ext uri="{D42A27DB-BD31-4B8C-83A1-F6EECF244321}">
                <p14:modId xmlns:p14="http://schemas.microsoft.com/office/powerpoint/2010/main" val="3971288691"/>
              </p:ext>
            </p:extLst>
          </p:nvPr>
        </p:nvGraphicFramePr>
        <p:xfrm>
          <a:off x="3402957" y="2558005"/>
          <a:ext cx="8704163" cy="42131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624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932584"/>
            <a:ext cx="5961193" cy="1044551"/>
          </a:xfrm>
        </p:spPr>
        <p:txBody>
          <a:bodyPr/>
          <a:lstStyle/>
          <a:p>
            <a:r>
              <a:rPr lang="en-US" sz="3200" i="0" u="none" strike="noStrike" baseline="0" dirty="0">
                <a:solidFill>
                  <a:schemeClr val="accent3">
                    <a:lumMod val="50000"/>
                  </a:schemeClr>
                </a:solidFill>
                <a:latin typeface="Century Gothic" panose="020B0502020202020204" pitchFamily="34" charset="0"/>
              </a:rPr>
              <a:t>2. Describe your data with graphical tools;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No. of Hospitals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
            </a:r>
            <a:br>
              <a:rPr lang="en-US" sz="3200" i="0" u="none" strike="noStrike" baseline="0" dirty="0">
                <a:solidFill>
                  <a:schemeClr val="accent3">
                    <a:lumMod val="50000"/>
                  </a:schemeClr>
                </a:solidFill>
                <a:latin typeface="Century Gothic" panose="020B0502020202020204" pitchFamily="34" charset="0"/>
              </a:rPr>
            </a:br>
            <a:endParaRPr lang="en-US" sz="3200" dirty="0">
              <a:solidFill>
                <a:schemeClr val="accent3">
                  <a:lumMod val="50000"/>
                </a:schemeClr>
              </a:solidFill>
              <a:latin typeface="Century Gothic" panose="020B0502020202020204" pitchFamily="34" charset="0"/>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5</a:t>
            </a:fld>
            <a:endParaRPr lang="en-US" dirty="0"/>
          </a:p>
        </p:txBody>
      </p:sp>
      <p:graphicFrame>
        <p:nvGraphicFramePr>
          <p:cNvPr id="3" name="Chart 2">
            <a:extLst>
              <a:ext uri="{FF2B5EF4-FFF2-40B4-BE49-F238E27FC236}">
                <a16:creationId xmlns:a16="http://schemas.microsoft.com/office/drawing/2014/main" id="{5E0A81DE-F30A-4835-9A90-D6D1F44A2F34}"/>
              </a:ext>
            </a:extLst>
          </p:cNvPr>
          <p:cNvGraphicFramePr>
            <a:graphicFrameLocks/>
          </p:cNvGraphicFramePr>
          <p:nvPr>
            <p:extLst>
              <p:ext uri="{D42A27DB-BD31-4B8C-83A1-F6EECF244321}">
                <p14:modId xmlns:p14="http://schemas.microsoft.com/office/powerpoint/2010/main" val="1713442146"/>
              </p:ext>
            </p:extLst>
          </p:nvPr>
        </p:nvGraphicFramePr>
        <p:xfrm>
          <a:off x="3658950" y="2500132"/>
          <a:ext cx="8390296" cy="41900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376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932584"/>
            <a:ext cx="5961193" cy="1044551"/>
          </a:xfrm>
        </p:spPr>
        <p:txBody>
          <a:bodyPr/>
          <a:lstStyle/>
          <a:p>
            <a:r>
              <a:rPr lang="en-US" sz="3200" i="0" u="none" strike="noStrike" baseline="0" dirty="0">
                <a:solidFill>
                  <a:schemeClr val="accent3">
                    <a:lumMod val="50000"/>
                  </a:schemeClr>
                </a:solidFill>
                <a:latin typeface="Century Gothic" panose="020B0502020202020204" pitchFamily="34" charset="0"/>
              </a:rPr>
              <a:t>2. Describe your data with graphical tools;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No. of Hospitals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
            </a:r>
            <a:br>
              <a:rPr lang="en-US" sz="3200" i="0" u="none" strike="noStrike" baseline="0" dirty="0">
                <a:solidFill>
                  <a:schemeClr val="accent3">
                    <a:lumMod val="50000"/>
                  </a:schemeClr>
                </a:solidFill>
                <a:latin typeface="Century Gothic" panose="020B0502020202020204" pitchFamily="34" charset="0"/>
              </a:rPr>
            </a:br>
            <a:endParaRPr lang="en-US" sz="3200" dirty="0">
              <a:solidFill>
                <a:schemeClr val="accent3">
                  <a:lumMod val="50000"/>
                </a:schemeClr>
              </a:solidFill>
              <a:latin typeface="Century Gothic" panose="020B0502020202020204" pitchFamily="34" charset="0"/>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6</a:t>
            </a:fld>
            <a:endParaRPr lang="en-US" dirty="0"/>
          </a:p>
        </p:txBody>
      </p:sp>
      <p:graphicFrame>
        <p:nvGraphicFramePr>
          <p:cNvPr id="4" name="Chart 3">
            <a:extLst>
              <a:ext uri="{FF2B5EF4-FFF2-40B4-BE49-F238E27FC236}">
                <a16:creationId xmlns:a16="http://schemas.microsoft.com/office/drawing/2014/main" id="{F5F16B37-96B4-4742-B814-9A21881CE62C}"/>
              </a:ext>
            </a:extLst>
          </p:cNvPr>
          <p:cNvGraphicFramePr>
            <a:graphicFrameLocks/>
          </p:cNvGraphicFramePr>
          <p:nvPr>
            <p:extLst>
              <p:ext uri="{D42A27DB-BD31-4B8C-83A1-F6EECF244321}">
                <p14:modId xmlns:p14="http://schemas.microsoft.com/office/powerpoint/2010/main" val="1581812701"/>
              </p:ext>
            </p:extLst>
          </p:nvPr>
        </p:nvGraphicFramePr>
        <p:xfrm>
          <a:off x="3705828" y="2465408"/>
          <a:ext cx="8227092" cy="43925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582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932584"/>
            <a:ext cx="5961193" cy="1044551"/>
          </a:xfrm>
        </p:spPr>
        <p:txBody>
          <a:bodyPr/>
          <a:lstStyle/>
          <a:p>
            <a:r>
              <a:rPr lang="en-US" sz="3200" i="0" u="none" strike="noStrike" baseline="0" dirty="0">
                <a:solidFill>
                  <a:schemeClr val="accent3">
                    <a:lumMod val="50000"/>
                  </a:schemeClr>
                </a:solidFill>
                <a:latin typeface="Century Gothic" panose="020B0502020202020204" pitchFamily="34" charset="0"/>
              </a:rPr>
              <a:t>2. Describe your data with graphical tools;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No. of Hospitals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
            </a:r>
            <a:br>
              <a:rPr lang="en-US" sz="3200" i="0" u="none" strike="noStrike" baseline="0" dirty="0">
                <a:solidFill>
                  <a:schemeClr val="accent3">
                    <a:lumMod val="50000"/>
                  </a:schemeClr>
                </a:solidFill>
                <a:latin typeface="Century Gothic" panose="020B0502020202020204" pitchFamily="34" charset="0"/>
              </a:rPr>
            </a:br>
            <a:endParaRPr lang="en-US" sz="3200" dirty="0">
              <a:solidFill>
                <a:schemeClr val="accent3">
                  <a:lumMod val="50000"/>
                </a:schemeClr>
              </a:solidFill>
              <a:latin typeface="Century Gothic" panose="020B0502020202020204" pitchFamily="34" charset="0"/>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7</a:t>
            </a:fld>
            <a:endParaRPr lang="en-US" dirty="0"/>
          </a:p>
        </p:txBody>
      </p:sp>
      <p:graphicFrame>
        <p:nvGraphicFramePr>
          <p:cNvPr id="4" name="Chart 3">
            <a:extLst>
              <a:ext uri="{FF2B5EF4-FFF2-40B4-BE49-F238E27FC236}">
                <a16:creationId xmlns:a16="http://schemas.microsoft.com/office/drawing/2014/main" id="{F5F16B37-96B4-4742-B814-9A21881CE62C}"/>
              </a:ext>
            </a:extLst>
          </p:cNvPr>
          <p:cNvGraphicFramePr>
            <a:graphicFrameLocks/>
          </p:cNvGraphicFramePr>
          <p:nvPr/>
        </p:nvGraphicFramePr>
        <p:xfrm>
          <a:off x="3705828" y="2465408"/>
          <a:ext cx="8227092" cy="43925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8543527E-8CED-49AC-B8EC-373BF6E1A6C4}"/>
              </a:ext>
            </a:extLst>
          </p:cNvPr>
          <p:cNvGraphicFramePr>
            <a:graphicFrameLocks/>
          </p:cNvGraphicFramePr>
          <p:nvPr>
            <p:extLst>
              <p:ext uri="{D42A27DB-BD31-4B8C-83A1-F6EECF244321}">
                <p14:modId xmlns:p14="http://schemas.microsoft.com/office/powerpoint/2010/main" val="4153791156"/>
              </p:ext>
            </p:extLst>
          </p:nvPr>
        </p:nvGraphicFramePr>
        <p:xfrm>
          <a:off x="3402957" y="2465408"/>
          <a:ext cx="8634135" cy="43925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8131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932584"/>
            <a:ext cx="5961193" cy="1044551"/>
          </a:xfrm>
        </p:spPr>
        <p:txBody>
          <a:bodyPr/>
          <a:lstStyle/>
          <a:p>
            <a:r>
              <a:rPr lang="en-US" sz="3200" i="0" u="none" strike="noStrike" baseline="0" dirty="0">
                <a:solidFill>
                  <a:schemeClr val="accent3">
                    <a:lumMod val="50000"/>
                  </a:schemeClr>
                </a:solidFill>
                <a:latin typeface="Century Gothic" panose="020B0502020202020204" pitchFamily="34" charset="0"/>
              </a:rPr>
              <a:t>2. Describe your data with graphical tools;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No. of Hospitals</a:t>
            </a:r>
            <a:br>
              <a:rPr lang="en-US" sz="3200" i="0" u="none" strike="noStrike" baseline="0" dirty="0">
                <a:solidFill>
                  <a:schemeClr val="accent3">
                    <a:lumMod val="50000"/>
                  </a:schemeClr>
                </a:solidFill>
                <a:latin typeface="Century Gothic" panose="020B0502020202020204" pitchFamily="34" charset="0"/>
              </a:rPr>
            </a:br>
            <a:r>
              <a:rPr lang="en-US" sz="3200" i="0" u="none" strike="noStrike" baseline="0" dirty="0">
                <a:solidFill>
                  <a:schemeClr val="accent3">
                    <a:lumMod val="50000"/>
                  </a:schemeClr>
                </a:solidFill>
                <a:latin typeface="Century Gothic" panose="020B0502020202020204" pitchFamily="34" charset="0"/>
              </a:rPr>
              <a:t/>
            </a:r>
            <a:br>
              <a:rPr lang="en-US" sz="3200" i="0" u="none" strike="noStrike" baseline="0" dirty="0">
                <a:solidFill>
                  <a:schemeClr val="accent3">
                    <a:lumMod val="50000"/>
                  </a:schemeClr>
                </a:solidFill>
                <a:latin typeface="Century Gothic" panose="020B0502020202020204" pitchFamily="34" charset="0"/>
              </a:rPr>
            </a:br>
            <a:endParaRPr lang="en-US" sz="3200" dirty="0">
              <a:solidFill>
                <a:schemeClr val="accent3">
                  <a:lumMod val="50000"/>
                </a:schemeClr>
              </a:solidFill>
              <a:latin typeface="Century Gothic" panose="020B0502020202020204" pitchFamily="34" charset="0"/>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Quality of Health care</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8</a:t>
            </a:fld>
            <a:endParaRPr lang="en-US" dirty="0"/>
          </a:p>
        </p:txBody>
      </p:sp>
      <p:graphicFrame>
        <p:nvGraphicFramePr>
          <p:cNvPr id="4" name="Chart 3">
            <a:extLst>
              <a:ext uri="{FF2B5EF4-FFF2-40B4-BE49-F238E27FC236}">
                <a16:creationId xmlns:a16="http://schemas.microsoft.com/office/drawing/2014/main" id="{F5F16B37-96B4-4742-B814-9A21881CE62C}"/>
              </a:ext>
            </a:extLst>
          </p:cNvPr>
          <p:cNvGraphicFramePr>
            <a:graphicFrameLocks/>
          </p:cNvGraphicFramePr>
          <p:nvPr/>
        </p:nvGraphicFramePr>
        <p:xfrm>
          <a:off x="3705828" y="2465408"/>
          <a:ext cx="8227092" cy="43925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6FB7615F-E4D8-4EE5-9DC5-9178FA38A0E6}"/>
              </a:ext>
            </a:extLst>
          </p:cNvPr>
          <p:cNvGraphicFramePr>
            <a:graphicFrameLocks/>
          </p:cNvGraphicFramePr>
          <p:nvPr>
            <p:extLst>
              <p:ext uri="{D42A27DB-BD31-4B8C-83A1-F6EECF244321}">
                <p14:modId xmlns:p14="http://schemas.microsoft.com/office/powerpoint/2010/main" val="1965632483"/>
              </p:ext>
            </p:extLst>
          </p:nvPr>
        </p:nvGraphicFramePr>
        <p:xfrm>
          <a:off x="3810000" y="2465408"/>
          <a:ext cx="8382000" cy="43925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92584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26020" y="-590308"/>
            <a:ext cx="5769980" cy="2730004"/>
          </a:xfrm>
        </p:spPr>
        <p:txBody>
          <a:bodyPr/>
          <a:lstStyle/>
          <a:p>
            <a:pPr algn="l"/>
            <a:r>
              <a:rPr lang="en-US" sz="2800" b="0" i="0" u="none" strike="noStrike" baseline="0" dirty="0">
                <a:solidFill>
                  <a:schemeClr val="accent3">
                    <a:lumMod val="50000"/>
                  </a:schemeClr>
                </a:solidFill>
                <a:latin typeface="Century Gothic" panose="020B0502020202020204" pitchFamily="34" charset="0"/>
              </a:rPr>
              <a:t/>
            </a:r>
            <a:br>
              <a:rPr lang="en-US" sz="2800" b="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 </a:t>
            </a:r>
            <a:br>
              <a:rPr lang="en-US" sz="280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3. Group the statistical units into classes; plot the histograms, based on your classification. </a:t>
            </a:r>
          </a:p>
        </p:txBody>
      </p:sp>
      <p:graphicFrame>
        <p:nvGraphicFramePr>
          <p:cNvPr id="7" name="Table 6">
            <a:extLst>
              <a:ext uri="{FF2B5EF4-FFF2-40B4-BE49-F238E27FC236}">
                <a16:creationId xmlns:a16="http://schemas.microsoft.com/office/drawing/2014/main" id="{8545E06D-F10B-62F6-5FB0-046E7BC45FCF}"/>
              </a:ext>
            </a:extLst>
          </p:cNvPr>
          <p:cNvGraphicFramePr>
            <a:graphicFrameLocks noGrp="1"/>
          </p:cNvGraphicFramePr>
          <p:nvPr>
            <p:extLst>
              <p:ext uri="{D42A27DB-BD31-4B8C-83A1-F6EECF244321}">
                <p14:modId xmlns:p14="http://schemas.microsoft.com/office/powerpoint/2010/main" val="2404401384"/>
              </p:ext>
            </p:extLst>
          </p:nvPr>
        </p:nvGraphicFramePr>
        <p:xfrm>
          <a:off x="27008" y="2139697"/>
          <a:ext cx="935620" cy="2061917"/>
        </p:xfrm>
        <a:graphic>
          <a:graphicData uri="http://schemas.openxmlformats.org/drawingml/2006/table">
            <a:tbl>
              <a:tblPr>
                <a:tableStyleId>{5C22544A-7EE6-4342-B048-85BDC9FD1C3A}</a:tableStyleId>
              </a:tblPr>
              <a:tblGrid>
                <a:gridCol w="935620">
                  <a:extLst>
                    <a:ext uri="{9D8B030D-6E8A-4147-A177-3AD203B41FA5}">
                      <a16:colId xmlns:a16="http://schemas.microsoft.com/office/drawing/2014/main" val="2675050787"/>
                    </a:ext>
                  </a:extLst>
                </a:gridCol>
              </a:tblGrid>
              <a:tr h="468959">
                <a:tc>
                  <a:txBody>
                    <a:bodyPr/>
                    <a:lstStyle/>
                    <a:p>
                      <a:pPr algn="l" fontAlgn="b"/>
                      <a:r>
                        <a:rPr lang="en-US" sz="1100" u="none" strike="noStrike" dirty="0">
                          <a:effectLst/>
                        </a:rPr>
                        <a:t>Bin(upper limit)</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72970983"/>
                  </a:ext>
                </a:extLst>
              </a:tr>
              <a:tr h="265493">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061876"/>
                  </a:ext>
                </a:extLst>
              </a:tr>
              <a:tr h="265493">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9434370"/>
                  </a:ext>
                </a:extLst>
              </a:tr>
              <a:tr h="265493">
                <a:tc>
                  <a:txBody>
                    <a:bodyPr/>
                    <a:lstStyle/>
                    <a:p>
                      <a:pPr algn="r" fontAlgn="b"/>
                      <a:r>
                        <a:rPr lang="en-US" sz="1100" u="none" strike="noStrike">
                          <a:effectLst/>
                        </a:rPr>
                        <a:t>21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20922890"/>
                  </a:ext>
                </a:extLst>
              </a:tr>
              <a:tr h="265493">
                <a:tc>
                  <a:txBody>
                    <a:bodyPr/>
                    <a:lstStyle/>
                    <a:p>
                      <a:pPr algn="r" fontAlgn="b"/>
                      <a:r>
                        <a:rPr lang="en-US" sz="1100" u="none" strike="noStrike">
                          <a:effectLst/>
                        </a:rPr>
                        <a:t>27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14626542"/>
                  </a:ext>
                </a:extLst>
              </a:tr>
              <a:tr h="265493">
                <a:tc>
                  <a:txBody>
                    <a:bodyPr/>
                    <a:lstStyle/>
                    <a:p>
                      <a:pPr algn="r" fontAlgn="b"/>
                      <a:r>
                        <a:rPr lang="en-US" sz="1100" u="none" strike="noStrike">
                          <a:effectLst/>
                        </a:rPr>
                        <a:t>32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09698407"/>
                  </a:ext>
                </a:extLst>
              </a:tr>
              <a:tr h="265493">
                <a:tc>
                  <a:txBody>
                    <a:bodyPr/>
                    <a:lstStyle/>
                    <a:p>
                      <a:pPr algn="r" fontAlgn="b"/>
                      <a:r>
                        <a:rPr lang="en-US" sz="1100" u="none" strike="noStrike" dirty="0">
                          <a:effectLst/>
                        </a:rPr>
                        <a:t>37</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02015992"/>
                  </a:ext>
                </a:extLst>
              </a:tr>
            </a:tbl>
          </a:graphicData>
        </a:graphic>
      </p:graphicFrame>
      <p:graphicFrame>
        <p:nvGraphicFramePr>
          <p:cNvPr id="8" name="Table 7">
            <a:extLst>
              <a:ext uri="{FF2B5EF4-FFF2-40B4-BE49-F238E27FC236}">
                <a16:creationId xmlns:a16="http://schemas.microsoft.com/office/drawing/2014/main" id="{F6B68973-7FC6-EECF-F21E-9A8E6D87E3F8}"/>
              </a:ext>
            </a:extLst>
          </p:cNvPr>
          <p:cNvGraphicFramePr>
            <a:graphicFrameLocks noGrp="1"/>
          </p:cNvGraphicFramePr>
          <p:nvPr>
            <p:extLst>
              <p:ext uri="{D42A27DB-BD31-4B8C-83A1-F6EECF244321}">
                <p14:modId xmlns:p14="http://schemas.microsoft.com/office/powerpoint/2010/main" val="2907651716"/>
              </p:ext>
            </p:extLst>
          </p:nvPr>
        </p:nvGraphicFramePr>
        <p:xfrm>
          <a:off x="962628" y="2300929"/>
          <a:ext cx="1306010" cy="1900682"/>
        </p:xfrm>
        <a:graphic>
          <a:graphicData uri="http://schemas.openxmlformats.org/drawingml/2006/table">
            <a:tbl>
              <a:tblPr>
                <a:tableStyleId>{5C22544A-7EE6-4342-B048-85BDC9FD1C3A}</a:tableStyleId>
              </a:tblPr>
              <a:tblGrid>
                <a:gridCol w="1306010">
                  <a:extLst>
                    <a:ext uri="{9D8B030D-6E8A-4147-A177-3AD203B41FA5}">
                      <a16:colId xmlns:a16="http://schemas.microsoft.com/office/drawing/2014/main" val="812826980"/>
                    </a:ext>
                  </a:extLst>
                </a:gridCol>
              </a:tblGrid>
              <a:tr h="252692">
                <a:tc>
                  <a:txBody>
                    <a:bodyPr/>
                    <a:lstStyle/>
                    <a:p>
                      <a:pPr algn="l" fontAlgn="b"/>
                      <a:r>
                        <a:rPr lang="en-US" sz="1100" u="none" strike="noStrike" dirty="0">
                          <a:effectLst/>
                        </a:rPr>
                        <a:t>bin label</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60954285"/>
                  </a:ext>
                </a:extLst>
              </a:tr>
              <a:tr h="274665">
                <a:tc>
                  <a:txBody>
                    <a:bodyPr/>
                    <a:lstStyle/>
                    <a:p>
                      <a:pPr algn="l" fontAlgn="b"/>
                      <a:r>
                        <a:rPr lang="en-US" sz="1100" u="none" strike="noStrike">
                          <a:effectLst/>
                        </a:rPr>
                        <a:t>(4-9)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25174517"/>
                  </a:ext>
                </a:extLst>
              </a:tr>
              <a:tr h="274665">
                <a:tc>
                  <a:txBody>
                    <a:bodyPr/>
                    <a:lstStyle/>
                    <a:p>
                      <a:pPr algn="l" fontAlgn="b"/>
                      <a:r>
                        <a:rPr lang="en-US" sz="1100" u="none" strike="noStrike">
                          <a:effectLst/>
                        </a:rPr>
                        <a:t>(10-15)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26098120"/>
                  </a:ext>
                </a:extLst>
              </a:tr>
              <a:tr h="274665">
                <a:tc>
                  <a:txBody>
                    <a:bodyPr/>
                    <a:lstStyle/>
                    <a:p>
                      <a:pPr algn="l" fontAlgn="b"/>
                      <a:r>
                        <a:rPr lang="en-US" sz="1100" u="none" strike="noStrike">
                          <a:effectLst/>
                        </a:rPr>
                        <a:t>(16-21)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40930411"/>
                  </a:ext>
                </a:extLst>
              </a:tr>
              <a:tr h="274665">
                <a:tc>
                  <a:txBody>
                    <a:bodyPr/>
                    <a:lstStyle/>
                    <a:p>
                      <a:pPr algn="l" fontAlgn="b"/>
                      <a:r>
                        <a:rPr lang="en-US" sz="1100" u="none" strike="noStrike">
                          <a:effectLst/>
                        </a:rPr>
                        <a:t>(22-27)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3663842"/>
                  </a:ext>
                </a:extLst>
              </a:tr>
              <a:tr h="274665">
                <a:tc>
                  <a:txBody>
                    <a:bodyPr/>
                    <a:lstStyle/>
                    <a:p>
                      <a:pPr algn="l" fontAlgn="b"/>
                      <a:r>
                        <a:rPr lang="en-US" sz="1100" u="none" strike="noStrike">
                          <a:effectLst/>
                        </a:rPr>
                        <a:t>(28-32)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87816019"/>
                  </a:ext>
                </a:extLst>
              </a:tr>
              <a:tr h="274665">
                <a:tc>
                  <a:txBody>
                    <a:bodyPr/>
                    <a:lstStyle/>
                    <a:p>
                      <a:pPr algn="l" fontAlgn="b"/>
                      <a:r>
                        <a:rPr lang="en-US" sz="1100" u="none" strike="noStrike" dirty="0">
                          <a:effectLst/>
                        </a:rPr>
                        <a:t>(32-37)</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5616842"/>
                  </a:ext>
                </a:extLst>
              </a:tr>
            </a:tbl>
          </a:graphicData>
        </a:graphic>
      </p:graphicFrame>
      <p:graphicFrame>
        <p:nvGraphicFramePr>
          <p:cNvPr id="9" name="Table 8">
            <a:extLst>
              <a:ext uri="{FF2B5EF4-FFF2-40B4-BE49-F238E27FC236}">
                <a16:creationId xmlns:a16="http://schemas.microsoft.com/office/drawing/2014/main" id="{9E92BC5D-EA12-0E53-66AB-97DD0B54DDDA}"/>
              </a:ext>
            </a:extLst>
          </p:cNvPr>
          <p:cNvGraphicFramePr>
            <a:graphicFrameLocks noGrp="1"/>
          </p:cNvGraphicFramePr>
          <p:nvPr>
            <p:extLst>
              <p:ext uri="{D42A27DB-BD31-4B8C-83A1-F6EECF244321}">
                <p14:modId xmlns:p14="http://schemas.microsoft.com/office/powerpoint/2010/main" val="306703754"/>
              </p:ext>
            </p:extLst>
          </p:nvPr>
        </p:nvGraphicFramePr>
        <p:xfrm>
          <a:off x="2262529" y="2300929"/>
          <a:ext cx="2193724" cy="1900685"/>
        </p:xfrm>
        <a:graphic>
          <a:graphicData uri="http://schemas.openxmlformats.org/drawingml/2006/table">
            <a:tbl>
              <a:tblPr>
                <a:tableStyleId>{5C22544A-7EE6-4342-B048-85BDC9FD1C3A}</a:tableStyleId>
              </a:tblPr>
              <a:tblGrid>
                <a:gridCol w="1482246">
                  <a:extLst>
                    <a:ext uri="{9D8B030D-6E8A-4147-A177-3AD203B41FA5}">
                      <a16:colId xmlns:a16="http://schemas.microsoft.com/office/drawing/2014/main" val="684835045"/>
                    </a:ext>
                  </a:extLst>
                </a:gridCol>
                <a:gridCol w="711478">
                  <a:extLst>
                    <a:ext uri="{9D8B030D-6E8A-4147-A177-3AD203B41FA5}">
                      <a16:colId xmlns:a16="http://schemas.microsoft.com/office/drawing/2014/main" val="1689339454"/>
                    </a:ext>
                  </a:extLst>
                </a:gridCol>
              </a:tblGrid>
              <a:tr h="388776">
                <a:tc>
                  <a:txBody>
                    <a:bodyPr/>
                    <a:lstStyle/>
                    <a:p>
                      <a:pPr algn="ctr" fontAlgn="b"/>
                      <a:r>
                        <a:rPr lang="en-US" sz="1100" u="none" strike="noStrike">
                          <a:effectLst/>
                        </a:rPr>
                        <a:t>Bin</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Frequency</a:t>
                      </a:r>
                      <a:endParaRPr lang="en-US" sz="1100" b="0" i="1"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80049074"/>
                  </a:ext>
                </a:extLst>
              </a:tr>
              <a:tr h="215987">
                <a:tc>
                  <a:txBody>
                    <a:bodyPr/>
                    <a:lstStyle/>
                    <a:p>
                      <a:pPr algn="l" fontAlgn="b"/>
                      <a:r>
                        <a:rPr lang="en-US" sz="1100" u="none" strike="noStrike">
                          <a:effectLst/>
                        </a:rPr>
                        <a:t>(4-9)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02742322"/>
                  </a:ext>
                </a:extLst>
              </a:tr>
              <a:tr h="215987">
                <a:tc>
                  <a:txBody>
                    <a:bodyPr/>
                    <a:lstStyle/>
                    <a:p>
                      <a:pPr algn="l" fontAlgn="b"/>
                      <a:r>
                        <a:rPr lang="en-US" sz="1100" u="none" strike="noStrike">
                          <a:effectLst/>
                        </a:rPr>
                        <a:t>(10-15)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81475132"/>
                  </a:ext>
                </a:extLst>
              </a:tr>
              <a:tr h="215987">
                <a:tc>
                  <a:txBody>
                    <a:bodyPr/>
                    <a:lstStyle/>
                    <a:p>
                      <a:pPr algn="l" fontAlgn="b"/>
                      <a:r>
                        <a:rPr lang="en-US" sz="1100" u="none" strike="noStrike">
                          <a:effectLst/>
                        </a:rPr>
                        <a:t>(16-21)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8368355"/>
                  </a:ext>
                </a:extLst>
              </a:tr>
              <a:tr h="215987">
                <a:tc>
                  <a:txBody>
                    <a:bodyPr/>
                    <a:lstStyle/>
                    <a:p>
                      <a:pPr algn="l" fontAlgn="b"/>
                      <a:r>
                        <a:rPr lang="en-US" sz="1100" u="none" strike="noStrike">
                          <a:effectLst/>
                        </a:rPr>
                        <a:t>(22-27)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05098836"/>
                  </a:ext>
                </a:extLst>
              </a:tr>
              <a:tr h="215987">
                <a:tc>
                  <a:txBody>
                    <a:bodyPr/>
                    <a:lstStyle/>
                    <a:p>
                      <a:pPr algn="l" fontAlgn="b"/>
                      <a:r>
                        <a:rPr lang="en-US" sz="1100" u="none" strike="noStrike">
                          <a:effectLst/>
                        </a:rPr>
                        <a:t>(28-32)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65204358"/>
                  </a:ext>
                </a:extLst>
              </a:tr>
              <a:tr h="215987">
                <a:tc>
                  <a:txBody>
                    <a:bodyPr/>
                    <a:lstStyle/>
                    <a:p>
                      <a:pPr algn="l" fontAlgn="b"/>
                      <a:r>
                        <a:rPr lang="en-US" sz="1100" u="none" strike="noStrike">
                          <a:effectLst/>
                        </a:rPr>
                        <a:t>(32-37)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80653361"/>
                  </a:ext>
                </a:extLst>
              </a:tr>
              <a:tr h="215987">
                <a:tc>
                  <a:txBody>
                    <a:bodyPr/>
                    <a:lstStyle/>
                    <a:p>
                      <a:pPr algn="l" fontAlgn="b"/>
                      <a:r>
                        <a:rPr lang="en-US" sz="1100" u="none" strike="noStrike">
                          <a:effectLst/>
                        </a:rPr>
                        <a:t>More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4130325"/>
                  </a:ext>
                </a:extLst>
              </a:tr>
            </a:tbl>
          </a:graphicData>
        </a:graphic>
      </p:graphicFrame>
      <p:sp>
        <p:nvSpPr>
          <p:cNvPr id="11" name="TextBox 10">
            <a:extLst>
              <a:ext uri="{FF2B5EF4-FFF2-40B4-BE49-F238E27FC236}">
                <a16:creationId xmlns:a16="http://schemas.microsoft.com/office/drawing/2014/main" id="{71FCC0A0-46E9-6F36-8025-0A091A5954F8}"/>
              </a:ext>
            </a:extLst>
          </p:cNvPr>
          <p:cNvSpPr txBox="1"/>
          <p:nvPr/>
        </p:nvSpPr>
        <p:spPr>
          <a:xfrm>
            <a:off x="-53822" y="4501009"/>
            <a:ext cx="7056602" cy="1477328"/>
          </a:xfrm>
          <a:prstGeom prst="rect">
            <a:avLst/>
          </a:prstGeom>
          <a:noFill/>
        </p:spPr>
        <p:txBody>
          <a:bodyPr wrap="square" rtlCol="0">
            <a:spAutoFit/>
          </a:bodyPr>
          <a:lstStyle/>
          <a:p>
            <a:r>
              <a:rPr lang="en-US" dirty="0"/>
              <a:t>STURGE’S RULE:1+3.3*log(N)</a:t>
            </a:r>
          </a:p>
          <a:p>
            <a:r>
              <a:rPr lang="en-US" dirty="0"/>
              <a:t>N=30</a:t>
            </a:r>
          </a:p>
          <a:p>
            <a:r>
              <a:rPr lang="en-US" dirty="0"/>
              <a:t>STURGE’S RULE=6</a:t>
            </a:r>
          </a:p>
          <a:p>
            <a:r>
              <a:rPr lang="en-US" sz="1800" b="0" i="0" u="none" strike="noStrike" dirty="0">
                <a:solidFill>
                  <a:srgbClr val="000000"/>
                </a:solidFill>
                <a:effectLst/>
                <a:latin typeface="Calibri" panose="020F0502020204030204" pitchFamily="34" charset="0"/>
              </a:rPr>
              <a:t>Range( R )=33</a:t>
            </a:r>
            <a:r>
              <a:rPr lang="en-US" dirty="0"/>
              <a:t> (</a:t>
            </a:r>
            <a:r>
              <a:rPr lang="en-US" dirty="0" err="1"/>
              <a:t>xmax</a:t>
            </a:r>
            <a:r>
              <a:rPr lang="en-US" dirty="0"/>
              <a:t>-</a:t>
            </a:r>
            <a:r>
              <a:rPr lang="en-US" dirty="0" err="1"/>
              <a:t>xmin,largest</a:t>
            </a:r>
            <a:r>
              <a:rPr lang="en-US" dirty="0"/>
              <a:t>-lowest value)</a:t>
            </a:r>
          </a:p>
          <a:p>
            <a:r>
              <a:rPr lang="en-US" dirty="0"/>
              <a:t>K=R/N=5.5-&gt;size</a:t>
            </a:r>
          </a:p>
        </p:txBody>
      </p:sp>
      <p:graphicFrame>
        <p:nvGraphicFramePr>
          <p:cNvPr id="12" name="Chart 11">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623334534"/>
              </p:ext>
            </p:extLst>
          </p:nvPr>
        </p:nvGraphicFramePr>
        <p:xfrm>
          <a:off x="4577443" y="2322630"/>
          <a:ext cx="4027714" cy="18902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52923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26020" y="-590308"/>
            <a:ext cx="5769980" cy="2730004"/>
          </a:xfrm>
        </p:spPr>
        <p:txBody>
          <a:bodyPr/>
          <a:lstStyle/>
          <a:p>
            <a:pPr algn="l"/>
            <a:r>
              <a:rPr lang="en-US" sz="2800" b="0" i="0" u="none" strike="noStrike" baseline="0" dirty="0">
                <a:solidFill>
                  <a:schemeClr val="accent3">
                    <a:lumMod val="50000"/>
                  </a:schemeClr>
                </a:solidFill>
                <a:latin typeface="Century Gothic" panose="020B0502020202020204" pitchFamily="34" charset="0"/>
              </a:rPr>
              <a:t/>
            </a:r>
            <a:br>
              <a:rPr lang="en-US" sz="2800" b="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 </a:t>
            </a:r>
            <a:br>
              <a:rPr lang="en-US" sz="280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3. Group the statistical units into classes; plot the histograms, based on your classification. </a:t>
            </a:r>
          </a:p>
        </p:txBody>
      </p:sp>
      <p:graphicFrame>
        <p:nvGraphicFramePr>
          <p:cNvPr id="4" name="Chart 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504644451"/>
              </p:ext>
            </p:extLst>
          </p:nvPr>
        </p:nvGraphicFramePr>
        <p:xfrm>
          <a:off x="4558552" y="1446276"/>
          <a:ext cx="3654015" cy="20461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B2AA0C5D-0708-E274-E2EA-A7202B35681D}"/>
              </a:ext>
            </a:extLst>
          </p:cNvPr>
          <p:cNvGraphicFramePr>
            <a:graphicFrameLocks noGrp="1"/>
          </p:cNvGraphicFramePr>
          <p:nvPr>
            <p:extLst>
              <p:ext uri="{D42A27DB-BD31-4B8C-83A1-F6EECF244321}">
                <p14:modId xmlns:p14="http://schemas.microsoft.com/office/powerpoint/2010/main" val="723632923"/>
              </p:ext>
            </p:extLst>
          </p:nvPr>
        </p:nvGraphicFramePr>
        <p:xfrm>
          <a:off x="68580" y="2040954"/>
          <a:ext cx="4030980" cy="1661160"/>
        </p:xfrm>
        <a:graphic>
          <a:graphicData uri="http://schemas.openxmlformats.org/drawingml/2006/table">
            <a:tbl>
              <a:tblPr>
                <a:tableStyleId>{5C22544A-7EE6-4342-B048-85BDC9FD1C3A}</a:tableStyleId>
              </a:tblPr>
              <a:tblGrid>
                <a:gridCol w="2015490">
                  <a:extLst>
                    <a:ext uri="{9D8B030D-6E8A-4147-A177-3AD203B41FA5}">
                      <a16:colId xmlns:a16="http://schemas.microsoft.com/office/drawing/2014/main" val="4009995973"/>
                    </a:ext>
                  </a:extLst>
                </a:gridCol>
                <a:gridCol w="2015490">
                  <a:extLst>
                    <a:ext uri="{9D8B030D-6E8A-4147-A177-3AD203B41FA5}">
                      <a16:colId xmlns:a16="http://schemas.microsoft.com/office/drawing/2014/main" val="2765378191"/>
                    </a:ext>
                  </a:extLst>
                </a:gridCol>
              </a:tblGrid>
              <a:tr h="518160">
                <a:tc>
                  <a:txBody>
                    <a:bodyPr/>
                    <a:lstStyle/>
                    <a:p>
                      <a:pPr algn="l" fontAlgn="b"/>
                      <a:r>
                        <a:rPr lang="en-US" sz="1100" u="none" strike="noStrike" dirty="0">
                          <a:effectLst/>
                        </a:rPr>
                        <a:t>Bin(upper limit)</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bin labels</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6364193"/>
                  </a:ext>
                </a:extLst>
              </a:tr>
              <a:tr h="190500">
                <a:tc>
                  <a:txBody>
                    <a:bodyPr/>
                    <a:lstStyle/>
                    <a:p>
                      <a:pPr algn="r" fontAlgn="b"/>
                      <a:r>
                        <a:rPr lang="en-US" sz="1100" u="none" strike="noStrike">
                          <a:effectLst/>
                        </a:rPr>
                        <a:t>436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(313-436)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68201895"/>
                  </a:ext>
                </a:extLst>
              </a:tr>
              <a:tr h="190500">
                <a:tc>
                  <a:txBody>
                    <a:bodyPr/>
                    <a:lstStyle/>
                    <a:p>
                      <a:pPr algn="r" fontAlgn="b"/>
                      <a:r>
                        <a:rPr lang="en-US" sz="1100" u="none" strike="noStrike">
                          <a:effectLst/>
                        </a:rPr>
                        <a:t>543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(456-543)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9779158"/>
                  </a:ext>
                </a:extLst>
              </a:tr>
              <a:tr h="190500">
                <a:tc>
                  <a:txBody>
                    <a:bodyPr/>
                    <a:lstStyle/>
                    <a:p>
                      <a:pPr algn="r" fontAlgn="b"/>
                      <a:r>
                        <a:rPr lang="en-US" sz="1100" u="none" strike="noStrike">
                          <a:effectLst/>
                        </a:rPr>
                        <a:t>630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(565-630)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87927577"/>
                  </a:ext>
                </a:extLst>
              </a:tr>
              <a:tr h="190500">
                <a:tc>
                  <a:txBody>
                    <a:bodyPr/>
                    <a:lstStyle/>
                    <a:p>
                      <a:pPr algn="r" fontAlgn="b"/>
                      <a:r>
                        <a:rPr lang="en-US" sz="1100" u="none" strike="noStrike">
                          <a:effectLst/>
                        </a:rPr>
                        <a:t>984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(672-984)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86541976"/>
                  </a:ext>
                </a:extLst>
              </a:tr>
              <a:tr h="190500">
                <a:tc>
                  <a:txBody>
                    <a:bodyPr/>
                    <a:lstStyle/>
                    <a:p>
                      <a:pPr algn="r" fontAlgn="b"/>
                      <a:r>
                        <a:rPr lang="en-US" sz="1100" u="none" strike="noStrike">
                          <a:effectLst/>
                        </a:rPr>
                        <a:t>1561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(1065-1561)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573449"/>
                  </a:ext>
                </a:extLst>
              </a:tr>
              <a:tr h="190500">
                <a:tc>
                  <a:txBody>
                    <a:bodyPr/>
                    <a:lstStyle/>
                    <a:p>
                      <a:pPr algn="r" fontAlgn="b"/>
                      <a:r>
                        <a:rPr lang="en-US" sz="1100" u="none" strike="noStrike">
                          <a:effectLst/>
                        </a:rPr>
                        <a:t>5294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(2035-5294)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23708875"/>
                  </a:ext>
                </a:extLst>
              </a:tr>
            </a:tbl>
          </a:graphicData>
        </a:graphic>
      </p:graphicFrame>
      <p:sp>
        <p:nvSpPr>
          <p:cNvPr id="7" name="TextBox 6">
            <a:extLst>
              <a:ext uri="{FF2B5EF4-FFF2-40B4-BE49-F238E27FC236}">
                <a16:creationId xmlns:a16="http://schemas.microsoft.com/office/drawing/2014/main" id="{23C2DE53-6D41-E34F-F4BA-CDD725B5E619}"/>
              </a:ext>
            </a:extLst>
          </p:cNvPr>
          <p:cNvSpPr txBox="1"/>
          <p:nvPr/>
        </p:nvSpPr>
        <p:spPr>
          <a:xfrm>
            <a:off x="0" y="4059674"/>
            <a:ext cx="6096000"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Range=</a:t>
            </a:r>
            <a:r>
              <a:rPr lang="en-US" dirty="0"/>
              <a:t> </a:t>
            </a:r>
            <a:r>
              <a:rPr lang="en-US" sz="1800" b="0" i="0" u="none" strike="noStrike" dirty="0">
                <a:solidFill>
                  <a:srgbClr val="000000"/>
                </a:solidFill>
                <a:effectLst/>
                <a:latin typeface="Calibri" panose="020F0502020204030204" pitchFamily="34" charset="0"/>
              </a:rPr>
              <a:t>4981</a:t>
            </a:r>
            <a:r>
              <a:rPr lang="en-US" dirty="0"/>
              <a:t> </a:t>
            </a:r>
          </a:p>
        </p:txBody>
      </p:sp>
      <p:sp>
        <p:nvSpPr>
          <p:cNvPr id="9" name="TextBox 8">
            <a:extLst>
              <a:ext uri="{FF2B5EF4-FFF2-40B4-BE49-F238E27FC236}">
                <a16:creationId xmlns:a16="http://schemas.microsoft.com/office/drawing/2014/main" id="{F8DBEAF6-D2E2-5A59-EE7A-7078D1B7B2B7}"/>
              </a:ext>
            </a:extLst>
          </p:cNvPr>
          <p:cNvSpPr txBox="1"/>
          <p:nvPr/>
        </p:nvSpPr>
        <p:spPr>
          <a:xfrm>
            <a:off x="0" y="4601900"/>
            <a:ext cx="6118860"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K=</a:t>
            </a:r>
            <a:r>
              <a:rPr lang="en-US" dirty="0"/>
              <a:t> </a:t>
            </a:r>
            <a:r>
              <a:rPr lang="en-US" sz="1800" b="0" i="0" u="none" strike="noStrike" dirty="0">
                <a:solidFill>
                  <a:srgbClr val="000000"/>
                </a:solidFill>
                <a:effectLst/>
                <a:latin typeface="Calibri" panose="020F0502020204030204" pitchFamily="34" charset="0"/>
              </a:rPr>
              <a:t>1.1</a:t>
            </a:r>
            <a:r>
              <a:rPr lang="en-US" dirty="0"/>
              <a:t> </a:t>
            </a:r>
          </a:p>
        </p:txBody>
      </p:sp>
    </p:spTree>
    <p:extLst>
      <p:ext uri="{BB962C8B-B14F-4D97-AF65-F5344CB8AC3E}">
        <p14:creationId xmlns:p14="http://schemas.microsoft.com/office/powerpoint/2010/main" val="1785205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26020" y="-590308"/>
            <a:ext cx="5769980" cy="2730004"/>
          </a:xfrm>
        </p:spPr>
        <p:txBody>
          <a:bodyPr/>
          <a:lstStyle/>
          <a:p>
            <a:pPr algn="l"/>
            <a:r>
              <a:rPr lang="en-US" sz="2800" b="0" i="0" u="none" strike="noStrike" baseline="0" dirty="0">
                <a:solidFill>
                  <a:schemeClr val="accent3">
                    <a:lumMod val="50000"/>
                  </a:schemeClr>
                </a:solidFill>
                <a:latin typeface="Century Gothic" panose="020B0502020202020204" pitchFamily="34" charset="0"/>
              </a:rPr>
              <a:t/>
            </a:r>
            <a:br>
              <a:rPr lang="en-US" sz="2800" b="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 </a:t>
            </a:r>
            <a:br>
              <a:rPr lang="en-US" sz="280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3. Group the statistical units into classes; plot the histograms, based on your classification. </a:t>
            </a:r>
          </a:p>
        </p:txBody>
      </p:sp>
      <p:graphicFrame>
        <p:nvGraphicFramePr>
          <p:cNvPr id="5" name="Chart 4">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3801005063"/>
              </p:ext>
            </p:extLst>
          </p:nvPr>
        </p:nvGraphicFramePr>
        <p:xfrm>
          <a:off x="3703320" y="1629608"/>
          <a:ext cx="4785360" cy="27300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a:extLst>
              <a:ext uri="{FF2B5EF4-FFF2-40B4-BE49-F238E27FC236}">
                <a16:creationId xmlns:a16="http://schemas.microsoft.com/office/drawing/2014/main" id="{900C2DC3-3F0E-35CF-D133-A892BFBC7C47}"/>
              </a:ext>
            </a:extLst>
          </p:cNvPr>
          <p:cNvGraphicFramePr>
            <a:graphicFrameLocks noGrp="1"/>
          </p:cNvGraphicFramePr>
          <p:nvPr>
            <p:extLst>
              <p:ext uri="{D42A27DB-BD31-4B8C-83A1-F6EECF244321}">
                <p14:modId xmlns:p14="http://schemas.microsoft.com/office/powerpoint/2010/main" val="2104122253"/>
              </p:ext>
            </p:extLst>
          </p:nvPr>
        </p:nvGraphicFramePr>
        <p:xfrm>
          <a:off x="326020" y="2107692"/>
          <a:ext cx="1219200" cy="149352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684866319"/>
                    </a:ext>
                  </a:extLst>
                </a:gridCol>
                <a:gridCol w="609600">
                  <a:extLst>
                    <a:ext uri="{9D8B030D-6E8A-4147-A177-3AD203B41FA5}">
                      <a16:colId xmlns:a16="http://schemas.microsoft.com/office/drawing/2014/main" val="31696429"/>
                    </a:ext>
                  </a:extLst>
                </a:gridCol>
              </a:tblGrid>
              <a:tr h="350520">
                <a:tc>
                  <a:txBody>
                    <a:bodyPr/>
                    <a:lstStyle/>
                    <a:p>
                      <a:pPr algn="l" fontAlgn="b"/>
                      <a:r>
                        <a:rPr lang="en-US" sz="1100" u="none" strike="noStrike">
                          <a:effectLst/>
                        </a:rPr>
                        <a:t>bin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bins label</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94410530"/>
                  </a:ext>
                </a:extLst>
              </a:tr>
              <a:tr h="190500">
                <a:tc>
                  <a:txBody>
                    <a:bodyPr/>
                    <a:lstStyle/>
                    <a:p>
                      <a:pPr algn="r" fontAlgn="b"/>
                      <a:r>
                        <a:rPr lang="en-US" sz="1100" u="none" strike="noStrike">
                          <a:effectLst/>
                        </a:rPr>
                        <a:t>108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(80-108)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8848293"/>
                  </a:ext>
                </a:extLst>
              </a:tr>
              <a:tr h="190500">
                <a:tc>
                  <a:txBody>
                    <a:bodyPr/>
                    <a:lstStyle/>
                    <a:p>
                      <a:pPr algn="r" fontAlgn="b"/>
                      <a:r>
                        <a:rPr lang="en-US" sz="1100" u="none" strike="noStrike">
                          <a:effectLst/>
                        </a:rPr>
                        <a:t>141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(133-141)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40260909"/>
                  </a:ext>
                </a:extLst>
              </a:tr>
              <a:tr h="190500">
                <a:tc>
                  <a:txBody>
                    <a:bodyPr/>
                    <a:lstStyle/>
                    <a:p>
                      <a:pPr algn="r" fontAlgn="b"/>
                      <a:r>
                        <a:rPr lang="en-US" sz="1100" u="none" strike="noStrike">
                          <a:effectLst/>
                        </a:rPr>
                        <a:t>174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(153-174)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95813826"/>
                  </a:ext>
                </a:extLst>
              </a:tr>
              <a:tr h="190500">
                <a:tc>
                  <a:txBody>
                    <a:bodyPr/>
                    <a:lstStyle/>
                    <a:p>
                      <a:pPr algn="r" fontAlgn="b"/>
                      <a:r>
                        <a:rPr lang="en-US" sz="1100" u="none" strike="noStrike">
                          <a:effectLst/>
                        </a:rPr>
                        <a:t>250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(193-250)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52731115"/>
                  </a:ext>
                </a:extLst>
              </a:tr>
              <a:tr h="190500">
                <a:tc>
                  <a:txBody>
                    <a:bodyPr/>
                    <a:lstStyle/>
                    <a:p>
                      <a:pPr algn="r" fontAlgn="b"/>
                      <a:r>
                        <a:rPr lang="en-US" sz="1100" u="none" strike="noStrike">
                          <a:effectLst/>
                        </a:rPr>
                        <a:t>362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(256-362)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29155724"/>
                  </a:ext>
                </a:extLst>
              </a:tr>
              <a:tr h="190500">
                <a:tc>
                  <a:txBody>
                    <a:bodyPr/>
                    <a:lstStyle/>
                    <a:p>
                      <a:pPr algn="r" fontAlgn="b"/>
                      <a:r>
                        <a:rPr lang="en-US" sz="1100" u="none" strike="noStrike">
                          <a:effectLst/>
                        </a:rPr>
                        <a:t>542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(387-542)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59055150"/>
                  </a:ext>
                </a:extLst>
              </a:tr>
            </a:tbl>
          </a:graphicData>
        </a:graphic>
      </p:graphicFrame>
      <p:sp>
        <p:nvSpPr>
          <p:cNvPr id="10" name="TextBox 9">
            <a:extLst>
              <a:ext uri="{FF2B5EF4-FFF2-40B4-BE49-F238E27FC236}">
                <a16:creationId xmlns:a16="http://schemas.microsoft.com/office/drawing/2014/main" id="{7980AA94-5520-7687-DAD2-80163C857A0B}"/>
              </a:ext>
            </a:extLst>
          </p:cNvPr>
          <p:cNvSpPr txBox="1"/>
          <p:nvPr/>
        </p:nvSpPr>
        <p:spPr>
          <a:xfrm>
            <a:off x="326020" y="3990280"/>
            <a:ext cx="6096000"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Range=462</a:t>
            </a:r>
            <a:r>
              <a:rPr lang="en-US" dirty="0"/>
              <a:t> </a:t>
            </a:r>
          </a:p>
        </p:txBody>
      </p:sp>
      <p:sp>
        <p:nvSpPr>
          <p:cNvPr id="11" name="TextBox 10">
            <a:extLst>
              <a:ext uri="{FF2B5EF4-FFF2-40B4-BE49-F238E27FC236}">
                <a16:creationId xmlns:a16="http://schemas.microsoft.com/office/drawing/2014/main" id="{681DF521-AD97-4C7D-3E13-8E6145B7BAB9}"/>
              </a:ext>
            </a:extLst>
          </p:cNvPr>
          <p:cNvSpPr txBox="1"/>
          <p:nvPr/>
        </p:nvSpPr>
        <p:spPr>
          <a:xfrm>
            <a:off x="326020" y="4393168"/>
            <a:ext cx="1767840" cy="369332"/>
          </a:xfrm>
          <a:prstGeom prst="rect">
            <a:avLst/>
          </a:prstGeom>
          <a:noFill/>
        </p:spPr>
        <p:txBody>
          <a:bodyPr wrap="square" rtlCol="0">
            <a:spAutoFit/>
          </a:bodyPr>
          <a:lstStyle/>
          <a:p>
            <a:r>
              <a:rPr lang="en-US" dirty="0"/>
              <a:t>K=15.4</a:t>
            </a:r>
          </a:p>
        </p:txBody>
      </p:sp>
    </p:spTree>
    <p:extLst>
      <p:ext uri="{BB962C8B-B14F-4D97-AF65-F5344CB8AC3E}">
        <p14:creationId xmlns:p14="http://schemas.microsoft.com/office/powerpoint/2010/main" val="1610472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26020" y="-590308"/>
            <a:ext cx="5769980" cy="2730004"/>
          </a:xfrm>
        </p:spPr>
        <p:txBody>
          <a:bodyPr/>
          <a:lstStyle/>
          <a:p>
            <a:pPr algn="l"/>
            <a:r>
              <a:rPr lang="en-US" sz="2800" b="0" i="0" u="none" strike="noStrike" baseline="0" dirty="0">
                <a:solidFill>
                  <a:schemeClr val="accent3">
                    <a:lumMod val="50000"/>
                  </a:schemeClr>
                </a:solidFill>
                <a:latin typeface="Century Gothic" panose="020B0502020202020204" pitchFamily="34" charset="0"/>
              </a:rPr>
              <a:t/>
            </a:r>
            <a:br>
              <a:rPr lang="en-US" sz="2800" b="0" i="0" u="none" strike="noStrike" baseline="0" dirty="0">
                <a:solidFill>
                  <a:schemeClr val="accent3">
                    <a:lumMod val="50000"/>
                  </a:schemeClr>
                </a:solidFill>
                <a:latin typeface="Century Gothic" panose="020B0502020202020204" pitchFamily="34" charset="0"/>
              </a:rPr>
            </a:br>
            <a:r>
              <a:rPr lang="en-US" sz="2800" b="0" i="0" u="none" strike="noStrike" baseline="0" dirty="0">
                <a:solidFill>
                  <a:schemeClr val="accent3">
                    <a:lumMod val="50000"/>
                  </a:schemeClr>
                </a:solidFill>
                <a:latin typeface="Century Gothic" panose="020B0502020202020204" pitchFamily="34" charset="0"/>
              </a:rPr>
              <a:t> </a:t>
            </a:r>
            <a:br>
              <a:rPr lang="en-US" sz="2800" b="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3. Group the statistical units into classes; plot the histograms, based on your classification. </a:t>
            </a:r>
          </a:p>
        </p:txBody>
      </p:sp>
      <p:graphicFrame>
        <p:nvGraphicFramePr>
          <p:cNvPr id="4" name="Chart 3">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2518264132"/>
              </p:ext>
            </p:extLst>
          </p:nvPr>
        </p:nvGraphicFramePr>
        <p:xfrm>
          <a:off x="3518262" y="1732767"/>
          <a:ext cx="5310052" cy="33228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B71A255B-6010-8948-B779-D90C6A15AE35}"/>
              </a:ext>
            </a:extLst>
          </p:cNvPr>
          <p:cNvGraphicFramePr>
            <a:graphicFrameLocks noGrp="1"/>
          </p:cNvGraphicFramePr>
          <p:nvPr>
            <p:extLst>
              <p:ext uri="{D42A27DB-BD31-4B8C-83A1-F6EECF244321}">
                <p14:modId xmlns:p14="http://schemas.microsoft.com/office/powerpoint/2010/main" val="3384654895"/>
              </p:ext>
            </p:extLst>
          </p:nvPr>
        </p:nvGraphicFramePr>
        <p:xfrm>
          <a:off x="830580" y="2195104"/>
          <a:ext cx="1828800" cy="16611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227708501"/>
                    </a:ext>
                  </a:extLst>
                </a:gridCol>
                <a:gridCol w="609600">
                  <a:extLst>
                    <a:ext uri="{9D8B030D-6E8A-4147-A177-3AD203B41FA5}">
                      <a16:colId xmlns:a16="http://schemas.microsoft.com/office/drawing/2014/main" val="3162351083"/>
                    </a:ext>
                  </a:extLst>
                </a:gridCol>
                <a:gridCol w="609600">
                  <a:extLst>
                    <a:ext uri="{9D8B030D-6E8A-4147-A177-3AD203B41FA5}">
                      <a16:colId xmlns:a16="http://schemas.microsoft.com/office/drawing/2014/main" val="2502642340"/>
                    </a:ext>
                  </a:extLst>
                </a:gridCol>
              </a:tblGrid>
              <a:tr h="518160">
                <a:tc>
                  <a:txBody>
                    <a:bodyPr/>
                    <a:lstStyle/>
                    <a:p>
                      <a:pPr algn="l" fontAlgn="b"/>
                      <a:r>
                        <a:rPr lang="en-US" sz="1100" u="none" strike="noStrike">
                          <a:effectLst/>
                        </a:rPr>
                        <a:t>bin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bin labels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57878093"/>
                  </a:ext>
                </a:extLst>
              </a:tr>
              <a:tr h="190500">
                <a:tc>
                  <a:txBody>
                    <a:bodyPr/>
                    <a:lstStyle/>
                    <a:p>
                      <a:pPr algn="r" fontAlgn="b"/>
                      <a:r>
                        <a:rPr lang="en-US" sz="1100" u="none" strike="noStrike">
                          <a:effectLst/>
                        </a:rPr>
                        <a:t>1303</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a:effectLst/>
                        </a:rPr>
                        <a:t>(831-1303)</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976356891"/>
                  </a:ext>
                </a:extLst>
              </a:tr>
              <a:tr h="190500">
                <a:tc>
                  <a:txBody>
                    <a:bodyPr/>
                    <a:lstStyle/>
                    <a:p>
                      <a:pPr algn="r" fontAlgn="b"/>
                      <a:r>
                        <a:rPr lang="en-US" sz="1100" u="none" strike="noStrike">
                          <a:effectLst/>
                        </a:rPr>
                        <a:t>1913</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a:effectLst/>
                        </a:rPr>
                        <a:t>(1327-1913)</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2433553031"/>
                  </a:ext>
                </a:extLst>
              </a:tr>
              <a:tr h="190500">
                <a:tc>
                  <a:txBody>
                    <a:bodyPr/>
                    <a:lstStyle/>
                    <a:p>
                      <a:pPr algn="r" fontAlgn="b"/>
                      <a:r>
                        <a:rPr lang="en-US" sz="1100" u="none" strike="noStrike">
                          <a:effectLst/>
                        </a:rPr>
                        <a:t>2191</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a:effectLst/>
                        </a:rPr>
                        <a:t>(1951-2191)</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1672968570"/>
                  </a:ext>
                </a:extLst>
              </a:tr>
              <a:tr h="190500">
                <a:tc>
                  <a:txBody>
                    <a:bodyPr/>
                    <a:lstStyle/>
                    <a:p>
                      <a:pPr algn="r" fontAlgn="b"/>
                      <a:r>
                        <a:rPr lang="en-US" sz="1100" u="none" strike="noStrike">
                          <a:effectLst/>
                        </a:rPr>
                        <a:t>2920</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a:effectLst/>
                        </a:rPr>
                        <a:t>(2340-2920)</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2387782974"/>
                  </a:ext>
                </a:extLst>
              </a:tr>
              <a:tr h="190500">
                <a:tc>
                  <a:txBody>
                    <a:bodyPr/>
                    <a:lstStyle/>
                    <a:p>
                      <a:pPr algn="r" fontAlgn="b"/>
                      <a:r>
                        <a:rPr lang="en-US" sz="1100" u="none" strike="noStrike">
                          <a:effectLst/>
                        </a:rPr>
                        <a:t>3877</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a:effectLst/>
                        </a:rPr>
                        <a:t>(2965-3877)</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3286676723"/>
                  </a:ext>
                </a:extLst>
              </a:tr>
              <a:tr h="190500">
                <a:tc>
                  <a:txBody>
                    <a:bodyPr/>
                    <a:lstStyle/>
                    <a:p>
                      <a:pPr algn="r" fontAlgn="b"/>
                      <a:r>
                        <a:rPr lang="en-US" sz="1100" u="none" strike="noStrike">
                          <a:effectLst/>
                        </a:rPr>
                        <a:t>7575</a:t>
                      </a:r>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en-US" sz="1100" u="none" strike="noStrike" dirty="0">
                          <a:effectLst/>
                        </a:rPr>
                        <a:t>(4160-7575)</a:t>
                      </a:r>
                      <a:endParaRPr lang="en-US" sz="1100" b="0"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extLst>
                  <a:ext uri="{0D108BD9-81ED-4DB2-BD59-A6C34878D82A}">
                    <a16:rowId xmlns:a16="http://schemas.microsoft.com/office/drawing/2014/main" val="2596118995"/>
                  </a:ext>
                </a:extLst>
              </a:tr>
            </a:tbl>
          </a:graphicData>
        </a:graphic>
      </p:graphicFrame>
      <p:sp>
        <p:nvSpPr>
          <p:cNvPr id="7" name="TextBox 6">
            <a:extLst>
              <a:ext uri="{FF2B5EF4-FFF2-40B4-BE49-F238E27FC236}">
                <a16:creationId xmlns:a16="http://schemas.microsoft.com/office/drawing/2014/main" id="{B051E53A-267A-45E2-0189-8C6521356346}"/>
              </a:ext>
            </a:extLst>
          </p:cNvPr>
          <p:cNvSpPr txBox="1"/>
          <p:nvPr/>
        </p:nvSpPr>
        <p:spPr>
          <a:xfrm>
            <a:off x="374730" y="4113014"/>
            <a:ext cx="6096000"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Range=6744</a:t>
            </a:r>
            <a:r>
              <a:rPr lang="en-US" dirty="0"/>
              <a:t> </a:t>
            </a:r>
          </a:p>
        </p:txBody>
      </p:sp>
      <p:sp>
        <p:nvSpPr>
          <p:cNvPr id="8" name="TextBox 7">
            <a:extLst>
              <a:ext uri="{FF2B5EF4-FFF2-40B4-BE49-F238E27FC236}">
                <a16:creationId xmlns:a16="http://schemas.microsoft.com/office/drawing/2014/main" id="{7B4246BE-5F7F-ADE3-8067-113B6A7CB403}"/>
              </a:ext>
            </a:extLst>
          </p:cNvPr>
          <p:cNvSpPr txBox="1"/>
          <p:nvPr/>
        </p:nvSpPr>
        <p:spPr>
          <a:xfrm>
            <a:off x="556260" y="4686300"/>
            <a:ext cx="976549" cy="369332"/>
          </a:xfrm>
          <a:prstGeom prst="rect">
            <a:avLst/>
          </a:prstGeom>
          <a:noFill/>
        </p:spPr>
        <p:txBody>
          <a:bodyPr wrap="none" rtlCol="0">
            <a:spAutoFit/>
          </a:bodyPr>
          <a:lstStyle/>
          <a:p>
            <a:r>
              <a:rPr lang="en-US" dirty="0"/>
              <a:t>K=224.8</a:t>
            </a:r>
          </a:p>
        </p:txBody>
      </p:sp>
    </p:spTree>
    <p:extLst>
      <p:ext uri="{BB962C8B-B14F-4D97-AF65-F5344CB8AC3E}">
        <p14:creationId xmlns:p14="http://schemas.microsoft.com/office/powerpoint/2010/main" val="3450195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26020" y="-590308"/>
            <a:ext cx="5769980" cy="2730004"/>
          </a:xfrm>
        </p:spPr>
        <p:txBody>
          <a:bodyPr/>
          <a:lstStyle/>
          <a:p>
            <a:pPr algn="l"/>
            <a:r>
              <a:rPr lang="en-US" sz="2800" b="0" i="0" u="none" strike="noStrike" baseline="0" dirty="0">
                <a:solidFill>
                  <a:schemeClr val="accent3">
                    <a:lumMod val="50000"/>
                  </a:schemeClr>
                </a:solidFill>
                <a:latin typeface="Century Gothic" panose="020B0502020202020204" pitchFamily="34" charset="0"/>
              </a:rPr>
              <a:t/>
            </a:r>
            <a:br>
              <a:rPr lang="en-US" sz="2800" b="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 </a:t>
            </a:r>
            <a:br>
              <a:rPr lang="en-US" sz="2800" i="0" u="none" strike="noStrike" baseline="0" dirty="0">
                <a:solidFill>
                  <a:schemeClr val="accent3">
                    <a:lumMod val="50000"/>
                  </a:schemeClr>
                </a:solidFill>
                <a:latin typeface="Century Gothic" panose="020B0502020202020204" pitchFamily="34" charset="0"/>
              </a:rPr>
            </a:br>
            <a:r>
              <a:rPr lang="en-US" sz="2800" i="0" u="none" strike="noStrike" baseline="0" dirty="0">
                <a:solidFill>
                  <a:schemeClr val="accent3">
                    <a:lumMod val="50000"/>
                  </a:schemeClr>
                </a:solidFill>
                <a:latin typeface="Century Gothic" panose="020B0502020202020204" pitchFamily="34" charset="0"/>
              </a:rPr>
              <a:t>3. Group the statistical units into classes; plot the histograms, based on your classification. </a:t>
            </a:r>
          </a:p>
        </p:txBody>
      </p:sp>
      <p:graphicFrame>
        <p:nvGraphicFramePr>
          <p:cNvPr id="4" name="Chart 3">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391320266"/>
              </p:ext>
            </p:extLst>
          </p:nvPr>
        </p:nvGraphicFramePr>
        <p:xfrm>
          <a:off x="3268980" y="1718086"/>
          <a:ext cx="4868059" cy="285391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9239B023-F5C7-105F-FA1A-625A1ECE1FD2}"/>
              </a:ext>
            </a:extLst>
          </p:cNvPr>
          <p:cNvSpPr txBox="1"/>
          <p:nvPr/>
        </p:nvSpPr>
        <p:spPr>
          <a:xfrm>
            <a:off x="1" y="4846320"/>
            <a:ext cx="1097280" cy="369332"/>
          </a:xfrm>
          <a:prstGeom prst="rect">
            <a:avLst/>
          </a:prstGeom>
          <a:noFill/>
        </p:spPr>
        <p:txBody>
          <a:bodyPr wrap="square" rtlCol="0">
            <a:spAutoFit/>
          </a:bodyPr>
          <a:lstStyle/>
          <a:p>
            <a:r>
              <a:rPr lang="en-US" dirty="0"/>
              <a:t>K=281.3</a:t>
            </a:r>
          </a:p>
        </p:txBody>
      </p:sp>
      <p:sp>
        <p:nvSpPr>
          <p:cNvPr id="7" name="TextBox 6">
            <a:extLst>
              <a:ext uri="{FF2B5EF4-FFF2-40B4-BE49-F238E27FC236}">
                <a16:creationId xmlns:a16="http://schemas.microsoft.com/office/drawing/2014/main" id="{5A9B0A5D-3986-7650-DF1E-EC9DF1F82566}"/>
              </a:ext>
            </a:extLst>
          </p:cNvPr>
          <p:cNvSpPr txBox="1"/>
          <p:nvPr/>
        </p:nvSpPr>
        <p:spPr>
          <a:xfrm>
            <a:off x="0" y="4274888"/>
            <a:ext cx="6096000"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Range=8439</a:t>
            </a:r>
            <a:r>
              <a:rPr lang="en-US" dirty="0"/>
              <a:t> </a:t>
            </a:r>
          </a:p>
        </p:txBody>
      </p:sp>
      <p:graphicFrame>
        <p:nvGraphicFramePr>
          <p:cNvPr id="8" name="Table 7">
            <a:extLst>
              <a:ext uri="{FF2B5EF4-FFF2-40B4-BE49-F238E27FC236}">
                <a16:creationId xmlns:a16="http://schemas.microsoft.com/office/drawing/2014/main" id="{B30429B6-5B3C-291B-4F08-F275F84BEBA9}"/>
              </a:ext>
            </a:extLst>
          </p:cNvPr>
          <p:cNvGraphicFramePr>
            <a:graphicFrameLocks noGrp="1"/>
          </p:cNvGraphicFramePr>
          <p:nvPr>
            <p:extLst>
              <p:ext uri="{D42A27DB-BD31-4B8C-83A1-F6EECF244321}">
                <p14:modId xmlns:p14="http://schemas.microsoft.com/office/powerpoint/2010/main" val="2096350661"/>
              </p:ext>
            </p:extLst>
          </p:nvPr>
        </p:nvGraphicFramePr>
        <p:xfrm>
          <a:off x="326020" y="2026988"/>
          <a:ext cx="2676260" cy="1333500"/>
        </p:xfrm>
        <a:graphic>
          <a:graphicData uri="http://schemas.openxmlformats.org/drawingml/2006/table">
            <a:tbl>
              <a:tblPr>
                <a:tableStyleId>{5C22544A-7EE6-4342-B048-85BDC9FD1C3A}</a:tableStyleId>
              </a:tblPr>
              <a:tblGrid>
                <a:gridCol w="1724701">
                  <a:extLst>
                    <a:ext uri="{9D8B030D-6E8A-4147-A177-3AD203B41FA5}">
                      <a16:colId xmlns:a16="http://schemas.microsoft.com/office/drawing/2014/main" val="2683659755"/>
                    </a:ext>
                  </a:extLst>
                </a:gridCol>
                <a:gridCol w="951559">
                  <a:extLst>
                    <a:ext uri="{9D8B030D-6E8A-4147-A177-3AD203B41FA5}">
                      <a16:colId xmlns:a16="http://schemas.microsoft.com/office/drawing/2014/main" val="2277024523"/>
                    </a:ext>
                  </a:extLst>
                </a:gridCol>
              </a:tblGrid>
              <a:tr h="190500">
                <a:tc>
                  <a:txBody>
                    <a:bodyPr/>
                    <a:lstStyle/>
                    <a:p>
                      <a:pPr algn="l" fontAlgn="b"/>
                      <a:r>
                        <a:rPr lang="en-US" sz="1100" u="none" strike="noStrike">
                          <a:effectLst/>
                        </a:rPr>
                        <a:t>bin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bin labels</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34118486"/>
                  </a:ext>
                </a:extLst>
              </a:tr>
              <a:tr h="190500">
                <a:tc>
                  <a:txBody>
                    <a:bodyPr/>
                    <a:lstStyle/>
                    <a:p>
                      <a:pPr algn="r" fontAlgn="b"/>
                      <a:r>
                        <a:rPr lang="en-US" sz="1100" u="none" strike="noStrike">
                          <a:effectLst/>
                        </a:rPr>
                        <a:t>3924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(2766-3924)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34396439"/>
                  </a:ext>
                </a:extLst>
              </a:tr>
              <a:tr h="190500">
                <a:tc>
                  <a:txBody>
                    <a:bodyPr/>
                    <a:lstStyle/>
                    <a:p>
                      <a:pPr algn="r" fontAlgn="b"/>
                      <a:r>
                        <a:rPr lang="en-US" sz="1100" u="none" strike="noStrike">
                          <a:effectLst/>
                        </a:rPr>
                        <a:t>4646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(4087-4646)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1842357"/>
                  </a:ext>
                </a:extLst>
              </a:tr>
              <a:tr h="190500">
                <a:tc>
                  <a:txBody>
                    <a:bodyPr/>
                    <a:lstStyle/>
                    <a:p>
                      <a:pPr algn="r" fontAlgn="b"/>
                      <a:r>
                        <a:rPr lang="en-US" sz="1100" u="none" strike="noStrike">
                          <a:effectLst/>
                        </a:rPr>
                        <a:t>5729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(4836-5729)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09488164"/>
                  </a:ext>
                </a:extLst>
              </a:tr>
              <a:tr h="190500">
                <a:tc>
                  <a:txBody>
                    <a:bodyPr/>
                    <a:lstStyle/>
                    <a:p>
                      <a:pPr algn="r" fontAlgn="b"/>
                      <a:r>
                        <a:rPr lang="en-US" sz="1100" u="none" strike="noStrike">
                          <a:effectLst/>
                        </a:rPr>
                        <a:t>6981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(5995-6981)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53018019"/>
                  </a:ext>
                </a:extLst>
              </a:tr>
              <a:tr h="190500">
                <a:tc>
                  <a:txBody>
                    <a:bodyPr/>
                    <a:lstStyle/>
                    <a:p>
                      <a:pPr algn="r" fontAlgn="b"/>
                      <a:r>
                        <a:rPr lang="en-US" sz="1100" u="none" strike="noStrike">
                          <a:effectLst/>
                        </a:rPr>
                        <a:t>8193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(7195-8193)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60075478"/>
                  </a:ext>
                </a:extLst>
              </a:tr>
              <a:tr h="190500">
                <a:tc>
                  <a:txBody>
                    <a:bodyPr/>
                    <a:lstStyle/>
                    <a:p>
                      <a:pPr algn="r" fontAlgn="b"/>
                      <a:r>
                        <a:rPr lang="en-US" sz="1100" u="none" strike="noStrike">
                          <a:effectLst/>
                        </a:rPr>
                        <a:t>11195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(8697-11195)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04069968"/>
                  </a:ext>
                </a:extLst>
              </a:tr>
            </a:tbl>
          </a:graphicData>
        </a:graphic>
      </p:graphicFrame>
    </p:spTree>
    <p:extLst>
      <p:ext uri="{BB962C8B-B14F-4D97-AF65-F5344CB8AC3E}">
        <p14:creationId xmlns:p14="http://schemas.microsoft.com/office/powerpoint/2010/main" val="20013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891540"/>
            <a:ext cx="10910570" cy="1600200"/>
          </a:xfrm>
        </p:spPr>
        <p:txBody>
          <a:bodyPr/>
          <a:lstStyle/>
          <a:p>
            <a:r>
              <a:rPr lang="en-US" sz="1800" b="0" i="0" u="none" strike="noStrike" baseline="0" dirty="0">
                <a:solidFill>
                  <a:srgbClr val="000000"/>
                </a:solidFill>
                <a:latin typeface="Cambria" panose="02040503050406030204" pitchFamily="18" charset="0"/>
              </a:rPr>
              <a:t/>
            </a:r>
            <a:br>
              <a:rPr lang="en-US" sz="1800" b="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 (Hospitals)</a:t>
            </a:r>
            <a:r>
              <a:rPr lang="en-US" sz="1800" b="0" i="0" u="none" strike="noStrike" baseline="0" dirty="0">
                <a:solidFill>
                  <a:schemeClr val="accent3">
                    <a:lumMod val="50000"/>
                  </a:schemeClr>
                </a:solidFill>
                <a:latin typeface="Century Gothic" panose="020B0502020202020204" pitchFamily="34" charset="0"/>
              </a:rPr>
              <a:t/>
            </a:r>
            <a:br>
              <a:rPr lang="en-US" sz="1800" b="0" i="0" u="none" strike="noStrike" baseline="0" dirty="0">
                <a:solidFill>
                  <a:schemeClr val="accent3">
                    <a:lumMod val="50000"/>
                  </a:schemeClr>
                </a:solidFill>
                <a:latin typeface="Century Gothic" panose="020B0502020202020204" pitchFamily="34" charset="0"/>
              </a:rPr>
            </a:br>
            <a:endParaRPr lang="en-US" sz="4400" b="1"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14</a:t>
            </a:fld>
            <a:endParaRPr lang="en-US" dirty="0"/>
          </a:p>
        </p:txBody>
      </p:sp>
      <p:sp>
        <p:nvSpPr>
          <p:cNvPr id="5" name="TextBox 4">
            <a:extLst>
              <a:ext uri="{FF2B5EF4-FFF2-40B4-BE49-F238E27FC236}">
                <a16:creationId xmlns:a16="http://schemas.microsoft.com/office/drawing/2014/main" id="{5C691377-88F9-6BBB-E7BC-3F79C0BF81D1}"/>
              </a:ext>
            </a:extLst>
          </p:cNvPr>
          <p:cNvSpPr txBox="1"/>
          <p:nvPr/>
        </p:nvSpPr>
        <p:spPr>
          <a:xfrm>
            <a:off x="449580" y="2232660"/>
            <a:ext cx="11597640" cy="3970318"/>
          </a:xfrm>
          <a:prstGeom prst="rect">
            <a:avLst/>
          </a:prstGeom>
          <a:noFill/>
        </p:spPr>
        <p:txBody>
          <a:bodyPr wrap="square" rtlCol="0">
            <a:spAutoFit/>
          </a:bodyPr>
          <a:lstStyle/>
          <a:p>
            <a:r>
              <a:rPr lang="en-US" dirty="0"/>
              <a:t>*the </a:t>
            </a:r>
            <a:r>
              <a:rPr lang="en-US" b="1" dirty="0"/>
              <a:t>quadratic mean</a:t>
            </a:r>
            <a:r>
              <a:rPr lang="en-US" dirty="0"/>
              <a:t>-</a:t>
            </a:r>
            <a:r>
              <a:rPr lang="en-US" b="0" i="0" dirty="0">
                <a:solidFill>
                  <a:schemeClr val="tx1">
                    <a:lumMod val="95000"/>
                    <a:lumOff val="5000"/>
                  </a:schemeClr>
                </a:solidFill>
                <a:effectLst/>
                <a:latin typeface="Sabon Next LT (Body)"/>
              </a:rPr>
              <a:t>measures the absolute magnitude of a set of numbers</a:t>
            </a:r>
          </a:p>
          <a:p>
            <a:r>
              <a:rPr lang="en-US" b="0" i="0" dirty="0">
                <a:solidFill>
                  <a:srgbClr val="202124"/>
                </a:solidFill>
                <a:effectLst/>
                <a:latin typeface="Google Sans"/>
              </a:rPr>
              <a:t>*the </a:t>
            </a:r>
            <a:r>
              <a:rPr lang="en-US" b="1" dirty="0">
                <a:effectLst/>
                <a:latin typeface="Google Sans"/>
              </a:rPr>
              <a:t>harmonic mean </a:t>
            </a:r>
            <a:r>
              <a:rPr lang="en-US" b="0" i="0" dirty="0">
                <a:solidFill>
                  <a:srgbClr val="202124"/>
                </a:solidFill>
                <a:effectLst/>
                <a:latin typeface="Google Sans"/>
              </a:rPr>
              <a:t>-</a:t>
            </a:r>
            <a:r>
              <a:rPr lang="en-US" b="0" i="0" dirty="0">
                <a:solidFill>
                  <a:srgbClr val="040C28"/>
                </a:solidFill>
                <a:effectLst/>
                <a:latin typeface="Google Sans"/>
              </a:rPr>
              <a:t>always shows the lowest value among the Pythagorean means</a:t>
            </a:r>
            <a:r>
              <a:rPr lang="en-US" b="0" i="0" dirty="0">
                <a:solidFill>
                  <a:srgbClr val="202124"/>
                </a:solidFill>
                <a:effectLst/>
                <a:latin typeface="Google Sans"/>
              </a:rPr>
              <a:t>.</a:t>
            </a:r>
          </a:p>
          <a:p>
            <a:r>
              <a:rPr lang="en-US" b="0" i="0" dirty="0">
                <a:solidFill>
                  <a:srgbClr val="202124"/>
                </a:solidFill>
                <a:effectLst/>
                <a:latin typeface="Google Sans"/>
              </a:rPr>
              <a:t>*the </a:t>
            </a:r>
            <a:r>
              <a:rPr lang="en-US" b="1" dirty="0">
                <a:solidFill>
                  <a:srgbClr val="202124"/>
                </a:solidFill>
                <a:latin typeface="Google Sans"/>
              </a:rPr>
              <a:t>g</a:t>
            </a:r>
            <a:r>
              <a:rPr lang="en-US" b="1" i="0" dirty="0">
                <a:solidFill>
                  <a:srgbClr val="202124"/>
                </a:solidFill>
                <a:effectLst/>
                <a:latin typeface="Google Sans"/>
              </a:rPr>
              <a:t>eometric </a:t>
            </a:r>
            <a:r>
              <a:rPr lang="en-US" b="1" dirty="0">
                <a:solidFill>
                  <a:srgbClr val="202124"/>
                </a:solidFill>
                <a:latin typeface="Google Sans"/>
              </a:rPr>
              <a:t>m</a:t>
            </a:r>
            <a:r>
              <a:rPr lang="en-US" b="1" i="0" dirty="0">
                <a:solidFill>
                  <a:srgbClr val="202124"/>
                </a:solidFill>
                <a:effectLst/>
                <a:latin typeface="Google Sans"/>
              </a:rPr>
              <a:t>ean-</a:t>
            </a:r>
            <a:r>
              <a:rPr lang="en-US" b="0" i="0" dirty="0">
                <a:solidFill>
                  <a:srgbClr val="202124"/>
                </a:solidFill>
                <a:effectLst/>
                <a:latin typeface="Google Sans"/>
              </a:rPr>
              <a:t>the average value or mean which </a:t>
            </a:r>
            <a:r>
              <a:rPr lang="en-US" b="0" i="0" dirty="0">
                <a:solidFill>
                  <a:srgbClr val="040C28"/>
                </a:solidFill>
                <a:effectLst/>
                <a:latin typeface="Google Sans"/>
              </a:rPr>
              <a:t>signifies the central tendency of the set of numbers by taking the root of the product of their values</a:t>
            </a:r>
            <a:r>
              <a:rPr lang="en-US" b="0" i="0" dirty="0">
                <a:solidFill>
                  <a:srgbClr val="202124"/>
                </a:solidFill>
                <a:effectLst/>
                <a:latin typeface="Google Sans"/>
              </a:rPr>
              <a:t>.</a:t>
            </a:r>
            <a:endParaRPr lang="en-US" b="0" i="0" dirty="0">
              <a:solidFill>
                <a:schemeClr val="tx1">
                  <a:lumMod val="95000"/>
                  <a:lumOff val="5000"/>
                </a:schemeClr>
              </a:solidFill>
              <a:effectLst/>
              <a:latin typeface="Sabon Next LT (Body)"/>
            </a:endParaRPr>
          </a:p>
          <a:p>
            <a:r>
              <a:rPr lang="en-US" dirty="0"/>
              <a:t>*The </a:t>
            </a:r>
            <a:r>
              <a:rPr lang="en-US" b="1" dirty="0"/>
              <a:t>arithmetic mean </a:t>
            </a:r>
            <a:r>
              <a:rPr lang="en-US" dirty="0"/>
              <a:t>represents the average value of your dataset which in this case is </a:t>
            </a:r>
            <a:r>
              <a:rPr lang="en-US" dirty="0" err="1"/>
              <a:t>aproximately</a:t>
            </a:r>
            <a:r>
              <a:rPr lang="en-US" dirty="0"/>
              <a:t> 11,27.</a:t>
            </a:r>
          </a:p>
          <a:p>
            <a:r>
              <a:rPr lang="en-US" dirty="0"/>
              <a:t>*The </a:t>
            </a:r>
            <a:r>
              <a:rPr lang="en-US" b="1" dirty="0"/>
              <a:t>standard error </a:t>
            </a:r>
            <a:r>
              <a:rPr lang="en-US" dirty="0"/>
              <a:t>provides an estimate of how much the sample mean might differ from the true population mean and lower standard error suggests that the sample mean is a more reliable estimate of the population mean.</a:t>
            </a:r>
          </a:p>
          <a:p>
            <a:r>
              <a:rPr lang="en-US" dirty="0"/>
              <a:t>*The </a:t>
            </a:r>
            <a:r>
              <a:rPr lang="en-US" b="1" dirty="0"/>
              <a:t>median</a:t>
            </a:r>
            <a:r>
              <a:rPr lang="en-US" dirty="0"/>
              <a:t> is the middle value of your dataset. In this case, half of the observations fall below 7, and half fall above 7. It is less affected by extreme values compared to the mean. </a:t>
            </a:r>
          </a:p>
          <a:p>
            <a:r>
              <a:rPr lang="en-US" dirty="0"/>
              <a:t>*The </a:t>
            </a:r>
            <a:r>
              <a:rPr lang="en-US" b="1" dirty="0"/>
              <a:t>mode</a:t>
            </a:r>
            <a:r>
              <a:rPr lang="en-US" dirty="0"/>
              <a:t> is 4 ,because it appears most frequently.</a:t>
            </a:r>
          </a:p>
          <a:p>
            <a:r>
              <a:rPr lang="en-US" dirty="0"/>
              <a:t>*The </a:t>
            </a:r>
            <a:r>
              <a:rPr lang="en-US" b="1" dirty="0"/>
              <a:t>standard deviation </a:t>
            </a:r>
            <a:r>
              <a:rPr lang="en-US" dirty="0"/>
              <a:t>measures the dispersion or spread of our data. A higher standard deviation indicates greater variability. In this case, a standard deviation of 8.49 suggests a relatively wide spread of values. </a:t>
            </a:r>
          </a:p>
          <a:p>
            <a:r>
              <a:rPr lang="en-US" dirty="0"/>
              <a:t>*The </a:t>
            </a:r>
            <a:r>
              <a:rPr lang="en-US" b="1" dirty="0"/>
              <a:t>sample variance </a:t>
            </a:r>
            <a:r>
              <a:rPr lang="en-US" dirty="0"/>
              <a:t>is the average of the squared differences from the mean, so we have 72,06 which indicates high variability. </a:t>
            </a:r>
          </a:p>
        </p:txBody>
      </p:sp>
    </p:spTree>
    <p:extLst>
      <p:ext uri="{BB962C8B-B14F-4D97-AF65-F5344CB8AC3E}">
        <p14:creationId xmlns:p14="http://schemas.microsoft.com/office/powerpoint/2010/main" val="2886474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137160"/>
            <a:ext cx="10419588" cy="1318260"/>
          </a:xfrm>
        </p:spPr>
        <p:txBody>
          <a:bodyPr/>
          <a:lstStyle/>
          <a:p>
            <a:r>
              <a:rPr lang="en-US" sz="1800" b="0" i="0" u="none" strike="noStrike" baseline="0" dirty="0">
                <a:solidFill>
                  <a:srgbClr val="000000"/>
                </a:solidFill>
                <a:latin typeface="Cambria" panose="02040503050406030204" pitchFamily="18" charset="0"/>
              </a:rPr>
              <a:t/>
            </a:r>
            <a:br>
              <a:rPr lang="en-US" sz="1800" b="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 (hospitals)</a:t>
            </a:r>
            <a:r>
              <a:rPr lang="en-US" sz="1800" b="0" i="0" u="none" strike="noStrike" baseline="0" dirty="0">
                <a:solidFill>
                  <a:schemeClr val="accent3">
                    <a:lumMod val="50000"/>
                  </a:schemeClr>
                </a:solidFill>
                <a:latin typeface="Century Gothic" panose="020B0502020202020204" pitchFamily="34" charset="0"/>
              </a:rPr>
              <a:t/>
            </a:r>
            <a:br>
              <a:rPr lang="en-US" sz="1800" b="0" i="0" u="none" strike="noStrike" baseline="0" dirty="0">
                <a:solidFill>
                  <a:schemeClr val="accent3">
                    <a:lumMod val="50000"/>
                  </a:schemeClr>
                </a:solidFill>
                <a:latin typeface="Century Gothic" panose="020B0502020202020204" pitchFamily="34" charset="0"/>
              </a:rPr>
            </a:br>
            <a:endParaRPr lang="en-US" sz="4400" b="1"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15</a:t>
            </a:fld>
            <a:endParaRPr lang="en-US" dirty="0"/>
          </a:p>
        </p:txBody>
      </p:sp>
      <p:graphicFrame>
        <p:nvGraphicFramePr>
          <p:cNvPr id="3" name="Table 2">
            <a:extLst>
              <a:ext uri="{FF2B5EF4-FFF2-40B4-BE49-F238E27FC236}">
                <a16:creationId xmlns:a16="http://schemas.microsoft.com/office/drawing/2014/main" id="{28616260-9042-FD3F-D9EC-3CDE20114FD4}"/>
              </a:ext>
            </a:extLst>
          </p:cNvPr>
          <p:cNvGraphicFramePr>
            <a:graphicFrameLocks noGrp="1"/>
          </p:cNvGraphicFramePr>
          <p:nvPr>
            <p:extLst>
              <p:ext uri="{D42A27DB-BD31-4B8C-83A1-F6EECF244321}">
                <p14:modId xmlns:p14="http://schemas.microsoft.com/office/powerpoint/2010/main" val="2789121662"/>
              </p:ext>
            </p:extLst>
          </p:nvPr>
        </p:nvGraphicFramePr>
        <p:xfrm>
          <a:off x="4983480" y="3429000"/>
          <a:ext cx="2788920" cy="3008216"/>
        </p:xfrm>
        <a:graphic>
          <a:graphicData uri="http://schemas.openxmlformats.org/drawingml/2006/table">
            <a:tbl>
              <a:tblPr>
                <a:tableStyleId>{5C22544A-7EE6-4342-B048-85BDC9FD1C3A}</a:tableStyleId>
              </a:tblPr>
              <a:tblGrid>
                <a:gridCol w="1884408">
                  <a:extLst>
                    <a:ext uri="{9D8B030D-6E8A-4147-A177-3AD203B41FA5}">
                      <a16:colId xmlns:a16="http://schemas.microsoft.com/office/drawing/2014/main" val="1467309220"/>
                    </a:ext>
                  </a:extLst>
                </a:gridCol>
                <a:gridCol w="904512">
                  <a:extLst>
                    <a:ext uri="{9D8B030D-6E8A-4147-A177-3AD203B41FA5}">
                      <a16:colId xmlns:a16="http://schemas.microsoft.com/office/drawing/2014/main" val="3286307338"/>
                    </a:ext>
                  </a:extLst>
                </a:gridCol>
              </a:tblGrid>
              <a:tr h="229448">
                <a:tc>
                  <a:txBody>
                    <a:bodyPr/>
                    <a:lstStyle/>
                    <a:p>
                      <a:pPr algn="ctr" fontAlgn="b"/>
                      <a:r>
                        <a:rPr lang="en-US" sz="1100" u="none" strike="noStrike" dirty="0">
                          <a:effectLst/>
                        </a:rPr>
                        <a:t>No. of hospitals</a:t>
                      </a:r>
                      <a:endParaRPr lang="en-US" sz="1100" b="0"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 </a:t>
                      </a:r>
                      <a:endParaRPr lang="en-US" sz="1100" b="0" i="1"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29127793"/>
                  </a:ext>
                </a:extLst>
              </a:tr>
              <a:tr h="152413">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8131069"/>
                  </a:ext>
                </a:extLst>
              </a:tr>
              <a:tr h="229448">
                <a:tc>
                  <a:txBody>
                    <a:bodyPr/>
                    <a:lstStyle/>
                    <a:p>
                      <a:pPr algn="l" fontAlgn="b"/>
                      <a:r>
                        <a:rPr lang="en-US" sz="1100" u="none" strike="noStrike">
                          <a:effectLst/>
                        </a:rPr>
                        <a:t>Mean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11.26667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2734355"/>
                  </a:ext>
                </a:extLst>
              </a:tr>
              <a:tr h="229448">
                <a:tc>
                  <a:txBody>
                    <a:bodyPr/>
                    <a:lstStyle/>
                    <a:p>
                      <a:pPr algn="l" fontAlgn="b"/>
                      <a:r>
                        <a:rPr lang="en-US" sz="1100" u="none" strike="noStrike">
                          <a:effectLst/>
                        </a:rPr>
                        <a:t>Standard Error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1.549886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85523702"/>
                  </a:ext>
                </a:extLst>
              </a:tr>
              <a:tr h="152413">
                <a:tc>
                  <a:txBody>
                    <a:bodyPr/>
                    <a:lstStyle/>
                    <a:p>
                      <a:pPr algn="l" fontAlgn="b"/>
                      <a:r>
                        <a:rPr lang="en-US" sz="1100" u="none" strike="noStrike">
                          <a:effectLst/>
                        </a:rPr>
                        <a:t>Median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6746998"/>
                  </a:ext>
                </a:extLst>
              </a:tr>
              <a:tr h="152413">
                <a:tc>
                  <a:txBody>
                    <a:bodyPr/>
                    <a:lstStyle/>
                    <a:p>
                      <a:pPr algn="l" fontAlgn="b"/>
                      <a:r>
                        <a:rPr lang="en-US" sz="1100" u="none" strike="noStrike">
                          <a:effectLst/>
                        </a:rPr>
                        <a:t>Mode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6886859"/>
                  </a:ext>
                </a:extLst>
              </a:tr>
              <a:tr h="229448">
                <a:tc>
                  <a:txBody>
                    <a:bodyPr/>
                    <a:lstStyle/>
                    <a:p>
                      <a:pPr algn="l" fontAlgn="b"/>
                      <a:r>
                        <a:rPr lang="en-US" sz="1100" u="none" strike="noStrike">
                          <a:effectLst/>
                        </a:rPr>
                        <a:t>Standard Deviation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8.489073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0001130"/>
                  </a:ext>
                </a:extLst>
              </a:tr>
              <a:tr h="229448">
                <a:tc>
                  <a:txBody>
                    <a:bodyPr/>
                    <a:lstStyle/>
                    <a:p>
                      <a:pPr algn="l" fontAlgn="b"/>
                      <a:r>
                        <a:rPr lang="en-US" sz="1100" u="none" strike="noStrike">
                          <a:effectLst/>
                        </a:rPr>
                        <a:t>Sample Variance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72.06437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92170161"/>
                  </a:ext>
                </a:extLst>
              </a:tr>
              <a:tr h="229448">
                <a:tc>
                  <a:txBody>
                    <a:bodyPr/>
                    <a:lstStyle/>
                    <a:p>
                      <a:pPr algn="l" fontAlgn="b"/>
                      <a:r>
                        <a:rPr lang="en-US" sz="1100" u="none" strike="noStrike">
                          <a:effectLst/>
                        </a:rPr>
                        <a:t>Kurtosis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1.778792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3819039"/>
                  </a:ext>
                </a:extLst>
              </a:tr>
              <a:tr h="229448">
                <a:tc>
                  <a:txBody>
                    <a:bodyPr/>
                    <a:lstStyle/>
                    <a:p>
                      <a:pPr algn="l" fontAlgn="b"/>
                      <a:r>
                        <a:rPr lang="en-US" sz="1100" u="none" strike="noStrike">
                          <a:effectLst/>
                        </a:rPr>
                        <a:t>Skewness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1.450725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75361032"/>
                  </a:ext>
                </a:extLst>
              </a:tr>
              <a:tr h="152413">
                <a:tc>
                  <a:txBody>
                    <a:bodyPr/>
                    <a:lstStyle/>
                    <a:p>
                      <a:pPr algn="l" fontAlgn="b"/>
                      <a:r>
                        <a:rPr lang="en-US" sz="1100" u="none" strike="noStrike">
                          <a:effectLst/>
                        </a:rPr>
                        <a:t>Range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63838000"/>
                  </a:ext>
                </a:extLst>
              </a:tr>
              <a:tr h="172729">
                <a:tc>
                  <a:txBody>
                    <a:bodyPr/>
                    <a:lstStyle/>
                    <a:p>
                      <a:pPr algn="l" fontAlgn="b"/>
                      <a:r>
                        <a:rPr lang="en-US" sz="1100" u="none" strike="noStrike">
                          <a:effectLst/>
                        </a:rPr>
                        <a:t>Minimum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50542982"/>
                  </a:ext>
                </a:extLst>
              </a:tr>
              <a:tr h="172729">
                <a:tc>
                  <a:txBody>
                    <a:bodyPr/>
                    <a:lstStyle/>
                    <a:p>
                      <a:pPr algn="l" fontAlgn="b"/>
                      <a:r>
                        <a:rPr lang="en-US" sz="1100" u="none" strike="noStrike">
                          <a:effectLst/>
                        </a:rPr>
                        <a:t>Maximum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01009611"/>
                  </a:ext>
                </a:extLst>
              </a:tr>
              <a:tr h="152413">
                <a:tc>
                  <a:txBody>
                    <a:bodyPr/>
                    <a:lstStyle/>
                    <a:p>
                      <a:pPr algn="l" fontAlgn="b"/>
                      <a:r>
                        <a:rPr lang="en-US" sz="1100" u="none" strike="noStrike">
                          <a:effectLst/>
                        </a:rPr>
                        <a:t>Sum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338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50190206"/>
                  </a:ext>
                </a:extLst>
              </a:tr>
              <a:tr h="152413">
                <a:tc>
                  <a:txBody>
                    <a:bodyPr/>
                    <a:lstStyle/>
                    <a:p>
                      <a:pPr algn="l" fontAlgn="b"/>
                      <a:r>
                        <a:rPr lang="en-US" sz="1100" u="none" strike="noStrike">
                          <a:effectLst/>
                        </a:rPr>
                        <a:t>Count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42402438"/>
                  </a:ext>
                </a:extLst>
              </a:tr>
            </a:tbl>
          </a:graphicData>
        </a:graphic>
      </p:graphicFrame>
      <p:sp>
        <p:nvSpPr>
          <p:cNvPr id="6" name="TextBox 5">
            <a:extLst>
              <a:ext uri="{FF2B5EF4-FFF2-40B4-BE49-F238E27FC236}">
                <a16:creationId xmlns:a16="http://schemas.microsoft.com/office/drawing/2014/main" id="{DA670C37-3A9B-5855-CBBF-7302ACECBAB0}"/>
              </a:ext>
            </a:extLst>
          </p:cNvPr>
          <p:cNvSpPr txBox="1"/>
          <p:nvPr/>
        </p:nvSpPr>
        <p:spPr>
          <a:xfrm>
            <a:off x="388620" y="1347460"/>
            <a:ext cx="11727180" cy="2308324"/>
          </a:xfrm>
          <a:prstGeom prst="rect">
            <a:avLst/>
          </a:prstGeom>
          <a:noFill/>
        </p:spPr>
        <p:txBody>
          <a:bodyPr wrap="square">
            <a:spAutoFit/>
          </a:bodyPr>
          <a:lstStyle/>
          <a:p>
            <a:pPr algn="l"/>
            <a:r>
              <a:rPr lang="en-US" dirty="0"/>
              <a:t>*</a:t>
            </a:r>
            <a:r>
              <a:rPr lang="en-US" b="1" dirty="0"/>
              <a:t>Kurtosis</a:t>
            </a:r>
            <a:r>
              <a:rPr lang="en-US" dirty="0"/>
              <a:t> measures the </a:t>
            </a:r>
            <a:r>
              <a:rPr lang="en-US" dirty="0" err="1"/>
              <a:t>tailedness</a:t>
            </a:r>
            <a:r>
              <a:rPr lang="en-US" dirty="0"/>
              <a:t> of the data distribution. A positive kurtosis value suggests that the data distribution has heavier tails than a normal distribution. It may indicate the presence of outliers. (</a:t>
            </a:r>
            <a:r>
              <a:rPr lang="en-US" sz="1800" b="0" i="0" u="none" strike="noStrike" baseline="0" dirty="0"/>
              <a:t>Leptokurtic = thin distribution</a:t>
            </a:r>
          </a:p>
          <a:p>
            <a:pPr algn="l"/>
            <a:r>
              <a:rPr lang="en-US" sz="1800" b="0" i="0" u="none" strike="noStrike" baseline="0" dirty="0"/>
              <a:t>(concentrated at midpoint)&gt;0</a:t>
            </a:r>
            <a:r>
              <a:rPr lang="en-US" sz="1800" b="0" i="0" u="none" strike="noStrike" baseline="0" dirty="0">
                <a:latin typeface="Constantia" panose="02030602050306030303" pitchFamily="18" charset="0"/>
              </a:rPr>
              <a:t>)</a:t>
            </a:r>
            <a:endParaRPr lang="en-US" dirty="0"/>
          </a:p>
          <a:p>
            <a:r>
              <a:rPr lang="en-US" dirty="0">
                <a:solidFill>
                  <a:schemeClr val="tx1">
                    <a:lumMod val="95000"/>
                    <a:lumOff val="5000"/>
                  </a:schemeClr>
                </a:solidFill>
              </a:rPr>
              <a:t>*</a:t>
            </a:r>
            <a:r>
              <a:rPr lang="en-US" b="1" dirty="0">
                <a:solidFill>
                  <a:schemeClr val="tx1">
                    <a:lumMod val="95000"/>
                    <a:lumOff val="5000"/>
                  </a:schemeClr>
                </a:solidFill>
              </a:rPr>
              <a:t>Skewness</a:t>
            </a:r>
            <a:r>
              <a:rPr lang="en-US" dirty="0">
                <a:solidFill>
                  <a:schemeClr val="tx1">
                    <a:lumMod val="95000"/>
                    <a:lumOff val="5000"/>
                  </a:schemeClr>
                </a:solidFill>
              </a:rPr>
              <a:t> measures the asymmetry of the data distribution. A positive skewness value indicates a right-skewed distribution. In this case, the distribution may have a tail on the right side.(skewed to the </a:t>
            </a:r>
            <a:r>
              <a:rPr lang="en-US" dirty="0" err="1">
                <a:solidFill>
                  <a:schemeClr val="tx1">
                    <a:lumMod val="95000"/>
                    <a:lumOff val="5000"/>
                  </a:schemeClr>
                </a:solidFill>
              </a:rPr>
              <a:t>right,as</a:t>
            </a:r>
            <a:r>
              <a:rPr lang="en-US" dirty="0">
                <a:solidFill>
                  <a:schemeClr val="tx1">
                    <a:lumMod val="95000"/>
                    <a:lumOff val="5000"/>
                  </a:schemeClr>
                </a:solidFill>
              </a:rPr>
              <a:t> the skewness is closer to 1,towards infinity)</a:t>
            </a:r>
          </a:p>
          <a:p>
            <a:r>
              <a:rPr lang="en-US" dirty="0">
                <a:solidFill>
                  <a:schemeClr val="tx1">
                    <a:lumMod val="95000"/>
                    <a:lumOff val="5000"/>
                  </a:schemeClr>
                </a:solidFill>
              </a:rPr>
              <a:t>*</a:t>
            </a:r>
            <a:r>
              <a:rPr lang="en-US" b="1" dirty="0">
                <a:solidFill>
                  <a:schemeClr val="tx1">
                    <a:lumMod val="95000"/>
                    <a:lumOff val="5000"/>
                  </a:schemeClr>
                </a:solidFill>
              </a:rPr>
              <a:t>Range</a:t>
            </a:r>
            <a:r>
              <a:rPr lang="en-US" dirty="0">
                <a:solidFill>
                  <a:schemeClr val="tx1">
                    <a:lumMod val="95000"/>
                    <a:lumOff val="5000"/>
                  </a:schemeClr>
                </a:solidFill>
              </a:rPr>
              <a:t> is the difference between the maximum and minimum values in your dataset. In this case, the range is 33, providing insight into the spread of values.</a:t>
            </a:r>
          </a:p>
        </p:txBody>
      </p:sp>
    </p:spTree>
    <p:extLst>
      <p:ext uri="{BB962C8B-B14F-4D97-AF65-F5344CB8AC3E}">
        <p14:creationId xmlns:p14="http://schemas.microsoft.com/office/powerpoint/2010/main" val="2558990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891540"/>
            <a:ext cx="10910570" cy="1600200"/>
          </a:xfrm>
        </p:spPr>
        <p:txBody>
          <a:bodyPr/>
          <a:lstStyle/>
          <a:p>
            <a:r>
              <a:rPr lang="en-US" sz="1800" i="0" u="none" strike="noStrike" baseline="0" dirty="0">
                <a:solidFill>
                  <a:srgbClr val="000000"/>
                </a:solidFill>
                <a:latin typeface="Cambria" panose="02040503050406030204" pitchFamily="18" charset="0"/>
              </a:rPr>
              <a:t/>
            </a:r>
            <a:br>
              <a:rPr lang="en-US" sz="180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 (Physicians)</a:t>
            </a:r>
            <a:br>
              <a:rPr lang="en-US" sz="1800" i="0" u="none" strike="noStrike" baseline="0" dirty="0">
                <a:solidFill>
                  <a:schemeClr val="accent3">
                    <a:lumMod val="50000"/>
                  </a:schemeClr>
                </a:solidFill>
                <a:latin typeface="Century Gothic" panose="020B0502020202020204" pitchFamily="34" charset="0"/>
              </a:rPr>
            </a:br>
            <a:endParaRPr lang="en-US" sz="4400"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16</a:t>
            </a:fld>
            <a:endParaRPr lang="en-US" dirty="0"/>
          </a:p>
        </p:txBody>
      </p:sp>
      <p:graphicFrame>
        <p:nvGraphicFramePr>
          <p:cNvPr id="3" name="Table 2">
            <a:extLst>
              <a:ext uri="{FF2B5EF4-FFF2-40B4-BE49-F238E27FC236}">
                <a16:creationId xmlns:a16="http://schemas.microsoft.com/office/drawing/2014/main" id="{B0C2C510-16A9-D945-34EC-1D3A45464543}"/>
              </a:ext>
            </a:extLst>
          </p:cNvPr>
          <p:cNvGraphicFramePr>
            <a:graphicFrameLocks noGrp="1"/>
          </p:cNvGraphicFramePr>
          <p:nvPr>
            <p:extLst>
              <p:ext uri="{D42A27DB-BD31-4B8C-83A1-F6EECF244321}">
                <p14:modId xmlns:p14="http://schemas.microsoft.com/office/powerpoint/2010/main" val="352649140"/>
              </p:ext>
            </p:extLst>
          </p:nvPr>
        </p:nvGraphicFramePr>
        <p:xfrm>
          <a:off x="525780" y="2504440"/>
          <a:ext cx="2311400" cy="2651760"/>
        </p:xfrm>
        <a:graphic>
          <a:graphicData uri="http://schemas.openxmlformats.org/drawingml/2006/table">
            <a:tbl>
              <a:tblPr>
                <a:tableStyleId>{5C22544A-7EE6-4342-B048-85BDC9FD1C3A}</a:tableStyleId>
              </a:tblPr>
              <a:tblGrid>
                <a:gridCol w="1701800">
                  <a:extLst>
                    <a:ext uri="{9D8B030D-6E8A-4147-A177-3AD203B41FA5}">
                      <a16:colId xmlns:a16="http://schemas.microsoft.com/office/drawing/2014/main" val="3925008802"/>
                    </a:ext>
                  </a:extLst>
                </a:gridCol>
                <a:gridCol w="609600">
                  <a:extLst>
                    <a:ext uri="{9D8B030D-6E8A-4147-A177-3AD203B41FA5}">
                      <a16:colId xmlns:a16="http://schemas.microsoft.com/office/drawing/2014/main" val="3867667540"/>
                    </a:ext>
                  </a:extLst>
                </a:gridCol>
              </a:tblGrid>
              <a:tr h="0">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6741513"/>
                  </a:ext>
                </a:extLst>
              </a:tr>
              <a:tr h="190500">
                <a:tc>
                  <a:txBody>
                    <a:bodyPr/>
                    <a:lstStyle/>
                    <a:p>
                      <a:pPr algn="l" fontAlgn="b"/>
                      <a:r>
                        <a:rPr lang="en-US" sz="1100" u="none" strike="noStrike" dirty="0">
                          <a:effectLst/>
                        </a:rPr>
                        <a:t>Mean</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1178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59873342"/>
                  </a:ext>
                </a:extLst>
              </a:tr>
              <a:tr h="190500">
                <a:tc>
                  <a:txBody>
                    <a:bodyPr/>
                    <a:lstStyle/>
                    <a:p>
                      <a:pPr algn="l" fontAlgn="b"/>
                      <a:r>
                        <a:rPr lang="en-US" sz="1100" u="none" strike="noStrike">
                          <a:effectLst/>
                        </a:rPr>
                        <a:t>Standard Error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218.537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66405196"/>
                  </a:ext>
                </a:extLst>
              </a:tr>
              <a:tr h="190500">
                <a:tc>
                  <a:txBody>
                    <a:bodyPr/>
                    <a:lstStyle/>
                    <a:p>
                      <a:pPr algn="l" fontAlgn="b"/>
                      <a:r>
                        <a:rPr lang="en-US" sz="1100" u="none" strike="noStrike">
                          <a:effectLst/>
                        </a:rPr>
                        <a:t>Median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651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5139488"/>
                  </a:ext>
                </a:extLst>
              </a:tr>
              <a:tr h="190500">
                <a:tc>
                  <a:txBody>
                    <a:bodyPr/>
                    <a:lstStyle/>
                    <a:p>
                      <a:pPr algn="l" fontAlgn="b"/>
                      <a:r>
                        <a:rPr lang="en-US" sz="1100" u="none" strike="noStrike">
                          <a:effectLst/>
                        </a:rPr>
                        <a:t>Mode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none</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8273504"/>
                  </a:ext>
                </a:extLst>
              </a:tr>
              <a:tr h="190500">
                <a:tc>
                  <a:txBody>
                    <a:bodyPr/>
                    <a:lstStyle/>
                    <a:p>
                      <a:pPr algn="l" fontAlgn="b"/>
                      <a:r>
                        <a:rPr lang="en-US" sz="1100" u="none" strike="noStrike">
                          <a:effectLst/>
                        </a:rPr>
                        <a:t>Standard Deviation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1196.976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289978"/>
                  </a:ext>
                </a:extLst>
              </a:tr>
              <a:tr h="190500">
                <a:tc>
                  <a:txBody>
                    <a:bodyPr/>
                    <a:lstStyle/>
                    <a:p>
                      <a:pPr algn="l" fontAlgn="b"/>
                      <a:r>
                        <a:rPr lang="en-US" sz="1100" u="none" strike="noStrike">
                          <a:effectLst/>
                        </a:rPr>
                        <a:t>Sample Variance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1432752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3311587"/>
                  </a:ext>
                </a:extLst>
              </a:tr>
              <a:tr h="190500">
                <a:tc>
                  <a:txBody>
                    <a:bodyPr/>
                    <a:lstStyle/>
                    <a:p>
                      <a:pPr algn="l" fontAlgn="b"/>
                      <a:r>
                        <a:rPr lang="en-US" sz="1100" u="none" strike="noStrike">
                          <a:effectLst/>
                        </a:rPr>
                        <a:t>Kurtosis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5.176086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7418776"/>
                  </a:ext>
                </a:extLst>
              </a:tr>
              <a:tr h="190500">
                <a:tc>
                  <a:txBody>
                    <a:bodyPr/>
                    <a:lstStyle/>
                    <a:p>
                      <a:pPr algn="l" fontAlgn="b"/>
                      <a:r>
                        <a:rPr lang="en-US" sz="1100" u="none" strike="noStrike">
                          <a:effectLst/>
                        </a:rPr>
                        <a:t>Skewness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2.29654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09879091"/>
                  </a:ext>
                </a:extLst>
              </a:tr>
              <a:tr h="190500">
                <a:tc>
                  <a:txBody>
                    <a:bodyPr/>
                    <a:lstStyle/>
                    <a:p>
                      <a:pPr algn="l" fontAlgn="b"/>
                      <a:r>
                        <a:rPr lang="en-US" sz="1100" u="none" strike="noStrike">
                          <a:effectLst/>
                        </a:rPr>
                        <a:t>Range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4981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38244203"/>
                  </a:ext>
                </a:extLst>
              </a:tr>
              <a:tr h="190500">
                <a:tc>
                  <a:txBody>
                    <a:bodyPr/>
                    <a:lstStyle/>
                    <a:p>
                      <a:pPr algn="l" fontAlgn="b"/>
                      <a:r>
                        <a:rPr lang="en-US" sz="1100" u="none" strike="noStrike">
                          <a:effectLst/>
                        </a:rPr>
                        <a:t>Minimum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313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19291172"/>
                  </a:ext>
                </a:extLst>
              </a:tr>
              <a:tr h="190500">
                <a:tc>
                  <a:txBody>
                    <a:bodyPr/>
                    <a:lstStyle/>
                    <a:p>
                      <a:pPr algn="l" fontAlgn="b"/>
                      <a:r>
                        <a:rPr lang="en-US" sz="1100" u="none" strike="noStrike">
                          <a:effectLst/>
                        </a:rPr>
                        <a:t>Maximum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5294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28878503"/>
                  </a:ext>
                </a:extLst>
              </a:tr>
              <a:tr h="190500">
                <a:tc>
                  <a:txBody>
                    <a:bodyPr/>
                    <a:lstStyle/>
                    <a:p>
                      <a:pPr algn="l" fontAlgn="b"/>
                      <a:r>
                        <a:rPr lang="en-US" sz="1100" u="none" strike="noStrike">
                          <a:effectLst/>
                        </a:rPr>
                        <a:t>Sum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35340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87535724"/>
                  </a:ext>
                </a:extLst>
              </a:tr>
              <a:tr h="190500">
                <a:tc>
                  <a:txBody>
                    <a:bodyPr/>
                    <a:lstStyle/>
                    <a:p>
                      <a:pPr algn="l" fontAlgn="b"/>
                      <a:r>
                        <a:rPr lang="en-US" sz="1100" u="none" strike="noStrike">
                          <a:effectLst/>
                        </a:rPr>
                        <a:t>Count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0427379"/>
                  </a:ext>
                </a:extLst>
              </a:tr>
            </a:tbl>
          </a:graphicData>
        </a:graphic>
      </p:graphicFrame>
      <p:sp>
        <p:nvSpPr>
          <p:cNvPr id="6" name="TextBox 5">
            <a:extLst>
              <a:ext uri="{FF2B5EF4-FFF2-40B4-BE49-F238E27FC236}">
                <a16:creationId xmlns:a16="http://schemas.microsoft.com/office/drawing/2014/main" id="{7CFA5DBA-7FD4-7696-270A-C96719C732F0}"/>
              </a:ext>
            </a:extLst>
          </p:cNvPr>
          <p:cNvSpPr txBox="1"/>
          <p:nvPr/>
        </p:nvSpPr>
        <p:spPr>
          <a:xfrm>
            <a:off x="2956560" y="2656255"/>
            <a:ext cx="7863840" cy="646331"/>
          </a:xfrm>
          <a:prstGeom prst="rect">
            <a:avLst/>
          </a:prstGeom>
          <a:noFill/>
        </p:spPr>
        <p:txBody>
          <a:bodyPr wrap="square">
            <a:spAutoFit/>
          </a:bodyPr>
          <a:lstStyle/>
          <a:p>
            <a:pPr algn="l"/>
            <a:r>
              <a:rPr lang="en-US" sz="1800" b="0" i="0" u="none" strike="noStrike" baseline="0" dirty="0"/>
              <a:t>Kurtosis-&gt;Leptokurtic = thin distribution</a:t>
            </a:r>
          </a:p>
          <a:p>
            <a:pPr algn="l"/>
            <a:r>
              <a:rPr lang="en-US" sz="1800" b="0" i="0" u="none" strike="noStrike" baseline="0" dirty="0"/>
              <a:t>(concentrated at midpoint)&gt;0</a:t>
            </a:r>
            <a:endParaRPr lang="en-US" dirty="0"/>
          </a:p>
        </p:txBody>
      </p:sp>
      <p:sp>
        <p:nvSpPr>
          <p:cNvPr id="10" name="TextBox 9">
            <a:extLst>
              <a:ext uri="{FF2B5EF4-FFF2-40B4-BE49-F238E27FC236}">
                <a16:creationId xmlns:a16="http://schemas.microsoft.com/office/drawing/2014/main" id="{771EEBDA-9FFC-DC8D-1F20-902C8A4AB87A}"/>
              </a:ext>
            </a:extLst>
          </p:cNvPr>
          <p:cNvSpPr txBox="1"/>
          <p:nvPr/>
        </p:nvSpPr>
        <p:spPr>
          <a:xfrm>
            <a:off x="3048000" y="3507154"/>
            <a:ext cx="6096000" cy="646331"/>
          </a:xfrm>
          <a:prstGeom prst="rect">
            <a:avLst/>
          </a:prstGeom>
          <a:noFill/>
        </p:spPr>
        <p:txBody>
          <a:bodyPr wrap="square">
            <a:spAutoFit/>
          </a:bodyPr>
          <a:lstStyle/>
          <a:p>
            <a:r>
              <a:rPr lang="en-US" dirty="0">
                <a:solidFill>
                  <a:schemeClr val="tx1">
                    <a:lumMod val="95000"/>
                    <a:lumOff val="5000"/>
                  </a:schemeClr>
                </a:solidFill>
              </a:rPr>
              <a:t>Skewness-&gt;skewed to the </a:t>
            </a:r>
            <a:r>
              <a:rPr lang="en-US" dirty="0" err="1">
                <a:solidFill>
                  <a:schemeClr val="tx1">
                    <a:lumMod val="95000"/>
                    <a:lumOff val="5000"/>
                  </a:schemeClr>
                </a:solidFill>
              </a:rPr>
              <a:t>right,as</a:t>
            </a:r>
            <a:r>
              <a:rPr lang="en-US" dirty="0">
                <a:solidFill>
                  <a:schemeClr val="tx1">
                    <a:lumMod val="95000"/>
                    <a:lumOff val="5000"/>
                  </a:schemeClr>
                </a:solidFill>
              </a:rPr>
              <a:t> the skewness is closer to 1,towards infinity.</a:t>
            </a:r>
            <a:endParaRPr lang="en-US" dirty="0"/>
          </a:p>
        </p:txBody>
      </p:sp>
    </p:spTree>
    <p:extLst>
      <p:ext uri="{BB962C8B-B14F-4D97-AF65-F5344CB8AC3E}">
        <p14:creationId xmlns:p14="http://schemas.microsoft.com/office/powerpoint/2010/main" val="446857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891540"/>
            <a:ext cx="10910570" cy="1600200"/>
          </a:xfrm>
        </p:spPr>
        <p:txBody>
          <a:bodyPr/>
          <a:lstStyle/>
          <a:p>
            <a:r>
              <a:rPr lang="en-US" sz="1800" i="0" u="none" strike="noStrike" baseline="0" dirty="0">
                <a:solidFill>
                  <a:srgbClr val="000000"/>
                </a:solidFill>
                <a:latin typeface="Cambria" panose="02040503050406030204" pitchFamily="18" charset="0"/>
              </a:rPr>
              <a:t/>
            </a:r>
            <a:br>
              <a:rPr lang="en-US" sz="180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results.(Family doctors) </a:t>
            </a:r>
            <a:br>
              <a:rPr lang="en-US" sz="1800" i="0" u="none" strike="noStrike" baseline="0" dirty="0">
                <a:solidFill>
                  <a:schemeClr val="accent3">
                    <a:lumMod val="50000"/>
                  </a:schemeClr>
                </a:solidFill>
                <a:latin typeface="Century Gothic" panose="020B0502020202020204" pitchFamily="34" charset="0"/>
              </a:rPr>
            </a:br>
            <a:endParaRPr lang="en-US" sz="4400"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17</a:t>
            </a:fld>
            <a:endParaRPr lang="en-US" dirty="0"/>
          </a:p>
        </p:txBody>
      </p:sp>
      <p:graphicFrame>
        <p:nvGraphicFramePr>
          <p:cNvPr id="3" name="Table 2">
            <a:extLst>
              <a:ext uri="{FF2B5EF4-FFF2-40B4-BE49-F238E27FC236}">
                <a16:creationId xmlns:a16="http://schemas.microsoft.com/office/drawing/2014/main" id="{F7076546-DA3D-54F3-81EF-271C33E66594}"/>
              </a:ext>
            </a:extLst>
          </p:cNvPr>
          <p:cNvGraphicFramePr>
            <a:graphicFrameLocks noGrp="1"/>
          </p:cNvGraphicFramePr>
          <p:nvPr>
            <p:extLst>
              <p:ext uri="{D42A27DB-BD31-4B8C-83A1-F6EECF244321}">
                <p14:modId xmlns:p14="http://schemas.microsoft.com/office/powerpoint/2010/main" val="3648386818"/>
              </p:ext>
            </p:extLst>
          </p:nvPr>
        </p:nvGraphicFramePr>
        <p:xfrm>
          <a:off x="621792" y="2095500"/>
          <a:ext cx="4689348" cy="3512824"/>
        </p:xfrm>
        <a:graphic>
          <a:graphicData uri="http://schemas.openxmlformats.org/drawingml/2006/table">
            <a:tbl>
              <a:tblPr>
                <a:tableStyleId>{5C22544A-7EE6-4342-B048-85BDC9FD1C3A}</a:tableStyleId>
              </a:tblPr>
              <a:tblGrid>
                <a:gridCol w="3115301">
                  <a:extLst>
                    <a:ext uri="{9D8B030D-6E8A-4147-A177-3AD203B41FA5}">
                      <a16:colId xmlns:a16="http://schemas.microsoft.com/office/drawing/2014/main" val="1533033123"/>
                    </a:ext>
                  </a:extLst>
                </a:gridCol>
                <a:gridCol w="1574047">
                  <a:extLst>
                    <a:ext uri="{9D8B030D-6E8A-4147-A177-3AD203B41FA5}">
                      <a16:colId xmlns:a16="http://schemas.microsoft.com/office/drawing/2014/main" val="3880403292"/>
                    </a:ext>
                  </a:extLst>
                </a:gridCol>
              </a:tblGrid>
              <a:tr h="250916">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7220426"/>
                  </a:ext>
                </a:extLst>
              </a:tr>
              <a:tr h="250916">
                <a:tc>
                  <a:txBody>
                    <a:bodyPr/>
                    <a:lstStyle/>
                    <a:p>
                      <a:pPr algn="l" fontAlgn="b"/>
                      <a:r>
                        <a:rPr lang="en-US" sz="1100" u="none" strike="noStrike">
                          <a:effectLst/>
                        </a:rPr>
                        <a:t>Mean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230.6333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4072336"/>
                  </a:ext>
                </a:extLst>
              </a:tr>
              <a:tr h="250916">
                <a:tc>
                  <a:txBody>
                    <a:bodyPr/>
                    <a:lstStyle/>
                    <a:p>
                      <a:pPr algn="l" fontAlgn="b"/>
                      <a:r>
                        <a:rPr lang="en-US" sz="1100" u="none" strike="noStrike">
                          <a:effectLst/>
                        </a:rPr>
                        <a:t>Standard Error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23.1948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89399525"/>
                  </a:ext>
                </a:extLst>
              </a:tr>
              <a:tr h="250916">
                <a:tc>
                  <a:txBody>
                    <a:bodyPr/>
                    <a:lstStyle/>
                    <a:p>
                      <a:pPr algn="l" fontAlgn="b"/>
                      <a:r>
                        <a:rPr lang="en-US" sz="1100" u="none" strike="noStrike">
                          <a:effectLst/>
                        </a:rPr>
                        <a:t>Median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183.5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3668030"/>
                  </a:ext>
                </a:extLst>
              </a:tr>
              <a:tr h="250916">
                <a:tc>
                  <a:txBody>
                    <a:bodyPr/>
                    <a:lstStyle/>
                    <a:p>
                      <a:pPr algn="l" fontAlgn="b"/>
                      <a:r>
                        <a:rPr lang="en-US" sz="1100" u="none" strike="noStrike">
                          <a:effectLst/>
                        </a:rPr>
                        <a:t>Mode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108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39849558"/>
                  </a:ext>
                </a:extLst>
              </a:tr>
              <a:tr h="250916">
                <a:tc>
                  <a:txBody>
                    <a:bodyPr/>
                    <a:lstStyle/>
                    <a:p>
                      <a:pPr algn="l" fontAlgn="b"/>
                      <a:r>
                        <a:rPr lang="en-US" sz="1100" u="none" strike="noStrike">
                          <a:effectLst/>
                        </a:rPr>
                        <a:t>Standard Deviation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127.0432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41143060"/>
                  </a:ext>
                </a:extLst>
              </a:tr>
              <a:tr h="250916">
                <a:tc>
                  <a:txBody>
                    <a:bodyPr/>
                    <a:lstStyle/>
                    <a:p>
                      <a:pPr algn="l" fontAlgn="b"/>
                      <a:r>
                        <a:rPr lang="en-US" sz="1100" u="none" strike="noStrike">
                          <a:effectLst/>
                        </a:rPr>
                        <a:t>Sample Variance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16139.96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56554494"/>
                  </a:ext>
                </a:extLst>
              </a:tr>
              <a:tr h="250916">
                <a:tc>
                  <a:txBody>
                    <a:bodyPr/>
                    <a:lstStyle/>
                    <a:p>
                      <a:pPr algn="l" fontAlgn="b"/>
                      <a:r>
                        <a:rPr lang="en-US" sz="1100" u="none" strike="noStrike">
                          <a:effectLst/>
                        </a:rPr>
                        <a:t>Kurtosis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-0.05612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18257790"/>
                  </a:ext>
                </a:extLst>
              </a:tr>
              <a:tr h="250916">
                <a:tc>
                  <a:txBody>
                    <a:bodyPr/>
                    <a:lstStyle/>
                    <a:p>
                      <a:pPr algn="l" fontAlgn="b"/>
                      <a:r>
                        <a:rPr lang="en-US" sz="1100" u="none" strike="noStrike">
                          <a:effectLst/>
                        </a:rPr>
                        <a:t>Skewness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0.925023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1397786"/>
                  </a:ext>
                </a:extLst>
              </a:tr>
              <a:tr h="250916">
                <a:tc>
                  <a:txBody>
                    <a:bodyPr/>
                    <a:lstStyle/>
                    <a:p>
                      <a:pPr algn="l" fontAlgn="b"/>
                      <a:r>
                        <a:rPr lang="en-US" sz="1100" u="none" strike="noStrike">
                          <a:effectLst/>
                        </a:rPr>
                        <a:t>Range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462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68358264"/>
                  </a:ext>
                </a:extLst>
              </a:tr>
              <a:tr h="250916">
                <a:tc>
                  <a:txBody>
                    <a:bodyPr/>
                    <a:lstStyle/>
                    <a:p>
                      <a:pPr algn="l" fontAlgn="b"/>
                      <a:r>
                        <a:rPr lang="en-US" sz="1100" u="none" strike="noStrike">
                          <a:effectLst/>
                        </a:rPr>
                        <a:t>Minimum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26218704"/>
                  </a:ext>
                </a:extLst>
              </a:tr>
              <a:tr h="250916">
                <a:tc>
                  <a:txBody>
                    <a:bodyPr/>
                    <a:lstStyle/>
                    <a:p>
                      <a:pPr algn="l" fontAlgn="b"/>
                      <a:r>
                        <a:rPr lang="en-US" sz="1100" u="none" strike="noStrike">
                          <a:effectLst/>
                        </a:rPr>
                        <a:t>Maximum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542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4800783"/>
                  </a:ext>
                </a:extLst>
              </a:tr>
              <a:tr h="250916">
                <a:tc>
                  <a:txBody>
                    <a:bodyPr/>
                    <a:lstStyle/>
                    <a:p>
                      <a:pPr algn="l" fontAlgn="b"/>
                      <a:r>
                        <a:rPr lang="en-US" sz="1100" u="none" strike="noStrike">
                          <a:effectLst/>
                        </a:rPr>
                        <a:t>Sum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6919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24289224"/>
                  </a:ext>
                </a:extLst>
              </a:tr>
              <a:tr h="250916">
                <a:tc>
                  <a:txBody>
                    <a:bodyPr/>
                    <a:lstStyle/>
                    <a:p>
                      <a:pPr algn="l" fontAlgn="b"/>
                      <a:r>
                        <a:rPr lang="en-US" sz="1100" u="none" strike="noStrike">
                          <a:effectLst/>
                        </a:rPr>
                        <a:t>Count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1257"/>
                  </a:ext>
                </a:extLst>
              </a:tr>
            </a:tbl>
          </a:graphicData>
        </a:graphic>
      </p:graphicFrame>
      <p:sp>
        <p:nvSpPr>
          <p:cNvPr id="6" name="TextBox 5">
            <a:extLst>
              <a:ext uri="{FF2B5EF4-FFF2-40B4-BE49-F238E27FC236}">
                <a16:creationId xmlns:a16="http://schemas.microsoft.com/office/drawing/2014/main" id="{A38D2478-717B-1467-9E5F-773BB5117B00}"/>
              </a:ext>
            </a:extLst>
          </p:cNvPr>
          <p:cNvSpPr txBox="1"/>
          <p:nvPr/>
        </p:nvSpPr>
        <p:spPr>
          <a:xfrm>
            <a:off x="6080760" y="2383274"/>
            <a:ext cx="6096000" cy="369332"/>
          </a:xfrm>
          <a:prstGeom prst="rect">
            <a:avLst/>
          </a:prstGeom>
          <a:noFill/>
        </p:spPr>
        <p:txBody>
          <a:bodyPr wrap="square">
            <a:spAutoFit/>
          </a:bodyPr>
          <a:lstStyle/>
          <a:p>
            <a:r>
              <a:rPr lang="en-US" sz="1800" b="0" i="0" u="none" strike="noStrike" baseline="0" dirty="0"/>
              <a:t>Kurtosis-&gt;Platykurtic = flat distribution&lt;0</a:t>
            </a:r>
            <a:endParaRPr lang="en-US" dirty="0"/>
          </a:p>
        </p:txBody>
      </p:sp>
      <p:sp>
        <p:nvSpPr>
          <p:cNvPr id="10" name="TextBox 9">
            <a:extLst>
              <a:ext uri="{FF2B5EF4-FFF2-40B4-BE49-F238E27FC236}">
                <a16:creationId xmlns:a16="http://schemas.microsoft.com/office/drawing/2014/main" id="{8D5F18F4-D56F-EBBD-5649-004355654067}"/>
              </a:ext>
            </a:extLst>
          </p:cNvPr>
          <p:cNvSpPr txBox="1"/>
          <p:nvPr/>
        </p:nvSpPr>
        <p:spPr>
          <a:xfrm>
            <a:off x="6080760" y="2782669"/>
            <a:ext cx="6096000" cy="646331"/>
          </a:xfrm>
          <a:prstGeom prst="rect">
            <a:avLst/>
          </a:prstGeom>
          <a:noFill/>
        </p:spPr>
        <p:txBody>
          <a:bodyPr wrap="square">
            <a:spAutoFit/>
          </a:bodyPr>
          <a:lstStyle/>
          <a:p>
            <a:r>
              <a:rPr lang="en-US" dirty="0">
                <a:solidFill>
                  <a:schemeClr val="tx1">
                    <a:lumMod val="95000"/>
                    <a:lumOff val="5000"/>
                  </a:schemeClr>
                </a:solidFill>
              </a:rPr>
              <a:t>Skewness-&gt;skewed to the </a:t>
            </a:r>
            <a:r>
              <a:rPr lang="en-US" dirty="0" err="1">
                <a:solidFill>
                  <a:schemeClr val="tx1">
                    <a:lumMod val="95000"/>
                    <a:lumOff val="5000"/>
                  </a:schemeClr>
                </a:solidFill>
              </a:rPr>
              <a:t>right,as</a:t>
            </a:r>
            <a:r>
              <a:rPr lang="en-US" dirty="0">
                <a:solidFill>
                  <a:schemeClr val="tx1">
                    <a:lumMod val="95000"/>
                    <a:lumOff val="5000"/>
                  </a:schemeClr>
                </a:solidFill>
              </a:rPr>
              <a:t> the skewness is closer to 1,towards infinity.</a:t>
            </a:r>
            <a:endParaRPr lang="en-US" dirty="0"/>
          </a:p>
        </p:txBody>
      </p:sp>
    </p:spTree>
    <p:extLst>
      <p:ext uri="{BB962C8B-B14F-4D97-AF65-F5344CB8AC3E}">
        <p14:creationId xmlns:p14="http://schemas.microsoft.com/office/powerpoint/2010/main" val="739883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891540"/>
            <a:ext cx="10910570" cy="1600200"/>
          </a:xfrm>
        </p:spPr>
        <p:txBody>
          <a:bodyPr/>
          <a:lstStyle/>
          <a:p>
            <a:r>
              <a:rPr lang="en-US" sz="1800" i="0" u="none" strike="noStrike" baseline="0" dirty="0">
                <a:solidFill>
                  <a:srgbClr val="000000"/>
                </a:solidFill>
                <a:latin typeface="Cambria" panose="02040503050406030204" pitchFamily="18" charset="0"/>
              </a:rPr>
              <a:t/>
            </a:r>
            <a:br>
              <a:rPr lang="en-US" sz="180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 (Beds)</a:t>
            </a:r>
            <a:endParaRPr lang="en-US" sz="4400"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18</a:t>
            </a:fld>
            <a:endParaRPr lang="en-US" dirty="0"/>
          </a:p>
        </p:txBody>
      </p:sp>
      <p:graphicFrame>
        <p:nvGraphicFramePr>
          <p:cNvPr id="3" name="Table 2">
            <a:extLst>
              <a:ext uri="{FF2B5EF4-FFF2-40B4-BE49-F238E27FC236}">
                <a16:creationId xmlns:a16="http://schemas.microsoft.com/office/drawing/2014/main" id="{CEEBA2C6-F100-B734-EF63-2330966FE4C8}"/>
              </a:ext>
            </a:extLst>
          </p:cNvPr>
          <p:cNvGraphicFramePr>
            <a:graphicFrameLocks noGrp="1"/>
          </p:cNvGraphicFramePr>
          <p:nvPr>
            <p:extLst>
              <p:ext uri="{D42A27DB-BD31-4B8C-83A1-F6EECF244321}">
                <p14:modId xmlns:p14="http://schemas.microsoft.com/office/powerpoint/2010/main" val="2020205379"/>
              </p:ext>
            </p:extLst>
          </p:nvPr>
        </p:nvGraphicFramePr>
        <p:xfrm>
          <a:off x="824230" y="2324100"/>
          <a:ext cx="3060700" cy="2667000"/>
        </p:xfrm>
        <a:graphic>
          <a:graphicData uri="http://schemas.openxmlformats.org/drawingml/2006/table">
            <a:tbl>
              <a:tblPr>
                <a:tableStyleId>{5C22544A-7EE6-4342-B048-85BDC9FD1C3A}</a:tableStyleId>
              </a:tblPr>
              <a:tblGrid>
                <a:gridCol w="2451100">
                  <a:extLst>
                    <a:ext uri="{9D8B030D-6E8A-4147-A177-3AD203B41FA5}">
                      <a16:colId xmlns:a16="http://schemas.microsoft.com/office/drawing/2014/main" val="2885446369"/>
                    </a:ext>
                  </a:extLst>
                </a:gridCol>
                <a:gridCol w="609600">
                  <a:extLst>
                    <a:ext uri="{9D8B030D-6E8A-4147-A177-3AD203B41FA5}">
                      <a16:colId xmlns:a16="http://schemas.microsoft.com/office/drawing/2014/main" val="669897810"/>
                    </a:ext>
                  </a:extLst>
                </a:gridCol>
              </a:tblGrid>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21696378"/>
                  </a:ext>
                </a:extLst>
              </a:tr>
              <a:tr h="190500">
                <a:tc>
                  <a:txBody>
                    <a:bodyPr/>
                    <a:lstStyle/>
                    <a:p>
                      <a:pPr algn="l" fontAlgn="b"/>
                      <a:r>
                        <a:rPr lang="en-US" sz="1100" u="none" strike="noStrike">
                          <a:effectLst/>
                        </a:rPr>
                        <a:t>Mean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2709.6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54668764"/>
                  </a:ext>
                </a:extLst>
              </a:tr>
              <a:tr h="190500">
                <a:tc>
                  <a:txBody>
                    <a:bodyPr/>
                    <a:lstStyle/>
                    <a:p>
                      <a:pPr algn="l" fontAlgn="b"/>
                      <a:r>
                        <a:rPr lang="en-US" sz="1100" u="none" strike="noStrike">
                          <a:effectLst/>
                        </a:rPr>
                        <a:t>Standard Error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298.1491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00893451"/>
                  </a:ext>
                </a:extLst>
              </a:tr>
              <a:tr h="190500">
                <a:tc>
                  <a:txBody>
                    <a:bodyPr/>
                    <a:lstStyle/>
                    <a:p>
                      <a:pPr algn="l" fontAlgn="b"/>
                      <a:r>
                        <a:rPr lang="en-US" sz="1100" u="none" strike="noStrike">
                          <a:effectLst/>
                        </a:rPr>
                        <a:t>Median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2265.5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70844934"/>
                  </a:ext>
                </a:extLst>
              </a:tr>
              <a:tr h="190500">
                <a:tc>
                  <a:txBody>
                    <a:bodyPr/>
                    <a:lstStyle/>
                    <a:p>
                      <a:pPr algn="l" fontAlgn="b"/>
                      <a:r>
                        <a:rPr lang="en-US" sz="1100" u="none" strike="noStrike">
                          <a:effectLst/>
                        </a:rPr>
                        <a:t>Mode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831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1957609"/>
                  </a:ext>
                </a:extLst>
              </a:tr>
              <a:tr h="190500">
                <a:tc>
                  <a:txBody>
                    <a:bodyPr/>
                    <a:lstStyle/>
                    <a:p>
                      <a:pPr algn="l" fontAlgn="b"/>
                      <a:r>
                        <a:rPr lang="en-US" sz="1100" u="none" strike="noStrike">
                          <a:effectLst/>
                        </a:rPr>
                        <a:t>Standard Deviation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1633.03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19755294"/>
                  </a:ext>
                </a:extLst>
              </a:tr>
              <a:tr h="190500">
                <a:tc>
                  <a:txBody>
                    <a:bodyPr/>
                    <a:lstStyle/>
                    <a:p>
                      <a:pPr algn="l" fontAlgn="b"/>
                      <a:r>
                        <a:rPr lang="en-US" sz="1100" u="none" strike="noStrike">
                          <a:effectLst/>
                        </a:rPr>
                        <a:t>Sample Variance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2666787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4546339"/>
                  </a:ext>
                </a:extLst>
              </a:tr>
              <a:tr h="190500">
                <a:tc>
                  <a:txBody>
                    <a:bodyPr/>
                    <a:lstStyle/>
                    <a:p>
                      <a:pPr algn="l" fontAlgn="b"/>
                      <a:r>
                        <a:rPr lang="en-US" sz="1100" u="none" strike="noStrike">
                          <a:effectLst/>
                        </a:rPr>
                        <a:t>Kurtosis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2.783357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95922298"/>
                  </a:ext>
                </a:extLst>
              </a:tr>
              <a:tr h="190500">
                <a:tc>
                  <a:txBody>
                    <a:bodyPr/>
                    <a:lstStyle/>
                    <a:p>
                      <a:pPr algn="l" fontAlgn="b"/>
                      <a:r>
                        <a:rPr lang="en-US" sz="1100" u="none" strike="noStrike">
                          <a:effectLst/>
                        </a:rPr>
                        <a:t>Skewness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1.567735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62273728"/>
                  </a:ext>
                </a:extLst>
              </a:tr>
              <a:tr h="190500">
                <a:tc>
                  <a:txBody>
                    <a:bodyPr/>
                    <a:lstStyle/>
                    <a:p>
                      <a:pPr algn="l" fontAlgn="b"/>
                      <a:r>
                        <a:rPr lang="en-US" sz="1100" u="none" strike="noStrike">
                          <a:effectLst/>
                        </a:rPr>
                        <a:t>Range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6744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0419633"/>
                  </a:ext>
                </a:extLst>
              </a:tr>
              <a:tr h="190500">
                <a:tc>
                  <a:txBody>
                    <a:bodyPr/>
                    <a:lstStyle/>
                    <a:p>
                      <a:pPr algn="l" fontAlgn="b"/>
                      <a:r>
                        <a:rPr lang="en-US" sz="1100" u="none" strike="noStrike">
                          <a:effectLst/>
                        </a:rPr>
                        <a:t>Minimum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831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24815992"/>
                  </a:ext>
                </a:extLst>
              </a:tr>
              <a:tr h="190500">
                <a:tc>
                  <a:txBody>
                    <a:bodyPr/>
                    <a:lstStyle/>
                    <a:p>
                      <a:pPr algn="l" fontAlgn="b"/>
                      <a:r>
                        <a:rPr lang="en-US" sz="1100" u="none" strike="noStrike">
                          <a:effectLst/>
                        </a:rPr>
                        <a:t>Maximum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7575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53478796"/>
                  </a:ext>
                </a:extLst>
              </a:tr>
              <a:tr h="190500">
                <a:tc>
                  <a:txBody>
                    <a:bodyPr/>
                    <a:lstStyle/>
                    <a:p>
                      <a:pPr algn="l" fontAlgn="b"/>
                      <a:r>
                        <a:rPr lang="en-US" sz="1100" u="none" strike="noStrike">
                          <a:effectLst/>
                        </a:rPr>
                        <a:t>Sum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81288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9393601"/>
                  </a:ext>
                </a:extLst>
              </a:tr>
              <a:tr h="190500">
                <a:tc>
                  <a:txBody>
                    <a:bodyPr/>
                    <a:lstStyle/>
                    <a:p>
                      <a:pPr algn="l" fontAlgn="b"/>
                      <a:r>
                        <a:rPr lang="en-US" sz="1100" u="none" strike="noStrike" dirty="0">
                          <a:effectLst/>
                        </a:rPr>
                        <a:t>Count</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63398125"/>
                  </a:ext>
                </a:extLst>
              </a:tr>
            </a:tbl>
          </a:graphicData>
        </a:graphic>
      </p:graphicFrame>
      <p:sp>
        <p:nvSpPr>
          <p:cNvPr id="6" name="TextBox 5">
            <a:extLst>
              <a:ext uri="{FF2B5EF4-FFF2-40B4-BE49-F238E27FC236}">
                <a16:creationId xmlns:a16="http://schemas.microsoft.com/office/drawing/2014/main" id="{435362F9-7AD1-12CF-30FD-9B3565D13B47}"/>
              </a:ext>
            </a:extLst>
          </p:cNvPr>
          <p:cNvSpPr txBox="1"/>
          <p:nvPr/>
        </p:nvSpPr>
        <p:spPr>
          <a:xfrm>
            <a:off x="4297680" y="2459504"/>
            <a:ext cx="6096000" cy="646331"/>
          </a:xfrm>
          <a:prstGeom prst="rect">
            <a:avLst/>
          </a:prstGeom>
          <a:noFill/>
        </p:spPr>
        <p:txBody>
          <a:bodyPr wrap="square">
            <a:spAutoFit/>
          </a:bodyPr>
          <a:lstStyle/>
          <a:p>
            <a:pPr algn="l"/>
            <a:r>
              <a:rPr lang="en-US" sz="1800" b="0" i="0" u="none" strike="noStrike" baseline="0" dirty="0"/>
              <a:t>Kurtosis-&gt;Leptokurtic = thin distribution</a:t>
            </a:r>
          </a:p>
          <a:p>
            <a:pPr algn="l"/>
            <a:r>
              <a:rPr lang="en-US" sz="1800" b="0" i="0" u="none" strike="noStrike" baseline="0" dirty="0"/>
              <a:t>(concentrated at midpoint)&gt;0</a:t>
            </a:r>
            <a:endParaRPr lang="en-US" dirty="0"/>
          </a:p>
        </p:txBody>
      </p:sp>
      <p:sp>
        <p:nvSpPr>
          <p:cNvPr id="10" name="TextBox 9">
            <a:extLst>
              <a:ext uri="{FF2B5EF4-FFF2-40B4-BE49-F238E27FC236}">
                <a16:creationId xmlns:a16="http://schemas.microsoft.com/office/drawing/2014/main" id="{030491FD-F3C7-59F2-75C1-CD0198AFCC4F}"/>
              </a:ext>
            </a:extLst>
          </p:cNvPr>
          <p:cNvSpPr txBox="1"/>
          <p:nvPr/>
        </p:nvSpPr>
        <p:spPr>
          <a:xfrm>
            <a:off x="4297680" y="3110330"/>
            <a:ext cx="6096000" cy="646331"/>
          </a:xfrm>
          <a:prstGeom prst="rect">
            <a:avLst/>
          </a:prstGeom>
          <a:noFill/>
        </p:spPr>
        <p:txBody>
          <a:bodyPr wrap="square">
            <a:spAutoFit/>
          </a:bodyPr>
          <a:lstStyle/>
          <a:p>
            <a:r>
              <a:rPr lang="en-US" dirty="0">
                <a:solidFill>
                  <a:schemeClr val="tx1">
                    <a:lumMod val="95000"/>
                    <a:lumOff val="5000"/>
                  </a:schemeClr>
                </a:solidFill>
              </a:rPr>
              <a:t>Skewness-&gt;skewed to the </a:t>
            </a:r>
            <a:r>
              <a:rPr lang="en-US" dirty="0" err="1">
                <a:solidFill>
                  <a:schemeClr val="tx1">
                    <a:lumMod val="95000"/>
                    <a:lumOff val="5000"/>
                  </a:schemeClr>
                </a:solidFill>
              </a:rPr>
              <a:t>right,as</a:t>
            </a:r>
            <a:r>
              <a:rPr lang="en-US" dirty="0">
                <a:solidFill>
                  <a:schemeClr val="tx1">
                    <a:lumMod val="95000"/>
                    <a:lumOff val="5000"/>
                  </a:schemeClr>
                </a:solidFill>
              </a:rPr>
              <a:t> the skewness is closer to 1,towards infinity.</a:t>
            </a:r>
            <a:endParaRPr lang="en-US" dirty="0"/>
          </a:p>
        </p:txBody>
      </p:sp>
    </p:spTree>
    <p:extLst>
      <p:ext uri="{BB962C8B-B14F-4D97-AF65-F5344CB8AC3E}">
        <p14:creationId xmlns:p14="http://schemas.microsoft.com/office/powerpoint/2010/main" val="2297422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525780" y="891540"/>
            <a:ext cx="10910570" cy="1600200"/>
          </a:xfrm>
        </p:spPr>
        <p:txBody>
          <a:bodyPr/>
          <a:lstStyle/>
          <a:p>
            <a:r>
              <a:rPr lang="en-US" sz="1800" i="0" u="none" strike="noStrike" baseline="0" dirty="0">
                <a:solidFill>
                  <a:srgbClr val="000000"/>
                </a:solidFill>
                <a:latin typeface="Cambria" panose="02040503050406030204" pitchFamily="18" charset="0"/>
              </a:rPr>
              <a:t/>
            </a:r>
            <a:br>
              <a:rPr lang="en-US" sz="1800" i="0" u="none" strike="noStrike" baseline="0" dirty="0">
                <a:solidFill>
                  <a:srgbClr val="000000"/>
                </a:solidFill>
                <a:latin typeface="Cambria" panose="02040503050406030204" pitchFamily="18" charset="0"/>
              </a:rPr>
            </a:br>
            <a:r>
              <a:rPr lang="en-US" sz="1800" i="0" u="none" strike="noStrike" baseline="0" dirty="0">
                <a:solidFill>
                  <a:srgbClr val="000000"/>
                </a:solidFill>
                <a:latin typeface="Cambria" panose="02040503050406030204" pitchFamily="18" charset="0"/>
              </a:rPr>
              <a:t> </a:t>
            </a:r>
            <a:br>
              <a:rPr lang="en-US" sz="1800" i="0" u="none" strike="noStrike" baseline="0" dirty="0">
                <a:solidFill>
                  <a:srgbClr val="000000"/>
                </a:solidFill>
                <a:latin typeface="Cambria" panose="02040503050406030204" pitchFamily="18" charset="0"/>
              </a:rPr>
            </a:br>
            <a:r>
              <a:rPr lang="en-US" sz="1800" i="0" u="none" strike="noStrike" baseline="0" dirty="0">
                <a:solidFill>
                  <a:schemeClr val="accent3">
                    <a:lumMod val="50000"/>
                  </a:schemeClr>
                </a:solidFill>
                <a:latin typeface="Century Gothic" panose="020B0502020202020204" pitchFamily="34" charset="0"/>
              </a:rPr>
              <a:t>4.Summarize sample data using the descriptive statistics measures. Apply Excel facilities and comment the results. (Deaths)</a:t>
            </a:r>
            <a:br>
              <a:rPr lang="en-US" sz="1800" i="0" u="none" strike="noStrike" baseline="0" dirty="0">
                <a:solidFill>
                  <a:schemeClr val="accent3">
                    <a:lumMod val="50000"/>
                  </a:schemeClr>
                </a:solidFill>
                <a:latin typeface="Century Gothic" panose="020B0502020202020204" pitchFamily="34" charset="0"/>
              </a:rPr>
            </a:br>
            <a:endParaRPr lang="en-US" sz="4400" dirty="0">
              <a:solidFill>
                <a:schemeClr val="accent3">
                  <a:lumMod val="50000"/>
                </a:schemeClr>
              </a:solidFill>
              <a:latin typeface="Century Gothic" panose="020B0502020202020204" pitchFamily="34" charset="0"/>
              <a:cs typeface="Arial Black" panose="020B0604020202020204" pitchFamily="34" charset="0"/>
            </a:endParaRP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p:txBody>
          <a:bodyPr/>
          <a:lstStyle/>
          <a:p>
            <a:r>
              <a:rPr lang="en-US" dirty="0"/>
              <a:t>Quality of Health care</a:t>
            </a:r>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19</a:t>
            </a:fld>
            <a:endParaRPr lang="en-US" dirty="0"/>
          </a:p>
        </p:txBody>
      </p:sp>
      <p:graphicFrame>
        <p:nvGraphicFramePr>
          <p:cNvPr id="3" name="Table 2">
            <a:extLst>
              <a:ext uri="{FF2B5EF4-FFF2-40B4-BE49-F238E27FC236}">
                <a16:creationId xmlns:a16="http://schemas.microsoft.com/office/drawing/2014/main" id="{11A19F51-006C-99CC-C86E-FEB7C6642243}"/>
              </a:ext>
            </a:extLst>
          </p:cNvPr>
          <p:cNvGraphicFramePr>
            <a:graphicFrameLocks noGrp="1"/>
          </p:cNvGraphicFramePr>
          <p:nvPr>
            <p:extLst>
              <p:ext uri="{D42A27DB-BD31-4B8C-83A1-F6EECF244321}">
                <p14:modId xmlns:p14="http://schemas.microsoft.com/office/powerpoint/2010/main" val="129940458"/>
              </p:ext>
            </p:extLst>
          </p:nvPr>
        </p:nvGraphicFramePr>
        <p:xfrm>
          <a:off x="755650" y="2072640"/>
          <a:ext cx="3206750" cy="3032760"/>
        </p:xfrm>
        <a:graphic>
          <a:graphicData uri="http://schemas.openxmlformats.org/drawingml/2006/table">
            <a:tbl>
              <a:tblPr>
                <a:tableStyleId>{5C22544A-7EE6-4342-B048-85BDC9FD1C3A}</a:tableStyleId>
              </a:tblPr>
              <a:tblGrid>
                <a:gridCol w="2066572">
                  <a:extLst>
                    <a:ext uri="{9D8B030D-6E8A-4147-A177-3AD203B41FA5}">
                      <a16:colId xmlns:a16="http://schemas.microsoft.com/office/drawing/2014/main" val="906389819"/>
                    </a:ext>
                  </a:extLst>
                </a:gridCol>
                <a:gridCol w="1140178">
                  <a:extLst>
                    <a:ext uri="{9D8B030D-6E8A-4147-A177-3AD203B41FA5}">
                      <a16:colId xmlns:a16="http://schemas.microsoft.com/office/drawing/2014/main" val="4263403977"/>
                    </a:ext>
                  </a:extLst>
                </a:gridCol>
              </a:tblGrid>
              <a:tr h="556260">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11503980"/>
                  </a:ext>
                </a:extLst>
              </a:tr>
              <a:tr h="190500">
                <a:tc>
                  <a:txBody>
                    <a:bodyPr/>
                    <a:lstStyle/>
                    <a:p>
                      <a:pPr algn="l" fontAlgn="b"/>
                      <a:r>
                        <a:rPr lang="en-US" sz="1100" u="none" strike="noStrike">
                          <a:effectLst/>
                        </a:rPr>
                        <a:t>Mean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6136.967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05245692"/>
                  </a:ext>
                </a:extLst>
              </a:tr>
              <a:tr h="190500">
                <a:tc>
                  <a:txBody>
                    <a:bodyPr/>
                    <a:lstStyle/>
                    <a:p>
                      <a:pPr algn="l" fontAlgn="b"/>
                      <a:r>
                        <a:rPr lang="en-US" sz="1100" u="none" strike="noStrike">
                          <a:effectLst/>
                        </a:rPr>
                        <a:t>Standard Error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394.8307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6271584"/>
                  </a:ext>
                </a:extLst>
              </a:tr>
              <a:tr h="190500">
                <a:tc>
                  <a:txBody>
                    <a:bodyPr/>
                    <a:lstStyle/>
                    <a:p>
                      <a:pPr algn="l" fontAlgn="b"/>
                      <a:r>
                        <a:rPr lang="en-US" sz="1100" u="none" strike="noStrike">
                          <a:effectLst/>
                        </a:rPr>
                        <a:t>Median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5862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79517507"/>
                  </a:ext>
                </a:extLst>
              </a:tr>
              <a:tr h="190500">
                <a:tc>
                  <a:txBody>
                    <a:bodyPr/>
                    <a:lstStyle/>
                    <a:p>
                      <a:pPr algn="l" fontAlgn="b"/>
                      <a:r>
                        <a:rPr lang="en-US" sz="1100" u="none" strike="noStrike">
                          <a:effectLst/>
                        </a:rPr>
                        <a:t>Mode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none</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15308232"/>
                  </a:ext>
                </a:extLst>
              </a:tr>
              <a:tr h="190500">
                <a:tc>
                  <a:txBody>
                    <a:bodyPr/>
                    <a:lstStyle/>
                    <a:p>
                      <a:pPr algn="l" fontAlgn="b"/>
                      <a:r>
                        <a:rPr lang="en-US" sz="1100" u="none" strike="noStrike">
                          <a:effectLst/>
                        </a:rPr>
                        <a:t>Standard Deviation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2162.577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71930141"/>
                  </a:ext>
                </a:extLst>
              </a:tr>
              <a:tr h="190500">
                <a:tc>
                  <a:txBody>
                    <a:bodyPr/>
                    <a:lstStyle/>
                    <a:p>
                      <a:pPr algn="l" fontAlgn="b"/>
                      <a:r>
                        <a:rPr lang="en-US" sz="1100" u="none" strike="noStrike">
                          <a:effectLst/>
                        </a:rPr>
                        <a:t>Sample Variance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4676739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27068137"/>
                  </a:ext>
                </a:extLst>
              </a:tr>
              <a:tr h="190500">
                <a:tc>
                  <a:txBody>
                    <a:bodyPr/>
                    <a:lstStyle/>
                    <a:p>
                      <a:pPr algn="l" fontAlgn="b"/>
                      <a:r>
                        <a:rPr lang="en-US" sz="1100" u="none" strike="noStrike">
                          <a:effectLst/>
                        </a:rPr>
                        <a:t>Kurtosis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-0.58928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5019267"/>
                  </a:ext>
                </a:extLst>
              </a:tr>
              <a:tr h="190500">
                <a:tc>
                  <a:txBody>
                    <a:bodyPr/>
                    <a:lstStyle/>
                    <a:p>
                      <a:pPr algn="l" fontAlgn="b"/>
                      <a:r>
                        <a:rPr lang="en-US" sz="1100" u="none" strike="noStrike">
                          <a:effectLst/>
                        </a:rPr>
                        <a:t>Skewness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0.388198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21248397"/>
                  </a:ext>
                </a:extLst>
              </a:tr>
              <a:tr h="190500">
                <a:tc>
                  <a:txBody>
                    <a:bodyPr/>
                    <a:lstStyle/>
                    <a:p>
                      <a:pPr algn="l" fontAlgn="b"/>
                      <a:r>
                        <a:rPr lang="en-US" sz="1100" u="none" strike="noStrike">
                          <a:effectLst/>
                        </a:rPr>
                        <a:t>Range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8439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22834568"/>
                  </a:ext>
                </a:extLst>
              </a:tr>
              <a:tr h="190500">
                <a:tc>
                  <a:txBody>
                    <a:bodyPr/>
                    <a:lstStyle/>
                    <a:p>
                      <a:pPr algn="l" fontAlgn="b"/>
                      <a:r>
                        <a:rPr lang="en-US" sz="1100" u="none" strike="noStrike">
                          <a:effectLst/>
                        </a:rPr>
                        <a:t>Minimum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2756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53203870"/>
                  </a:ext>
                </a:extLst>
              </a:tr>
              <a:tr h="190500">
                <a:tc>
                  <a:txBody>
                    <a:bodyPr/>
                    <a:lstStyle/>
                    <a:p>
                      <a:pPr algn="l" fontAlgn="b"/>
                      <a:r>
                        <a:rPr lang="en-US" sz="1100" u="none" strike="noStrike">
                          <a:effectLst/>
                        </a:rPr>
                        <a:t>Maximum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11195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9339932"/>
                  </a:ext>
                </a:extLst>
              </a:tr>
              <a:tr h="190500">
                <a:tc>
                  <a:txBody>
                    <a:bodyPr/>
                    <a:lstStyle/>
                    <a:p>
                      <a:pPr algn="l" fontAlgn="b"/>
                      <a:r>
                        <a:rPr lang="en-US" sz="1100" u="none" strike="noStrike">
                          <a:effectLst/>
                        </a:rPr>
                        <a:t>Sum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184109</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10932754"/>
                  </a:ext>
                </a:extLst>
              </a:tr>
              <a:tr h="190500">
                <a:tc>
                  <a:txBody>
                    <a:bodyPr/>
                    <a:lstStyle/>
                    <a:p>
                      <a:pPr algn="l" fontAlgn="b"/>
                      <a:r>
                        <a:rPr lang="en-US" sz="1100" u="none" strike="noStrike">
                          <a:effectLst/>
                        </a:rPr>
                        <a:t>Count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30</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66051048"/>
                  </a:ext>
                </a:extLst>
              </a:tr>
            </a:tbl>
          </a:graphicData>
        </a:graphic>
      </p:graphicFrame>
      <p:sp>
        <p:nvSpPr>
          <p:cNvPr id="6" name="TextBox 5">
            <a:extLst>
              <a:ext uri="{FF2B5EF4-FFF2-40B4-BE49-F238E27FC236}">
                <a16:creationId xmlns:a16="http://schemas.microsoft.com/office/drawing/2014/main" id="{224728FB-33F7-53BD-A94B-41CF20033A68}"/>
              </a:ext>
            </a:extLst>
          </p:cNvPr>
          <p:cNvSpPr txBox="1"/>
          <p:nvPr/>
        </p:nvSpPr>
        <p:spPr>
          <a:xfrm>
            <a:off x="4411980" y="2390894"/>
            <a:ext cx="6096000" cy="369332"/>
          </a:xfrm>
          <a:prstGeom prst="rect">
            <a:avLst/>
          </a:prstGeom>
          <a:noFill/>
        </p:spPr>
        <p:txBody>
          <a:bodyPr wrap="square">
            <a:spAutoFit/>
          </a:bodyPr>
          <a:lstStyle/>
          <a:p>
            <a:r>
              <a:rPr lang="en-US" sz="1800" b="0" i="0" u="none" strike="noStrike" baseline="0" dirty="0"/>
              <a:t>Kurtosis-&gt;Platykurtic = flat distribution&lt;0</a:t>
            </a:r>
            <a:endParaRPr lang="en-US" dirty="0"/>
          </a:p>
        </p:txBody>
      </p:sp>
      <p:sp>
        <p:nvSpPr>
          <p:cNvPr id="10" name="TextBox 9">
            <a:extLst>
              <a:ext uri="{FF2B5EF4-FFF2-40B4-BE49-F238E27FC236}">
                <a16:creationId xmlns:a16="http://schemas.microsoft.com/office/drawing/2014/main" id="{69670446-2E1B-C28F-86F0-CEB4457C83F9}"/>
              </a:ext>
            </a:extLst>
          </p:cNvPr>
          <p:cNvSpPr txBox="1"/>
          <p:nvPr/>
        </p:nvSpPr>
        <p:spPr>
          <a:xfrm>
            <a:off x="4411980" y="2829073"/>
            <a:ext cx="6096000" cy="646331"/>
          </a:xfrm>
          <a:prstGeom prst="rect">
            <a:avLst/>
          </a:prstGeom>
          <a:noFill/>
        </p:spPr>
        <p:txBody>
          <a:bodyPr wrap="square">
            <a:spAutoFit/>
          </a:bodyPr>
          <a:lstStyle/>
          <a:p>
            <a:r>
              <a:rPr lang="en-US" dirty="0">
                <a:solidFill>
                  <a:schemeClr val="tx1">
                    <a:lumMod val="95000"/>
                    <a:lumOff val="5000"/>
                  </a:schemeClr>
                </a:solidFill>
              </a:rPr>
              <a:t>Skewness-&gt;skewed to the </a:t>
            </a:r>
            <a:r>
              <a:rPr lang="en-US" dirty="0" err="1">
                <a:solidFill>
                  <a:schemeClr val="tx1">
                    <a:lumMod val="95000"/>
                    <a:lumOff val="5000"/>
                  </a:schemeClr>
                </a:solidFill>
              </a:rPr>
              <a:t>right,as</a:t>
            </a:r>
            <a:r>
              <a:rPr lang="en-US" dirty="0">
                <a:solidFill>
                  <a:schemeClr val="tx1">
                    <a:lumMod val="95000"/>
                    <a:lumOff val="5000"/>
                  </a:schemeClr>
                </a:solidFill>
              </a:rPr>
              <a:t> the skewness is closer to 1,towards infinity.</a:t>
            </a:r>
            <a:endParaRPr lang="en-US" dirty="0"/>
          </a:p>
        </p:txBody>
      </p:sp>
    </p:spTree>
    <p:extLst>
      <p:ext uri="{BB962C8B-B14F-4D97-AF65-F5344CB8AC3E}">
        <p14:creationId xmlns:p14="http://schemas.microsoft.com/office/powerpoint/2010/main" val="1325553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850ABD66-8A4E-A5F0-3A3D-C5D9442BE9EB}"/>
              </a:ext>
            </a:extLst>
          </p:cNvPr>
          <p:cNvSpPr txBox="1"/>
          <p:nvPr/>
        </p:nvSpPr>
        <p:spPr>
          <a:xfrm>
            <a:off x="243840" y="-76200"/>
            <a:ext cx="10317480" cy="1077218"/>
          </a:xfrm>
          <a:prstGeom prst="rect">
            <a:avLst/>
          </a:prstGeom>
          <a:noFill/>
        </p:spPr>
        <p:txBody>
          <a:bodyPr wrap="square">
            <a:spAutoFit/>
          </a:bodyPr>
          <a:lstStyle/>
          <a:p>
            <a:pPr algn="l"/>
            <a:endParaRPr lang="en-US" sz="1400" b="0" i="0" u="none" strike="noStrike" baseline="0" dirty="0">
              <a:solidFill>
                <a:srgbClr val="000000"/>
              </a:solidFill>
              <a:latin typeface="Cambria" panose="02040503050406030204" pitchFamily="18" charset="0"/>
            </a:endParaRPr>
          </a:p>
          <a:p>
            <a:r>
              <a:rPr lang="en-US" sz="1400" b="0" i="0" u="none" strike="noStrike" baseline="0" dirty="0">
                <a:solidFill>
                  <a:schemeClr val="accent3">
                    <a:lumMod val="50000"/>
                  </a:schemeClr>
                </a:solidFill>
                <a:latin typeface="Cambria" panose="02040503050406030204" pitchFamily="18" charset="0"/>
              </a:rPr>
              <a:t> </a:t>
            </a:r>
          </a:p>
          <a:p>
            <a:r>
              <a:rPr lang="en-US" dirty="0">
                <a:solidFill>
                  <a:schemeClr val="accent3">
                    <a:lumMod val="50000"/>
                  </a:schemeClr>
                </a:solidFill>
                <a:latin typeface="Cambria" panose="02040503050406030204" pitchFamily="18" charset="0"/>
              </a:rPr>
              <a:t>5. Develop scatter diagrams using two numerical variables. </a:t>
            </a:r>
          </a:p>
          <a:p>
            <a:r>
              <a:rPr lang="en-US" dirty="0">
                <a:solidFill>
                  <a:schemeClr val="accent3">
                    <a:lumMod val="50000"/>
                  </a:schemeClr>
                </a:solidFill>
                <a:latin typeface="Cambria" panose="02040503050406030204" pitchFamily="18" charset="0"/>
              </a:rPr>
              <a:t>What does the scatter diagram indicate about the relationship between the two variables?</a:t>
            </a:r>
            <a:endParaRPr lang="en-US" dirty="0">
              <a:solidFill>
                <a:schemeClr val="accent3">
                  <a:lumMod val="50000"/>
                </a:schemeClr>
              </a:solidFill>
            </a:endParaRPr>
          </a:p>
        </p:txBody>
      </p:sp>
      <p:sp>
        <p:nvSpPr>
          <p:cNvPr id="17" name="TextBox 16">
            <a:extLst>
              <a:ext uri="{FF2B5EF4-FFF2-40B4-BE49-F238E27FC236}">
                <a16:creationId xmlns:a16="http://schemas.microsoft.com/office/drawing/2014/main" id="{AE147113-58D2-664A-9677-C91F91DFC34A}"/>
              </a:ext>
            </a:extLst>
          </p:cNvPr>
          <p:cNvSpPr txBox="1"/>
          <p:nvPr/>
        </p:nvSpPr>
        <p:spPr>
          <a:xfrm>
            <a:off x="1350644" y="4656505"/>
            <a:ext cx="9530715" cy="646331"/>
          </a:xfrm>
          <a:prstGeom prst="rect">
            <a:avLst/>
          </a:prstGeom>
          <a:noFill/>
        </p:spPr>
        <p:txBody>
          <a:bodyPr wrap="square">
            <a:spAutoFit/>
          </a:bodyPr>
          <a:lstStyle/>
          <a:p>
            <a:r>
              <a:rPr lang="en-US" sz="1800" b="0" i="0" u="none" strike="noStrike" dirty="0">
                <a:solidFill>
                  <a:schemeClr val="accent3">
                    <a:lumMod val="50000"/>
                  </a:schemeClr>
                </a:solidFill>
                <a:effectLst/>
                <a:latin typeface="Cambria" panose="02040503050406030204" pitchFamily="18" charset="0"/>
                <a:ea typeface="Cambria" panose="02040503050406030204" pitchFamily="18" charset="0"/>
              </a:rPr>
              <a:t>Considering that as the doctors increase ,the beds increase as </a:t>
            </a:r>
            <a:r>
              <a:rPr lang="en-US" sz="1800" b="0" i="0" u="none" strike="noStrike" dirty="0" err="1">
                <a:solidFill>
                  <a:schemeClr val="accent3">
                    <a:lumMod val="50000"/>
                  </a:schemeClr>
                </a:solidFill>
                <a:effectLst/>
                <a:latin typeface="Cambria" panose="02040503050406030204" pitchFamily="18" charset="0"/>
                <a:ea typeface="Cambria" panose="02040503050406030204" pitchFamily="18" charset="0"/>
              </a:rPr>
              <a:t>well,it’s</a:t>
            </a:r>
            <a:r>
              <a:rPr lang="en-US" sz="1800" b="0" i="0" u="none" strike="noStrike" dirty="0">
                <a:solidFill>
                  <a:schemeClr val="accent3">
                    <a:lumMod val="50000"/>
                  </a:schemeClr>
                </a:solidFill>
                <a:effectLst/>
                <a:latin typeface="Cambria" panose="02040503050406030204" pitchFamily="18" charset="0"/>
                <a:ea typeface="Cambria" panose="02040503050406030204" pitchFamily="18" charset="0"/>
              </a:rPr>
              <a:t> a strong positive correlation.</a:t>
            </a:r>
            <a:endParaRPr lang="en-US" dirty="0">
              <a:solidFill>
                <a:schemeClr val="accent3">
                  <a:lumMod val="50000"/>
                </a:schemeClr>
              </a:solidFill>
              <a:latin typeface="Cambria" panose="02040503050406030204" pitchFamily="18" charset="0"/>
              <a:ea typeface="Cambria" panose="02040503050406030204" pitchFamily="18" charset="0"/>
            </a:endParaRPr>
          </a:p>
        </p:txBody>
      </p:sp>
      <p:graphicFrame>
        <p:nvGraphicFramePr>
          <p:cNvPr id="19" name="Chart 18">
            <a:extLst>
              <a:ext uri="{FF2B5EF4-FFF2-40B4-BE49-F238E27FC236}">
                <a16:creationId xmlns:a16="http://schemas.microsoft.com/office/drawing/2014/main" id="{73C2F6A8-6FF0-4541-A68F-EC13825CB39A}"/>
              </a:ext>
            </a:extLst>
          </p:cNvPr>
          <p:cNvGraphicFramePr>
            <a:graphicFrameLocks/>
          </p:cNvGraphicFramePr>
          <p:nvPr>
            <p:extLst>
              <p:ext uri="{D42A27DB-BD31-4B8C-83A1-F6EECF244321}">
                <p14:modId xmlns:p14="http://schemas.microsoft.com/office/powerpoint/2010/main" val="3513830033"/>
              </p:ext>
            </p:extLst>
          </p:nvPr>
        </p:nvGraphicFramePr>
        <p:xfrm>
          <a:off x="5528739" y="1001018"/>
          <a:ext cx="5169741" cy="29613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85681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830580"/>
            <a:ext cx="6393180" cy="1630680"/>
          </a:xfrm>
        </p:spPr>
        <p:txBody>
          <a:bodyPr/>
          <a:lstStyle/>
          <a:p>
            <a:pPr algn="l"/>
            <a:r>
              <a:rPr lang="en-US" sz="2400" dirty="0">
                <a:latin typeface="Century Gothic" panose="020B0502020202020204" pitchFamily="34" charset="0"/>
              </a:rPr>
              <a:t>6.</a:t>
            </a:r>
            <a:r>
              <a:rPr lang="en-US" sz="2400" b="0" i="0" u="none" strike="noStrike" baseline="0" dirty="0">
                <a:solidFill>
                  <a:srgbClr val="000000"/>
                </a:solidFill>
                <a:latin typeface="Cambria" panose="02040503050406030204" pitchFamily="18" charset="0"/>
              </a:rPr>
              <a:t> </a:t>
            </a:r>
            <a:r>
              <a:rPr lang="en-US" sz="2400" i="0" u="none" strike="noStrike" baseline="0" dirty="0">
                <a:solidFill>
                  <a:schemeClr val="accent3">
                    <a:lumMod val="50000"/>
                  </a:schemeClr>
                </a:solidFill>
                <a:latin typeface="Century Gothic" panose="020B0502020202020204" pitchFamily="34" charset="0"/>
              </a:rPr>
              <a:t>Identify the outliers. Develop and discuss the boxplot for the distribution of each variable. (Hospitals)</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 </a:t>
            </a:r>
            <a:br>
              <a:rPr lang="en-US" sz="2400" i="0" u="none" strike="noStrike" baseline="0" dirty="0">
                <a:solidFill>
                  <a:schemeClr val="accent3">
                    <a:lumMod val="50000"/>
                  </a:schemeClr>
                </a:solidFill>
                <a:latin typeface="Century Gothic" panose="020B0502020202020204" pitchFamily="34" charset="0"/>
              </a:rPr>
            </a:br>
            <a:r>
              <a:rPr lang="en-US" sz="2400" dirty="0"/>
              <a:t>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p:txBody>
          <a:bodyPr/>
          <a:lstStyle/>
          <a:p>
            <a:r>
              <a:rPr lang="en-US" dirty="0"/>
              <a:t>Health care quality</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21</a:t>
            </a:fld>
            <a:endParaRPr lang="en-US" dirty="0"/>
          </a:p>
        </p:txBody>
      </p:sp>
      <mc:AlternateContent xmlns:mc="http://schemas.openxmlformats.org/markup-compatibility/2006">
        <mc:Choice xmlns:cx1="http://schemas.microsoft.com/office/drawing/2015/9/8/chartex" xmlns="" Requires="cx1">
          <p:graphicFrame>
            <p:nvGraphicFramePr>
              <p:cNvPr id="8" name="Chart 7">
                <a:extLst>
                  <a:ext uri="{FF2B5EF4-FFF2-40B4-BE49-F238E27FC236}">
                    <a16:creationId xmlns:a16="http://schemas.microsoft.com/office/drawing/2014/main" id="{52BCF9A1-5246-4241-80DB-CE5A4AA14489}"/>
                  </a:ext>
                </a:extLst>
              </p:cNvPr>
              <p:cNvGraphicFramePr/>
              <p:nvPr>
                <p:extLst>
                  <p:ext uri="{D42A27DB-BD31-4B8C-83A1-F6EECF244321}">
                    <p14:modId xmlns:p14="http://schemas.microsoft.com/office/powerpoint/2010/main" val="50527080"/>
                  </p:ext>
                </p:extLst>
              </p:nvPr>
            </p:nvGraphicFramePr>
            <p:xfrm>
              <a:off x="7223760" y="2057400"/>
              <a:ext cx="4571999" cy="27432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8" name="Chart 7">
                <a:extLst>
                  <a:ext uri="{FF2B5EF4-FFF2-40B4-BE49-F238E27FC236}">
                    <a16:creationId xmlns:a16="http://schemas.microsoft.com/office/drawing/2014/main" id="{52BCF9A1-5246-4241-80DB-CE5A4AA14489}"/>
                  </a:ext>
                </a:extLst>
              </p:cNvPr>
              <p:cNvPicPr>
                <a:picLocks noGrp="1" noRot="1" noChangeAspect="1" noMove="1" noResize="1" noEditPoints="1" noAdjustHandles="1" noChangeArrowheads="1" noChangeShapeType="1"/>
              </p:cNvPicPr>
              <p:nvPr/>
            </p:nvPicPr>
            <p:blipFill>
              <a:blip r:embed="rId3"/>
              <a:stretch>
                <a:fillRect/>
              </a:stretch>
            </p:blipFill>
            <p:spPr>
              <a:xfrm>
                <a:off x="7223760" y="2057400"/>
                <a:ext cx="4571999" cy="2743200"/>
              </a:xfrm>
              <a:prstGeom prst="rect">
                <a:avLst/>
              </a:prstGeom>
            </p:spPr>
          </p:pic>
        </mc:Fallback>
      </mc:AlternateContent>
      <p:sp>
        <p:nvSpPr>
          <p:cNvPr id="9" name="TextBox 8">
            <a:extLst>
              <a:ext uri="{FF2B5EF4-FFF2-40B4-BE49-F238E27FC236}">
                <a16:creationId xmlns:a16="http://schemas.microsoft.com/office/drawing/2014/main" id="{D88B74E7-6284-3545-CA0D-11C2EC003418}"/>
              </a:ext>
            </a:extLst>
          </p:cNvPr>
          <p:cNvSpPr txBox="1"/>
          <p:nvPr/>
        </p:nvSpPr>
        <p:spPr>
          <a:xfrm>
            <a:off x="541020" y="2531626"/>
            <a:ext cx="4770120" cy="646331"/>
          </a:xfrm>
          <a:prstGeom prst="rect">
            <a:avLst/>
          </a:prstGeom>
          <a:noFill/>
        </p:spPr>
        <p:txBody>
          <a:bodyPr wrap="square" rtlCol="0">
            <a:spAutoFit/>
          </a:bodyPr>
          <a:lstStyle/>
          <a:p>
            <a:r>
              <a:rPr lang="en-US" dirty="0"/>
              <a:t>Each boxplot has whiskers where it’s depicted by the drawing.</a:t>
            </a: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0FB13411-2EA7-A313-62E2-FD816A470E3C}"/>
                  </a:ext>
                </a:extLst>
              </p14:cNvPr>
              <p14:cNvContentPartPr/>
              <p14:nvPr/>
            </p14:nvContentPartPr>
            <p14:xfrm>
              <a:off x="10108500" y="3042360"/>
              <a:ext cx="331920" cy="668520"/>
            </p14:xfrm>
          </p:contentPart>
        </mc:Choice>
        <mc:Fallback xmlns="">
          <p:pic>
            <p:nvPicPr>
              <p:cNvPr id="10" name="Ink 9">
                <a:extLst>
                  <a:ext uri="{FF2B5EF4-FFF2-40B4-BE49-F238E27FC236}">
                    <a16:creationId xmlns:a16="http://schemas.microsoft.com/office/drawing/2014/main" id="{0FB13411-2EA7-A313-62E2-FD816A470E3C}"/>
                  </a:ext>
                </a:extLst>
              </p:cNvPr>
              <p:cNvPicPr/>
              <p:nvPr/>
            </p:nvPicPr>
            <p:blipFill>
              <a:blip r:embed="rId5"/>
              <a:stretch>
                <a:fillRect/>
              </a:stretch>
            </p:blipFill>
            <p:spPr>
              <a:xfrm>
                <a:off x="10102380" y="3036240"/>
                <a:ext cx="344160" cy="680760"/>
              </a:xfrm>
              <a:prstGeom prst="rect">
                <a:avLst/>
              </a:prstGeom>
            </p:spPr>
          </p:pic>
        </mc:Fallback>
      </mc:AlternateContent>
      <p:grpSp>
        <p:nvGrpSpPr>
          <p:cNvPr id="31" name="Group 30">
            <a:extLst>
              <a:ext uri="{FF2B5EF4-FFF2-40B4-BE49-F238E27FC236}">
                <a16:creationId xmlns:a16="http://schemas.microsoft.com/office/drawing/2014/main" id="{6D40BBF9-B278-E93D-463B-8FA550C8AC6D}"/>
              </a:ext>
            </a:extLst>
          </p:cNvPr>
          <p:cNvGrpSpPr/>
          <p:nvPr/>
        </p:nvGrpSpPr>
        <p:grpSpPr>
          <a:xfrm>
            <a:off x="10462020" y="3093840"/>
            <a:ext cx="1197360" cy="291240"/>
            <a:chOff x="10462020" y="3093840"/>
            <a:chExt cx="1197360" cy="29124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49D2BAE-1C6F-5120-9C65-224E51DDEC1C}"/>
                    </a:ext>
                  </a:extLst>
                </p14:cNvPr>
                <p14:cNvContentPartPr/>
                <p14:nvPr/>
              </p14:nvContentPartPr>
              <p14:xfrm>
                <a:off x="10462020" y="3309840"/>
                <a:ext cx="124920" cy="35640"/>
              </p14:xfrm>
            </p:contentPart>
          </mc:Choice>
          <mc:Fallback xmlns="">
            <p:pic>
              <p:nvPicPr>
                <p:cNvPr id="11" name="Ink 10">
                  <a:extLst>
                    <a:ext uri="{FF2B5EF4-FFF2-40B4-BE49-F238E27FC236}">
                      <a16:creationId xmlns:a16="http://schemas.microsoft.com/office/drawing/2014/main" id="{749D2BAE-1C6F-5120-9C65-224E51DDEC1C}"/>
                    </a:ext>
                  </a:extLst>
                </p:cNvPr>
                <p:cNvPicPr/>
                <p:nvPr/>
              </p:nvPicPr>
              <p:blipFill>
                <a:blip r:embed="rId7"/>
                <a:stretch>
                  <a:fillRect/>
                </a:stretch>
              </p:blipFill>
              <p:spPr>
                <a:xfrm>
                  <a:off x="10455900" y="3303720"/>
                  <a:ext cx="1371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F72E5F09-4E74-21C0-3E7E-5B2A31635575}"/>
                    </a:ext>
                  </a:extLst>
                </p14:cNvPr>
                <p14:cNvContentPartPr/>
                <p14:nvPr/>
              </p14:nvContentPartPr>
              <p14:xfrm>
                <a:off x="10538340" y="3253680"/>
                <a:ext cx="128520" cy="131400"/>
              </p14:xfrm>
            </p:contentPart>
          </mc:Choice>
          <mc:Fallback xmlns="">
            <p:pic>
              <p:nvPicPr>
                <p:cNvPr id="12" name="Ink 11">
                  <a:extLst>
                    <a:ext uri="{FF2B5EF4-FFF2-40B4-BE49-F238E27FC236}">
                      <a16:creationId xmlns:a16="http://schemas.microsoft.com/office/drawing/2014/main" id="{F72E5F09-4E74-21C0-3E7E-5B2A31635575}"/>
                    </a:ext>
                  </a:extLst>
                </p:cNvPr>
                <p:cNvPicPr/>
                <p:nvPr/>
              </p:nvPicPr>
              <p:blipFill>
                <a:blip r:embed="rId9"/>
                <a:stretch>
                  <a:fillRect/>
                </a:stretch>
              </p:blipFill>
              <p:spPr>
                <a:xfrm>
                  <a:off x="10532220" y="3247560"/>
                  <a:ext cx="1407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40EEB78A-773F-6C05-57CC-804C815565CF}"/>
                    </a:ext>
                  </a:extLst>
                </p14:cNvPr>
                <p14:cNvContentPartPr/>
                <p14:nvPr/>
              </p14:nvContentPartPr>
              <p14:xfrm>
                <a:off x="10629780" y="3108960"/>
                <a:ext cx="145080" cy="117360"/>
              </p14:xfrm>
            </p:contentPart>
          </mc:Choice>
          <mc:Fallback xmlns="">
            <p:pic>
              <p:nvPicPr>
                <p:cNvPr id="13" name="Ink 12">
                  <a:extLst>
                    <a:ext uri="{FF2B5EF4-FFF2-40B4-BE49-F238E27FC236}">
                      <a16:creationId xmlns:a16="http://schemas.microsoft.com/office/drawing/2014/main" id="{40EEB78A-773F-6C05-57CC-804C815565CF}"/>
                    </a:ext>
                  </a:extLst>
                </p:cNvPr>
                <p:cNvPicPr/>
                <p:nvPr/>
              </p:nvPicPr>
              <p:blipFill>
                <a:blip r:embed="rId11"/>
                <a:stretch>
                  <a:fillRect/>
                </a:stretch>
              </p:blipFill>
              <p:spPr>
                <a:xfrm>
                  <a:off x="10623660" y="3102840"/>
                  <a:ext cx="1573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28A2B615-CD46-7026-FF01-88BE7E76B02F}"/>
                    </a:ext>
                  </a:extLst>
                </p14:cNvPr>
                <p14:cNvContentPartPr/>
                <p14:nvPr/>
              </p14:nvContentPartPr>
              <p14:xfrm>
                <a:off x="10705740" y="3101400"/>
                <a:ext cx="133200" cy="148680"/>
              </p14:xfrm>
            </p:contentPart>
          </mc:Choice>
          <mc:Fallback xmlns="">
            <p:pic>
              <p:nvPicPr>
                <p:cNvPr id="14" name="Ink 13">
                  <a:extLst>
                    <a:ext uri="{FF2B5EF4-FFF2-40B4-BE49-F238E27FC236}">
                      <a16:creationId xmlns:a16="http://schemas.microsoft.com/office/drawing/2014/main" id="{28A2B615-CD46-7026-FF01-88BE7E76B02F}"/>
                    </a:ext>
                  </a:extLst>
                </p:cNvPr>
                <p:cNvPicPr/>
                <p:nvPr/>
              </p:nvPicPr>
              <p:blipFill>
                <a:blip r:embed="rId13"/>
                <a:stretch>
                  <a:fillRect/>
                </a:stretch>
              </p:blipFill>
              <p:spPr>
                <a:xfrm>
                  <a:off x="10699620" y="3095280"/>
                  <a:ext cx="1454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E97ACE47-366D-AC7B-6510-22F0BDA5DDE9}"/>
                    </a:ext>
                  </a:extLst>
                </p14:cNvPr>
                <p14:cNvContentPartPr/>
                <p14:nvPr/>
              </p14:nvContentPartPr>
              <p14:xfrm>
                <a:off x="10842540" y="3108960"/>
                <a:ext cx="16200" cy="90720"/>
              </p14:xfrm>
            </p:contentPart>
          </mc:Choice>
          <mc:Fallback xmlns="">
            <p:pic>
              <p:nvPicPr>
                <p:cNvPr id="15" name="Ink 14">
                  <a:extLst>
                    <a:ext uri="{FF2B5EF4-FFF2-40B4-BE49-F238E27FC236}">
                      <a16:creationId xmlns:a16="http://schemas.microsoft.com/office/drawing/2014/main" id="{E97ACE47-366D-AC7B-6510-22F0BDA5DDE9}"/>
                    </a:ext>
                  </a:extLst>
                </p:cNvPr>
                <p:cNvPicPr/>
                <p:nvPr/>
              </p:nvPicPr>
              <p:blipFill>
                <a:blip r:embed="rId15"/>
                <a:stretch>
                  <a:fillRect/>
                </a:stretch>
              </p:blipFill>
              <p:spPr>
                <a:xfrm>
                  <a:off x="10836420" y="3102840"/>
                  <a:ext cx="284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68DBABA7-E80B-6A72-FC7A-2B57FEFC1DA6}"/>
                    </a:ext>
                  </a:extLst>
                </p14:cNvPr>
                <p14:cNvContentPartPr/>
                <p14:nvPr/>
              </p14:nvContentPartPr>
              <p14:xfrm>
                <a:off x="10949100" y="3093840"/>
                <a:ext cx="7200" cy="145800"/>
              </p14:xfrm>
            </p:contentPart>
          </mc:Choice>
          <mc:Fallback xmlns="">
            <p:pic>
              <p:nvPicPr>
                <p:cNvPr id="17" name="Ink 16">
                  <a:extLst>
                    <a:ext uri="{FF2B5EF4-FFF2-40B4-BE49-F238E27FC236}">
                      <a16:creationId xmlns:a16="http://schemas.microsoft.com/office/drawing/2014/main" id="{68DBABA7-E80B-6A72-FC7A-2B57FEFC1DA6}"/>
                    </a:ext>
                  </a:extLst>
                </p:cNvPr>
                <p:cNvPicPr/>
                <p:nvPr/>
              </p:nvPicPr>
              <p:blipFill>
                <a:blip r:embed="rId17"/>
                <a:stretch>
                  <a:fillRect/>
                </a:stretch>
              </p:blipFill>
              <p:spPr>
                <a:xfrm>
                  <a:off x="10942980" y="3087720"/>
                  <a:ext cx="194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0FC0AAF6-3F68-8AC2-0E6C-9A23D8EB2BEC}"/>
                    </a:ext>
                  </a:extLst>
                </p14:cNvPr>
                <p14:cNvContentPartPr/>
                <p14:nvPr/>
              </p14:nvContentPartPr>
              <p14:xfrm>
                <a:off x="10972500" y="3162240"/>
                <a:ext cx="52560" cy="61920"/>
              </p14:xfrm>
            </p:contentPart>
          </mc:Choice>
          <mc:Fallback xmlns="">
            <p:pic>
              <p:nvPicPr>
                <p:cNvPr id="19" name="Ink 18">
                  <a:extLst>
                    <a:ext uri="{FF2B5EF4-FFF2-40B4-BE49-F238E27FC236}">
                      <a16:creationId xmlns:a16="http://schemas.microsoft.com/office/drawing/2014/main" id="{0FC0AAF6-3F68-8AC2-0E6C-9A23D8EB2BEC}"/>
                    </a:ext>
                  </a:extLst>
                </p:cNvPr>
                <p:cNvPicPr/>
                <p:nvPr/>
              </p:nvPicPr>
              <p:blipFill>
                <a:blip r:embed="rId19"/>
                <a:stretch>
                  <a:fillRect/>
                </a:stretch>
              </p:blipFill>
              <p:spPr>
                <a:xfrm>
                  <a:off x="10966380" y="3156120"/>
                  <a:ext cx="648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70FBB267-BBBA-3049-A847-22F5F0BFF457}"/>
                    </a:ext>
                  </a:extLst>
                </p14:cNvPr>
                <p14:cNvContentPartPr/>
                <p14:nvPr/>
              </p14:nvContentPartPr>
              <p14:xfrm>
                <a:off x="11086980" y="3154680"/>
                <a:ext cx="360" cy="83520"/>
              </p14:xfrm>
            </p:contentPart>
          </mc:Choice>
          <mc:Fallback xmlns="">
            <p:pic>
              <p:nvPicPr>
                <p:cNvPr id="21" name="Ink 20">
                  <a:extLst>
                    <a:ext uri="{FF2B5EF4-FFF2-40B4-BE49-F238E27FC236}">
                      <a16:creationId xmlns:a16="http://schemas.microsoft.com/office/drawing/2014/main" id="{70FBB267-BBBA-3049-A847-22F5F0BFF457}"/>
                    </a:ext>
                  </a:extLst>
                </p:cNvPr>
                <p:cNvPicPr/>
                <p:nvPr/>
              </p:nvPicPr>
              <p:blipFill>
                <a:blip r:embed="rId21"/>
                <a:stretch>
                  <a:fillRect/>
                </a:stretch>
              </p:blipFill>
              <p:spPr>
                <a:xfrm>
                  <a:off x="11080860" y="3148560"/>
                  <a:ext cx="126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A3BC6603-9E66-47C5-BB2C-31FCA69C3C28}"/>
                    </a:ext>
                  </a:extLst>
                </p14:cNvPr>
                <p14:cNvContentPartPr/>
                <p14:nvPr/>
              </p14:nvContentPartPr>
              <p14:xfrm>
                <a:off x="11109660" y="3093840"/>
                <a:ext cx="360" cy="360"/>
              </p14:xfrm>
            </p:contentPart>
          </mc:Choice>
          <mc:Fallback xmlns="">
            <p:pic>
              <p:nvPicPr>
                <p:cNvPr id="22" name="Ink 21">
                  <a:extLst>
                    <a:ext uri="{FF2B5EF4-FFF2-40B4-BE49-F238E27FC236}">
                      <a16:creationId xmlns:a16="http://schemas.microsoft.com/office/drawing/2014/main" id="{A3BC6603-9E66-47C5-BB2C-31FCA69C3C28}"/>
                    </a:ext>
                  </a:extLst>
                </p:cNvPr>
                <p:cNvPicPr/>
                <p:nvPr/>
              </p:nvPicPr>
              <p:blipFill>
                <a:blip r:embed="rId23"/>
                <a:stretch>
                  <a:fillRect/>
                </a:stretch>
              </p:blipFill>
              <p:spPr>
                <a:xfrm>
                  <a:off x="11103540" y="30877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304D54A2-C23A-3277-6CBB-987D772C11AB}"/>
                    </a:ext>
                  </a:extLst>
                </p14:cNvPr>
                <p14:cNvContentPartPr/>
                <p14:nvPr/>
              </p14:nvContentPartPr>
              <p14:xfrm>
                <a:off x="11169420" y="3109320"/>
                <a:ext cx="86400" cy="161280"/>
              </p14:xfrm>
            </p:contentPart>
          </mc:Choice>
          <mc:Fallback xmlns="">
            <p:pic>
              <p:nvPicPr>
                <p:cNvPr id="23" name="Ink 22">
                  <a:extLst>
                    <a:ext uri="{FF2B5EF4-FFF2-40B4-BE49-F238E27FC236}">
                      <a16:creationId xmlns:a16="http://schemas.microsoft.com/office/drawing/2014/main" id="{304D54A2-C23A-3277-6CBB-987D772C11AB}"/>
                    </a:ext>
                  </a:extLst>
                </p:cNvPr>
                <p:cNvPicPr/>
                <p:nvPr/>
              </p:nvPicPr>
              <p:blipFill>
                <a:blip r:embed="rId25"/>
                <a:stretch>
                  <a:fillRect/>
                </a:stretch>
              </p:blipFill>
              <p:spPr>
                <a:xfrm>
                  <a:off x="11163300" y="3103200"/>
                  <a:ext cx="986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660B4EA5-7219-85F5-6CD2-C1D3D099169D}"/>
                    </a:ext>
                  </a:extLst>
                </p14:cNvPr>
                <p14:cNvContentPartPr/>
                <p14:nvPr/>
              </p14:nvContentPartPr>
              <p14:xfrm>
                <a:off x="11300100" y="3108960"/>
                <a:ext cx="14040" cy="100440"/>
              </p14:xfrm>
            </p:contentPart>
          </mc:Choice>
          <mc:Fallback xmlns="">
            <p:pic>
              <p:nvPicPr>
                <p:cNvPr id="25" name="Ink 24">
                  <a:extLst>
                    <a:ext uri="{FF2B5EF4-FFF2-40B4-BE49-F238E27FC236}">
                      <a16:creationId xmlns:a16="http://schemas.microsoft.com/office/drawing/2014/main" id="{660B4EA5-7219-85F5-6CD2-C1D3D099169D}"/>
                    </a:ext>
                  </a:extLst>
                </p:cNvPr>
                <p:cNvPicPr/>
                <p:nvPr/>
              </p:nvPicPr>
              <p:blipFill>
                <a:blip r:embed="rId27"/>
                <a:stretch>
                  <a:fillRect/>
                </a:stretch>
              </p:blipFill>
              <p:spPr>
                <a:xfrm>
                  <a:off x="11293980" y="3102840"/>
                  <a:ext cx="262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97461B75-0844-9FE8-0FD2-47C6FC4E67EA}"/>
                    </a:ext>
                  </a:extLst>
                </p14:cNvPr>
                <p14:cNvContentPartPr/>
                <p14:nvPr/>
              </p14:nvContentPartPr>
              <p14:xfrm>
                <a:off x="11323140" y="3119760"/>
                <a:ext cx="55440" cy="20160"/>
              </p14:xfrm>
            </p:contentPart>
          </mc:Choice>
          <mc:Fallback xmlns="">
            <p:pic>
              <p:nvPicPr>
                <p:cNvPr id="26" name="Ink 25">
                  <a:extLst>
                    <a:ext uri="{FF2B5EF4-FFF2-40B4-BE49-F238E27FC236}">
                      <a16:creationId xmlns:a16="http://schemas.microsoft.com/office/drawing/2014/main" id="{97461B75-0844-9FE8-0FD2-47C6FC4E67EA}"/>
                    </a:ext>
                  </a:extLst>
                </p:cNvPr>
                <p:cNvPicPr/>
                <p:nvPr/>
              </p:nvPicPr>
              <p:blipFill>
                <a:blip r:embed="rId29"/>
                <a:stretch>
                  <a:fillRect/>
                </a:stretch>
              </p:blipFill>
              <p:spPr>
                <a:xfrm>
                  <a:off x="11317020" y="3113640"/>
                  <a:ext cx="676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ACE5BC4D-AF56-8970-B863-379EAAD869A9}"/>
                    </a:ext>
                  </a:extLst>
                </p14:cNvPr>
                <p14:cNvContentPartPr/>
                <p14:nvPr/>
              </p14:nvContentPartPr>
              <p14:xfrm>
                <a:off x="11292540" y="3162240"/>
                <a:ext cx="73440" cy="46080"/>
              </p14:xfrm>
            </p:contentPart>
          </mc:Choice>
          <mc:Fallback xmlns="">
            <p:pic>
              <p:nvPicPr>
                <p:cNvPr id="27" name="Ink 26">
                  <a:extLst>
                    <a:ext uri="{FF2B5EF4-FFF2-40B4-BE49-F238E27FC236}">
                      <a16:creationId xmlns:a16="http://schemas.microsoft.com/office/drawing/2014/main" id="{ACE5BC4D-AF56-8970-B863-379EAAD869A9}"/>
                    </a:ext>
                  </a:extLst>
                </p:cNvPr>
                <p:cNvPicPr/>
                <p:nvPr/>
              </p:nvPicPr>
              <p:blipFill>
                <a:blip r:embed="rId31"/>
                <a:stretch>
                  <a:fillRect/>
                </a:stretch>
              </p:blipFill>
              <p:spPr>
                <a:xfrm>
                  <a:off x="11286420" y="3156120"/>
                  <a:ext cx="8568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918602C2-97CC-42B0-B783-E02116CB7DFC}"/>
                    </a:ext>
                  </a:extLst>
                </p14:cNvPr>
                <p14:cNvContentPartPr/>
                <p14:nvPr/>
              </p14:nvContentPartPr>
              <p14:xfrm>
                <a:off x="11452740" y="3107520"/>
                <a:ext cx="74880" cy="107640"/>
              </p14:xfrm>
            </p:contentPart>
          </mc:Choice>
          <mc:Fallback xmlns="">
            <p:pic>
              <p:nvPicPr>
                <p:cNvPr id="28" name="Ink 27">
                  <a:extLst>
                    <a:ext uri="{FF2B5EF4-FFF2-40B4-BE49-F238E27FC236}">
                      <a16:creationId xmlns:a16="http://schemas.microsoft.com/office/drawing/2014/main" id="{918602C2-97CC-42B0-B783-E02116CB7DFC}"/>
                    </a:ext>
                  </a:extLst>
                </p:cNvPr>
                <p:cNvPicPr/>
                <p:nvPr/>
              </p:nvPicPr>
              <p:blipFill>
                <a:blip r:embed="rId33"/>
                <a:stretch>
                  <a:fillRect/>
                </a:stretch>
              </p:blipFill>
              <p:spPr>
                <a:xfrm>
                  <a:off x="11446620" y="3101400"/>
                  <a:ext cx="871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EA9C229B-240C-1428-D26A-0198D1F61FEF}"/>
                    </a:ext>
                  </a:extLst>
                </p14:cNvPr>
                <p14:cNvContentPartPr/>
                <p14:nvPr/>
              </p14:nvContentPartPr>
              <p14:xfrm>
                <a:off x="11581980" y="3093840"/>
                <a:ext cx="360" cy="99000"/>
              </p14:xfrm>
            </p:contentPart>
          </mc:Choice>
          <mc:Fallback xmlns="">
            <p:pic>
              <p:nvPicPr>
                <p:cNvPr id="29" name="Ink 28">
                  <a:extLst>
                    <a:ext uri="{FF2B5EF4-FFF2-40B4-BE49-F238E27FC236}">
                      <a16:creationId xmlns:a16="http://schemas.microsoft.com/office/drawing/2014/main" id="{EA9C229B-240C-1428-D26A-0198D1F61FEF}"/>
                    </a:ext>
                  </a:extLst>
                </p:cNvPr>
                <p:cNvPicPr/>
                <p:nvPr/>
              </p:nvPicPr>
              <p:blipFill>
                <a:blip r:embed="rId35"/>
                <a:stretch>
                  <a:fillRect/>
                </a:stretch>
              </p:blipFill>
              <p:spPr>
                <a:xfrm>
                  <a:off x="11575860" y="3087720"/>
                  <a:ext cx="126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3F768AF1-6C85-9490-BCD7-22594A58AD2C}"/>
                    </a:ext>
                  </a:extLst>
                </p14:cNvPr>
                <p14:cNvContentPartPr/>
                <p14:nvPr/>
              </p14:nvContentPartPr>
              <p14:xfrm>
                <a:off x="11581980" y="3123720"/>
                <a:ext cx="77400" cy="21960"/>
              </p14:xfrm>
            </p:contentPart>
          </mc:Choice>
          <mc:Fallback xmlns="">
            <p:pic>
              <p:nvPicPr>
                <p:cNvPr id="30" name="Ink 29">
                  <a:extLst>
                    <a:ext uri="{FF2B5EF4-FFF2-40B4-BE49-F238E27FC236}">
                      <a16:creationId xmlns:a16="http://schemas.microsoft.com/office/drawing/2014/main" id="{3F768AF1-6C85-9490-BCD7-22594A58AD2C}"/>
                    </a:ext>
                  </a:extLst>
                </p:cNvPr>
                <p:cNvPicPr/>
                <p:nvPr/>
              </p:nvPicPr>
              <p:blipFill>
                <a:blip r:embed="rId37"/>
                <a:stretch>
                  <a:fillRect/>
                </a:stretch>
              </p:blipFill>
              <p:spPr>
                <a:xfrm>
                  <a:off x="11575860" y="3117600"/>
                  <a:ext cx="89640" cy="34200"/>
                </a:xfrm>
                <a:prstGeom prst="rect">
                  <a:avLst/>
                </a:prstGeom>
              </p:spPr>
            </p:pic>
          </mc:Fallback>
        </mc:AlternateContent>
      </p:grpSp>
      <p:graphicFrame>
        <p:nvGraphicFramePr>
          <p:cNvPr id="33" name="Table 32">
            <a:extLst>
              <a:ext uri="{FF2B5EF4-FFF2-40B4-BE49-F238E27FC236}">
                <a16:creationId xmlns:a16="http://schemas.microsoft.com/office/drawing/2014/main" id="{37377CAB-9BB6-7FE6-7633-088F9EEB6F27}"/>
              </a:ext>
            </a:extLst>
          </p:cNvPr>
          <p:cNvGraphicFramePr>
            <a:graphicFrameLocks noGrp="1"/>
          </p:cNvGraphicFramePr>
          <p:nvPr>
            <p:extLst>
              <p:ext uri="{D42A27DB-BD31-4B8C-83A1-F6EECF244321}">
                <p14:modId xmlns:p14="http://schemas.microsoft.com/office/powerpoint/2010/main" val="2364430572"/>
              </p:ext>
            </p:extLst>
          </p:nvPr>
        </p:nvGraphicFramePr>
        <p:xfrm>
          <a:off x="2340610" y="3105784"/>
          <a:ext cx="2832100" cy="2426333"/>
        </p:xfrm>
        <a:graphic>
          <a:graphicData uri="http://schemas.openxmlformats.org/drawingml/2006/table">
            <a:tbl>
              <a:tblPr>
                <a:tableStyleId>{5C22544A-7EE6-4342-B048-85BDC9FD1C3A}</a:tableStyleId>
              </a:tblPr>
              <a:tblGrid>
                <a:gridCol w="1206500">
                  <a:extLst>
                    <a:ext uri="{9D8B030D-6E8A-4147-A177-3AD203B41FA5}">
                      <a16:colId xmlns:a16="http://schemas.microsoft.com/office/drawing/2014/main" val="507760915"/>
                    </a:ext>
                  </a:extLst>
                </a:gridCol>
                <a:gridCol w="889000">
                  <a:extLst>
                    <a:ext uri="{9D8B030D-6E8A-4147-A177-3AD203B41FA5}">
                      <a16:colId xmlns:a16="http://schemas.microsoft.com/office/drawing/2014/main" val="826409951"/>
                    </a:ext>
                  </a:extLst>
                </a:gridCol>
                <a:gridCol w="736600">
                  <a:extLst>
                    <a:ext uri="{9D8B030D-6E8A-4147-A177-3AD203B41FA5}">
                      <a16:colId xmlns:a16="http://schemas.microsoft.com/office/drawing/2014/main" val="3393685893"/>
                    </a:ext>
                  </a:extLst>
                </a:gridCol>
              </a:tblGrid>
              <a:tr h="652698">
                <a:tc>
                  <a:txBody>
                    <a:bodyPr/>
                    <a:lstStyle/>
                    <a:p>
                      <a:pPr algn="l" fontAlgn="b"/>
                      <a:r>
                        <a:rPr lang="en-US" sz="1100" u="none" strike="noStrike">
                          <a:effectLst/>
                        </a:rPr>
                        <a:t>Q1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72683325"/>
                  </a:ext>
                </a:extLst>
              </a:tr>
              <a:tr h="354727">
                <a:tc>
                  <a:txBody>
                    <a:bodyPr/>
                    <a:lstStyle/>
                    <a:p>
                      <a:pPr algn="l" fontAlgn="b"/>
                      <a:r>
                        <a:rPr lang="en-US" sz="1100" u="none" strike="noStrike">
                          <a:effectLst/>
                        </a:rPr>
                        <a:t>Q3</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95341195"/>
                  </a:ext>
                </a:extLst>
              </a:tr>
              <a:tr h="354727">
                <a:tc>
                  <a:txBody>
                    <a:bodyPr/>
                    <a:lstStyle/>
                    <a:p>
                      <a:pPr algn="l" fontAlgn="b"/>
                      <a:r>
                        <a:rPr lang="en-US" sz="1100" u="none" strike="noStrike">
                          <a:effectLst/>
                        </a:rPr>
                        <a:t>IRQ</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10.75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9720093"/>
                  </a:ext>
                </a:extLst>
              </a:tr>
              <a:tr h="354727">
                <a:tc>
                  <a:txBody>
                    <a:bodyPr/>
                    <a:lstStyle/>
                    <a:p>
                      <a:pPr algn="l" fontAlgn="b"/>
                      <a:r>
                        <a:rPr lang="en-US" sz="1100" u="none" strike="noStrike">
                          <a:effectLst/>
                        </a:rPr>
                        <a:t>Lower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-11.125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63717644"/>
                  </a:ext>
                </a:extLst>
              </a:tr>
              <a:tr h="354727">
                <a:tc>
                  <a:txBody>
                    <a:bodyPr/>
                    <a:lstStyle/>
                    <a:p>
                      <a:pPr algn="l" fontAlgn="b"/>
                      <a:r>
                        <a:rPr lang="en-US" sz="1100" u="none" strike="noStrike">
                          <a:effectLst/>
                        </a:rPr>
                        <a:t>Upper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31.875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23369482"/>
                  </a:ext>
                </a:extLst>
              </a:tr>
              <a:tr h="354727">
                <a:tc>
                  <a:txBody>
                    <a:bodyPr/>
                    <a:lstStyle/>
                    <a:p>
                      <a:pPr algn="l" fontAlgn="b"/>
                      <a:r>
                        <a:rPr lang="en-US" sz="1100" u="none" strike="noStrike">
                          <a:effectLst/>
                        </a:rPr>
                        <a:t>Outliers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Cluj</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37</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197826"/>
                  </a:ext>
                </a:extLst>
              </a:tr>
            </a:tbl>
          </a:graphicData>
        </a:graphic>
      </p:graphicFrame>
      <p:sp>
        <p:nvSpPr>
          <p:cNvPr id="3" name="TextBox 2"/>
          <p:cNvSpPr txBox="1"/>
          <p:nvPr/>
        </p:nvSpPr>
        <p:spPr>
          <a:xfrm>
            <a:off x="2926080" y="5710981"/>
            <a:ext cx="9114105" cy="830997"/>
          </a:xfrm>
          <a:prstGeom prst="rect">
            <a:avLst/>
          </a:prstGeom>
          <a:noFill/>
        </p:spPr>
        <p:txBody>
          <a:bodyPr wrap="square" rtlCol="0">
            <a:spAutoFit/>
          </a:bodyPr>
          <a:lstStyle/>
          <a:p>
            <a:r>
              <a:rPr lang="en-US" sz="1600" dirty="0">
                <a:effectLst>
                  <a:outerShdw blurRad="38100" dist="38100" dir="2700000" algn="tl">
                    <a:srgbClr val="000000">
                      <a:alpha val="43137"/>
                    </a:srgbClr>
                  </a:outerShdw>
                </a:effectLst>
              </a:rPr>
              <a:t>The boxplot is a </a:t>
            </a:r>
            <a:r>
              <a:rPr lang="en-US" sz="1600" dirty="0" smtClean="0">
                <a:effectLst>
                  <a:outerShdw blurRad="38100" dist="38100" dir="2700000" algn="tl">
                    <a:srgbClr val="000000">
                      <a:alpha val="43137"/>
                    </a:srgbClr>
                  </a:outerShdw>
                </a:effectLst>
              </a:rPr>
              <a:t>visual </a:t>
            </a:r>
            <a:r>
              <a:rPr lang="en-US" sz="1600" dirty="0">
                <a:effectLst>
                  <a:outerShdw blurRad="38100" dist="38100" dir="2700000" algn="tl">
                    <a:srgbClr val="000000">
                      <a:alpha val="43137"/>
                    </a:srgbClr>
                  </a:outerShdw>
                </a:effectLst>
              </a:rPr>
              <a:t>representation of IQR and outliers. The box spans approximately from -11 to 31 and the outliers are represented beyond the lower and upper bounds , that's why </a:t>
            </a:r>
            <a:r>
              <a:rPr lang="en-US" sz="1600" dirty="0" err="1">
                <a:effectLst>
                  <a:outerShdw blurRad="38100" dist="38100" dir="2700000" algn="tl">
                    <a:srgbClr val="000000">
                      <a:alpha val="43137"/>
                    </a:srgbClr>
                  </a:outerShdw>
                </a:effectLst>
              </a:rPr>
              <a:t>Cluj</a:t>
            </a:r>
            <a:r>
              <a:rPr lang="en-US" sz="1600" dirty="0">
                <a:effectLst>
                  <a:outerShdw blurRad="38100" dist="38100" dir="2700000" algn="tl">
                    <a:srgbClr val="000000">
                      <a:alpha val="43137"/>
                    </a:srgbClr>
                  </a:outerShdw>
                </a:effectLst>
              </a:rPr>
              <a:t> is an outlier with values significantly different from the majority</a:t>
            </a:r>
          </a:p>
        </p:txBody>
      </p:sp>
    </p:spTree>
    <p:extLst>
      <p:ext uri="{BB962C8B-B14F-4D97-AF65-F5344CB8AC3E}">
        <p14:creationId xmlns:p14="http://schemas.microsoft.com/office/powerpoint/2010/main" val="94818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830580"/>
            <a:ext cx="6393180" cy="1630680"/>
          </a:xfrm>
        </p:spPr>
        <p:txBody>
          <a:bodyPr/>
          <a:lstStyle/>
          <a:p>
            <a:pPr algn="l"/>
            <a:r>
              <a:rPr lang="en-US" sz="2400" dirty="0">
                <a:latin typeface="Century Gothic" panose="020B0502020202020204" pitchFamily="34" charset="0"/>
              </a:rPr>
              <a:t>6.</a:t>
            </a:r>
            <a:r>
              <a:rPr lang="en-US" sz="2400" b="0" i="0" u="none" strike="noStrike" baseline="0" dirty="0">
                <a:solidFill>
                  <a:srgbClr val="000000"/>
                </a:solidFill>
                <a:latin typeface="Cambria" panose="02040503050406030204" pitchFamily="18" charset="0"/>
              </a:rPr>
              <a:t> </a:t>
            </a:r>
            <a:r>
              <a:rPr lang="en-US" sz="2400" i="0" u="none" strike="noStrike" baseline="0" dirty="0">
                <a:solidFill>
                  <a:schemeClr val="accent3">
                    <a:lumMod val="50000"/>
                  </a:schemeClr>
                </a:solidFill>
                <a:latin typeface="Century Gothic" panose="020B0502020202020204" pitchFamily="34" charset="0"/>
              </a:rPr>
              <a:t>Identify the outliers. Develop and discuss the boxplot for the distribution of each variable. (Physicians)</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 </a:t>
            </a:r>
            <a:br>
              <a:rPr lang="en-US" sz="2400" i="0" u="none" strike="noStrike" baseline="0" dirty="0">
                <a:solidFill>
                  <a:schemeClr val="accent3">
                    <a:lumMod val="50000"/>
                  </a:schemeClr>
                </a:solidFill>
                <a:latin typeface="Century Gothic" panose="020B0502020202020204" pitchFamily="34" charset="0"/>
              </a:rPr>
            </a:br>
            <a:r>
              <a:rPr lang="en-US" sz="2400" dirty="0"/>
              <a:t>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22</a:t>
            </a:fld>
            <a:endParaRPr lang="en-US" dirty="0"/>
          </a:p>
        </p:txBody>
      </p:sp>
      <mc:AlternateContent xmlns:mc="http://schemas.openxmlformats.org/markup-compatibility/2006">
        <mc:Choice xmlns:cx1="http://schemas.microsoft.com/office/drawing/2015/9/8/chartex" xmlns="" Requires="cx1">
          <p:graphicFrame>
            <p:nvGraphicFramePr>
              <p:cNvPr id="3" name="Chart 2">
                <a:extLst>
                  <a:ext uri="{FF2B5EF4-FFF2-40B4-BE49-F238E27FC236}">
                    <a16:creationId xmlns:a16="http://schemas.microsoft.com/office/drawing/2014/main" id="{6E91B95B-941B-4B75-95FB-DBC452920D5F}"/>
                  </a:ext>
                </a:extLst>
              </p:cNvPr>
              <p:cNvGraphicFramePr/>
              <p:nvPr>
                <p:extLst>
                  <p:ext uri="{D42A27DB-BD31-4B8C-83A1-F6EECF244321}">
                    <p14:modId xmlns:p14="http://schemas.microsoft.com/office/powerpoint/2010/main" val="1839429866"/>
                  </p:ext>
                </p:extLst>
              </p:nvPr>
            </p:nvGraphicFramePr>
            <p:xfrm>
              <a:off x="6766560" y="2171700"/>
              <a:ext cx="4572000" cy="27432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3" name="Chart 2">
                <a:extLst>
                  <a:ext uri="{FF2B5EF4-FFF2-40B4-BE49-F238E27FC236}">
                    <a16:creationId xmlns:a16="http://schemas.microsoft.com/office/drawing/2014/main" id="{6E91B95B-941B-4B75-95FB-DBC452920D5F}"/>
                  </a:ext>
                </a:extLst>
              </p:cNvPr>
              <p:cNvPicPr>
                <a:picLocks noGrp="1" noRot="1" noChangeAspect="1" noMove="1" noResize="1" noEditPoints="1" noAdjustHandles="1" noChangeArrowheads="1" noChangeShapeType="1"/>
              </p:cNvPicPr>
              <p:nvPr/>
            </p:nvPicPr>
            <p:blipFill>
              <a:blip r:embed="rId3"/>
              <a:stretch>
                <a:fillRect/>
              </a:stretch>
            </p:blipFill>
            <p:spPr>
              <a:xfrm>
                <a:off x="6766560" y="2171700"/>
                <a:ext cx="4572000" cy="2743200"/>
              </a:xfrm>
              <a:prstGeom prst="rect">
                <a:avLst/>
              </a:prstGeom>
            </p:spPr>
          </p:pic>
        </mc:Fallback>
      </mc:AlternateContent>
      <p:graphicFrame>
        <p:nvGraphicFramePr>
          <p:cNvPr id="6" name="Table 5">
            <a:extLst>
              <a:ext uri="{FF2B5EF4-FFF2-40B4-BE49-F238E27FC236}">
                <a16:creationId xmlns:a16="http://schemas.microsoft.com/office/drawing/2014/main" id="{1B8ECFC4-D440-AE6F-982C-86CAACE5FB06}"/>
              </a:ext>
            </a:extLst>
          </p:cNvPr>
          <p:cNvGraphicFramePr>
            <a:graphicFrameLocks noGrp="1"/>
          </p:cNvGraphicFramePr>
          <p:nvPr>
            <p:extLst>
              <p:ext uri="{D42A27DB-BD31-4B8C-83A1-F6EECF244321}">
                <p14:modId xmlns:p14="http://schemas.microsoft.com/office/powerpoint/2010/main" val="2927404569"/>
              </p:ext>
            </p:extLst>
          </p:nvPr>
        </p:nvGraphicFramePr>
        <p:xfrm>
          <a:off x="1196340" y="2537460"/>
          <a:ext cx="3169920" cy="1714500"/>
        </p:xfrm>
        <a:graphic>
          <a:graphicData uri="http://schemas.openxmlformats.org/drawingml/2006/table">
            <a:tbl>
              <a:tblPr>
                <a:tableStyleId>{5C22544A-7EE6-4342-B048-85BDC9FD1C3A}</a:tableStyleId>
              </a:tblPr>
              <a:tblGrid>
                <a:gridCol w="1056640">
                  <a:extLst>
                    <a:ext uri="{9D8B030D-6E8A-4147-A177-3AD203B41FA5}">
                      <a16:colId xmlns:a16="http://schemas.microsoft.com/office/drawing/2014/main" val="2803842168"/>
                    </a:ext>
                  </a:extLst>
                </a:gridCol>
                <a:gridCol w="1056640">
                  <a:extLst>
                    <a:ext uri="{9D8B030D-6E8A-4147-A177-3AD203B41FA5}">
                      <a16:colId xmlns:a16="http://schemas.microsoft.com/office/drawing/2014/main" val="4260500850"/>
                    </a:ext>
                  </a:extLst>
                </a:gridCol>
                <a:gridCol w="1056640">
                  <a:extLst>
                    <a:ext uri="{9D8B030D-6E8A-4147-A177-3AD203B41FA5}">
                      <a16:colId xmlns:a16="http://schemas.microsoft.com/office/drawing/2014/main" val="1768920814"/>
                    </a:ext>
                  </a:extLst>
                </a:gridCol>
              </a:tblGrid>
              <a:tr h="190500">
                <a:tc>
                  <a:txBody>
                    <a:bodyPr/>
                    <a:lstStyle/>
                    <a:p>
                      <a:pPr algn="l" fontAlgn="b"/>
                      <a:r>
                        <a:rPr lang="en-US" sz="1100" u="none" strike="noStrike">
                          <a:effectLst/>
                        </a:rPr>
                        <a:t>Q1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508.75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2070000"/>
                  </a:ext>
                </a:extLst>
              </a:tr>
              <a:tr h="190500">
                <a:tc>
                  <a:txBody>
                    <a:bodyPr/>
                    <a:lstStyle/>
                    <a:p>
                      <a:pPr algn="l" fontAlgn="b"/>
                      <a:r>
                        <a:rPr lang="en-US" sz="1100" u="none" strike="noStrike">
                          <a:effectLst/>
                        </a:rPr>
                        <a:t>Q3</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1201.5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0957451"/>
                  </a:ext>
                </a:extLst>
              </a:tr>
              <a:tr h="190500">
                <a:tc>
                  <a:txBody>
                    <a:bodyPr/>
                    <a:lstStyle/>
                    <a:p>
                      <a:pPr algn="l" fontAlgn="b"/>
                      <a:r>
                        <a:rPr lang="en-US" sz="1100" u="none" strike="noStrike">
                          <a:effectLst/>
                        </a:rPr>
                        <a:t>IRQ</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692.75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04669925"/>
                  </a:ext>
                </a:extLst>
              </a:tr>
              <a:tr h="190500">
                <a:tc>
                  <a:txBody>
                    <a:bodyPr/>
                    <a:lstStyle/>
                    <a:p>
                      <a:pPr algn="l" fontAlgn="b"/>
                      <a:r>
                        <a:rPr lang="en-US" sz="1100" u="none" strike="noStrike">
                          <a:effectLst/>
                        </a:rPr>
                        <a:t>Lower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-530.375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6534620"/>
                  </a:ext>
                </a:extLst>
              </a:tr>
              <a:tr h="190500">
                <a:tc>
                  <a:txBody>
                    <a:bodyPr/>
                    <a:lstStyle/>
                    <a:p>
                      <a:pPr algn="l" fontAlgn="b"/>
                      <a:r>
                        <a:rPr lang="en-US" sz="1100" u="none" strike="noStrike">
                          <a:effectLst/>
                        </a:rPr>
                        <a:t>Upper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2240.625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5141053"/>
                  </a:ext>
                </a:extLst>
              </a:tr>
              <a:tr h="190500">
                <a:tc>
                  <a:txBody>
                    <a:bodyPr/>
                    <a:lstStyle/>
                    <a:p>
                      <a:pPr algn="l" fontAlgn="b"/>
                      <a:r>
                        <a:rPr lang="en-US" sz="1100" u="none" strike="noStrike">
                          <a:effectLst/>
                        </a:rPr>
                        <a:t>Outliers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Cluj</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4383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80487912"/>
                  </a:ext>
                </a:extLst>
              </a:tr>
              <a:tr h="190500">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Mures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2984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6698461"/>
                  </a:ext>
                </a:extLst>
              </a:tr>
              <a:tr h="190500">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Iasi</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5294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00770705"/>
                  </a:ext>
                </a:extLst>
              </a:tr>
              <a:tr h="190500">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Constanta</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2608</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9568071"/>
                  </a:ext>
                </a:extLst>
              </a:tr>
            </a:tbl>
          </a:graphicData>
        </a:graphic>
      </p:graphicFrame>
      <p:sp>
        <p:nvSpPr>
          <p:cNvPr id="7" name="TextBox 6"/>
          <p:cNvSpPr txBox="1"/>
          <p:nvPr/>
        </p:nvSpPr>
        <p:spPr>
          <a:xfrm>
            <a:off x="2783644" y="5519291"/>
            <a:ext cx="7965831" cy="1077218"/>
          </a:xfrm>
          <a:prstGeom prst="rect">
            <a:avLst/>
          </a:prstGeom>
          <a:noFill/>
        </p:spPr>
        <p:txBody>
          <a:bodyPr wrap="square" rtlCol="0">
            <a:spAutoFit/>
          </a:bodyPr>
          <a:lstStyle/>
          <a:p>
            <a:r>
              <a:rPr lang="en-US" sz="1600" dirty="0">
                <a:effectLst>
                  <a:outerShdw blurRad="38100" dist="38100" dir="2700000" algn="tl">
                    <a:srgbClr val="000000">
                      <a:alpha val="43137"/>
                    </a:srgbClr>
                  </a:outerShdw>
                </a:effectLst>
              </a:rPr>
              <a:t>The boxplot is a </a:t>
            </a:r>
            <a:r>
              <a:rPr lang="en-US" sz="1600" dirty="0" smtClean="0">
                <a:effectLst>
                  <a:outerShdw blurRad="38100" dist="38100" dir="2700000" algn="tl">
                    <a:srgbClr val="000000">
                      <a:alpha val="43137"/>
                    </a:srgbClr>
                  </a:outerShdw>
                </a:effectLst>
              </a:rPr>
              <a:t>visual </a:t>
            </a:r>
            <a:r>
              <a:rPr lang="en-US" sz="1600" dirty="0">
                <a:effectLst>
                  <a:outerShdw blurRad="38100" dist="38100" dir="2700000" algn="tl">
                    <a:srgbClr val="000000">
                      <a:alpha val="43137"/>
                    </a:srgbClr>
                  </a:outerShdw>
                </a:effectLst>
              </a:rPr>
              <a:t>representation of IQR and outliers. The box spans approximately from </a:t>
            </a:r>
            <a:r>
              <a:rPr lang="en-US" sz="1600" dirty="0" smtClean="0">
                <a:effectLst>
                  <a:outerShdw blurRad="38100" dist="38100" dir="2700000" algn="tl">
                    <a:srgbClr val="000000">
                      <a:alpha val="43137"/>
                    </a:srgbClr>
                  </a:outerShdw>
                </a:effectLst>
              </a:rPr>
              <a:t>-530 to 2240 </a:t>
            </a:r>
            <a:r>
              <a:rPr lang="en-US" sz="1600" dirty="0">
                <a:effectLst>
                  <a:outerShdw blurRad="38100" dist="38100" dir="2700000" algn="tl">
                    <a:srgbClr val="000000">
                      <a:alpha val="43137"/>
                    </a:srgbClr>
                  </a:outerShdw>
                </a:effectLst>
              </a:rPr>
              <a:t>and the outliers are represented beyond the lower and upper bounds , that's why </a:t>
            </a:r>
            <a:r>
              <a:rPr lang="en-US" sz="1600" dirty="0" err="1" smtClean="0">
                <a:effectLst>
                  <a:outerShdw blurRad="38100" dist="38100" dir="2700000" algn="tl">
                    <a:srgbClr val="000000">
                      <a:alpha val="43137"/>
                    </a:srgbClr>
                  </a:outerShdw>
                </a:effectLst>
              </a:rPr>
              <a:t>Cluj</a:t>
            </a:r>
            <a:r>
              <a:rPr lang="en-US" sz="1600" dirty="0" smtClean="0">
                <a:effectLst>
                  <a:outerShdw blurRad="38100" dist="38100" dir="2700000" algn="tl">
                    <a:srgbClr val="000000">
                      <a:alpha val="43137"/>
                    </a:srgbClr>
                  </a:outerShdw>
                </a:effectLst>
              </a:rPr>
              <a:t>, </a:t>
            </a:r>
            <a:r>
              <a:rPr lang="en-US" sz="1600" dirty="0" err="1" smtClean="0">
                <a:effectLst>
                  <a:outerShdw blurRad="38100" dist="38100" dir="2700000" algn="tl">
                    <a:srgbClr val="000000">
                      <a:alpha val="43137"/>
                    </a:srgbClr>
                  </a:outerShdw>
                </a:effectLst>
              </a:rPr>
              <a:t>Mures</a:t>
            </a:r>
            <a:r>
              <a:rPr lang="en-US" sz="1600" dirty="0" smtClean="0">
                <a:effectLst>
                  <a:outerShdw blurRad="38100" dist="38100" dir="2700000" algn="tl">
                    <a:srgbClr val="000000">
                      <a:alpha val="43137"/>
                    </a:srgbClr>
                  </a:outerShdw>
                </a:effectLst>
              </a:rPr>
              <a:t>, Iasi and Constanta are the outliers </a:t>
            </a:r>
            <a:r>
              <a:rPr lang="en-US" sz="1600" dirty="0">
                <a:effectLst>
                  <a:outerShdw blurRad="38100" dist="38100" dir="2700000" algn="tl">
                    <a:srgbClr val="000000">
                      <a:alpha val="43137"/>
                    </a:srgbClr>
                  </a:outerShdw>
                </a:effectLst>
              </a:rPr>
              <a:t>with values significantly different from the majority</a:t>
            </a:r>
          </a:p>
        </p:txBody>
      </p:sp>
    </p:spTree>
    <p:extLst>
      <p:ext uri="{BB962C8B-B14F-4D97-AF65-F5344CB8AC3E}">
        <p14:creationId xmlns:p14="http://schemas.microsoft.com/office/powerpoint/2010/main" val="2223448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830580"/>
            <a:ext cx="6393180" cy="1630680"/>
          </a:xfrm>
        </p:spPr>
        <p:txBody>
          <a:bodyPr/>
          <a:lstStyle/>
          <a:p>
            <a:pPr algn="l"/>
            <a:r>
              <a:rPr lang="en-US" sz="2400" dirty="0">
                <a:latin typeface="Century Gothic" panose="020B0502020202020204" pitchFamily="34" charset="0"/>
              </a:rPr>
              <a:t>6.</a:t>
            </a:r>
            <a:r>
              <a:rPr lang="en-US" sz="2400" b="0" i="0" u="none" strike="noStrike" baseline="0" dirty="0">
                <a:solidFill>
                  <a:srgbClr val="000000"/>
                </a:solidFill>
                <a:latin typeface="Cambria" panose="02040503050406030204" pitchFamily="18" charset="0"/>
              </a:rPr>
              <a:t> </a:t>
            </a:r>
            <a:r>
              <a:rPr lang="en-US" sz="2400" i="0" u="none" strike="noStrike" baseline="0" dirty="0">
                <a:solidFill>
                  <a:schemeClr val="accent3">
                    <a:lumMod val="50000"/>
                  </a:schemeClr>
                </a:solidFill>
                <a:latin typeface="Century Gothic" panose="020B0502020202020204" pitchFamily="34" charset="0"/>
              </a:rPr>
              <a:t>Identify the outliers. Develop and discuss the boxplot for the distribution of each variable. (Family doctors)</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 </a:t>
            </a:r>
            <a:br>
              <a:rPr lang="en-US" sz="2400" i="0" u="none" strike="noStrike" baseline="0" dirty="0">
                <a:solidFill>
                  <a:schemeClr val="accent3">
                    <a:lumMod val="50000"/>
                  </a:schemeClr>
                </a:solidFill>
                <a:latin typeface="Century Gothic" panose="020B0502020202020204" pitchFamily="34" charset="0"/>
              </a:rPr>
            </a:br>
            <a:r>
              <a:rPr lang="en-US" sz="2400" dirty="0"/>
              <a:t>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23</a:t>
            </a:fld>
            <a:endParaRPr lang="en-US" dirty="0"/>
          </a:p>
        </p:txBody>
      </p:sp>
      <p:pic>
        <p:nvPicPr>
          <p:cNvPr id="3" name="Picture 2">
            <a:extLst>
              <a:ext uri="{FF2B5EF4-FFF2-40B4-BE49-F238E27FC236}">
                <a16:creationId xmlns:a16="http://schemas.microsoft.com/office/drawing/2014/main" id="{CDDE3C50-702B-68E3-B315-518978A1BF9C}"/>
              </a:ext>
            </a:extLst>
          </p:cNvPr>
          <p:cNvPicPr>
            <a:picLocks noChangeAspect="1"/>
          </p:cNvPicPr>
          <p:nvPr/>
        </p:nvPicPr>
        <p:blipFill>
          <a:blip r:embed="rId2"/>
          <a:stretch>
            <a:fillRect/>
          </a:stretch>
        </p:blipFill>
        <p:spPr>
          <a:xfrm>
            <a:off x="6496613" y="2461260"/>
            <a:ext cx="4578493" cy="2749534"/>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312967E-EFC0-47FE-3382-CDA696FBE916}"/>
                  </a:ext>
                </a:extLst>
              </p14:cNvPr>
              <p14:cNvContentPartPr/>
              <p14:nvPr/>
            </p14:nvContentPartPr>
            <p14:xfrm>
              <a:off x="8357460" y="4473000"/>
              <a:ext cx="98640" cy="146520"/>
            </p14:xfrm>
          </p:contentPart>
        </mc:Choice>
        <mc:Fallback xmlns="">
          <p:pic>
            <p:nvPicPr>
              <p:cNvPr id="6" name="Ink 5">
                <a:extLst>
                  <a:ext uri="{FF2B5EF4-FFF2-40B4-BE49-F238E27FC236}">
                    <a16:creationId xmlns:a16="http://schemas.microsoft.com/office/drawing/2014/main" id="{C312967E-EFC0-47FE-3382-CDA696FBE916}"/>
                  </a:ext>
                </a:extLst>
              </p:cNvPr>
              <p:cNvPicPr/>
              <p:nvPr/>
            </p:nvPicPr>
            <p:blipFill>
              <a:blip r:embed="rId4"/>
              <a:stretch>
                <a:fillRect/>
              </a:stretch>
            </p:blipFill>
            <p:spPr>
              <a:xfrm>
                <a:off x="8351340" y="4466880"/>
                <a:ext cx="110880" cy="158760"/>
              </a:xfrm>
              <a:prstGeom prst="rect">
                <a:avLst/>
              </a:prstGeom>
            </p:spPr>
          </p:pic>
        </mc:Fallback>
      </mc:AlternateContent>
      <p:grpSp>
        <p:nvGrpSpPr>
          <p:cNvPr id="25" name="Group 24">
            <a:extLst>
              <a:ext uri="{FF2B5EF4-FFF2-40B4-BE49-F238E27FC236}">
                <a16:creationId xmlns:a16="http://schemas.microsoft.com/office/drawing/2014/main" id="{6B983F28-938F-5549-C15C-34D37B98405A}"/>
              </a:ext>
            </a:extLst>
          </p:cNvPr>
          <p:cNvGrpSpPr/>
          <p:nvPr/>
        </p:nvGrpSpPr>
        <p:grpSpPr>
          <a:xfrm>
            <a:off x="7284300" y="4374000"/>
            <a:ext cx="776160" cy="222480"/>
            <a:chOff x="7284300" y="4374000"/>
            <a:chExt cx="776160" cy="222480"/>
          </a:xfrm>
        </p:grpSpPr>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7B5AA16A-6107-2436-CE37-B8735344DF08}"/>
                    </a:ext>
                  </a:extLst>
                </p14:cNvPr>
                <p14:cNvContentPartPr/>
                <p14:nvPr/>
              </p14:nvContentPartPr>
              <p14:xfrm>
                <a:off x="7284300" y="4480560"/>
                <a:ext cx="140040" cy="104040"/>
              </p14:xfrm>
            </p:contentPart>
          </mc:Choice>
          <mc:Fallback xmlns="">
            <p:pic>
              <p:nvPicPr>
                <p:cNvPr id="7" name="Ink 6">
                  <a:extLst>
                    <a:ext uri="{FF2B5EF4-FFF2-40B4-BE49-F238E27FC236}">
                      <a16:creationId xmlns:a16="http://schemas.microsoft.com/office/drawing/2014/main" id="{7B5AA16A-6107-2436-CE37-B8735344DF08}"/>
                    </a:ext>
                  </a:extLst>
                </p:cNvPr>
                <p:cNvPicPr/>
                <p:nvPr/>
              </p:nvPicPr>
              <p:blipFill>
                <a:blip r:embed="rId6"/>
                <a:stretch>
                  <a:fillRect/>
                </a:stretch>
              </p:blipFill>
              <p:spPr>
                <a:xfrm>
                  <a:off x="7278180" y="4474440"/>
                  <a:ext cx="1522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4A41A3AA-BC2A-38F2-A872-63688A3D8D71}"/>
                    </a:ext>
                  </a:extLst>
                </p14:cNvPr>
                <p14:cNvContentPartPr/>
                <p14:nvPr/>
              </p14:nvContentPartPr>
              <p14:xfrm>
                <a:off x="7436580" y="4449960"/>
                <a:ext cx="16200" cy="114120"/>
              </p14:xfrm>
            </p:contentPart>
          </mc:Choice>
          <mc:Fallback xmlns="">
            <p:pic>
              <p:nvPicPr>
                <p:cNvPr id="9" name="Ink 8">
                  <a:extLst>
                    <a:ext uri="{FF2B5EF4-FFF2-40B4-BE49-F238E27FC236}">
                      <a16:creationId xmlns:a16="http://schemas.microsoft.com/office/drawing/2014/main" id="{4A41A3AA-BC2A-38F2-A872-63688A3D8D71}"/>
                    </a:ext>
                  </a:extLst>
                </p:cNvPr>
                <p:cNvPicPr/>
                <p:nvPr/>
              </p:nvPicPr>
              <p:blipFill>
                <a:blip r:embed="rId8"/>
                <a:stretch>
                  <a:fillRect/>
                </a:stretch>
              </p:blipFill>
              <p:spPr>
                <a:xfrm>
                  <a:off x="7430460" y="4443840"/>
                  <a:ext cx="284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D3A5CC9-62C1-4661-7E3F-D77DC7B2BF5F}"/>
                    </a:ext>
                  </a:extLst>
                </p14:cNvPr>
                <p14:cNvContentPartPr/>
                <p14:nvPr/>
              </p14:nvContentPartPr>
              <p14:xfrm>
                <a:off x="7404900" y="4480560"/>
                <a:ext cx="85680" cy="70920"/>
              </p14:xfrm>
            </p:contentPart>
          </mc:Choice>
          <mc:Fallback xmlns="">
            <p:pic>
              <p:nvPicPr>
                <p:cNvPr id="10" name="Ink 9">
                  <a:extLst>
                    <a:ext uri="{FF2B5EF4-FFF2-40B4-BE49-F238E27FC236}">
                      <a16:creationId xmlns:a16="http://schemas.microsoft.com/office/drawing/2014/main" id="{AD3A5CC9-62C1-4661-7E3F-D77DC7B2BF5F}"/>
                    </a:ext>
                  </a:extLst>
                </p:cNvPr>
                <p:cNvPicPr/>
                <p:nvPr/>
              </p:nvPicPr>
              <p:blipFill>
                <a:blip r:embed="rId10"/>
                <a:stretch>
                  <a:fillRect/>
                </a:stretch>
              </p:blipFill>
              <p:spPr>
                <a:xfrm>
                  <a:off x="7398780" y="4474440"/>
                  <a:ext cx="979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53A83D49-B013-7BD5-FBD0-21FCA30ECC10}"/>
                    </a:ext>
                  </a:extLst>
                </p14:cNvPr>
                <p14:cNvContentPartPr/>
                <p14:nvPr/>
              </p14:nvContentPartPr>
              <p14:xfrm>
                <a:off x="7481940" y="4434840"/>
                <a:ext cx="23760" cy="106920"/>
              </p14:xfrm>
            </p:contentPart>
          </mc:Choice>
          <mc:Fallback xmlns="">
            <p:pic>
              <p:nvPicPr>
                <p:cNvPr id="11" name="Ink 10">
                  <a:extLst>
                    <a:ext uri="{FF2B5EF4-FFF2-40B4-BE49-F238E27FC236}">
                      <a16:creationId xmlns:a16="http://schemas.microsoft.com/office/drawing/2014/main" id="{53A83D49-B013-7BD5-FBD0-21FCA30ECC10}"/>
                    </a:ext>
                  </a:extLst>
                </p:cNvPr>
                <p:cNvPicPr/>
                <p:nvPr/>
              </p:nvPicPr>
              <p:blipFill>
                <a:blip r:embed="rId12"/>
                <a:stretch>
                  <a:fillRect/>
                </a:stretch>
              </p:blipFill>
              <p:spPr>
                <a:xfrm>
                  <a:off x="7475820" y="442872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A9A987C4-1D06-2751-1957-FD09DB847724}"/>
                    </a:ext>
                  </a:extLst>
                </p14:cNvPr>
                <p14:cNvContentPartPr/>
                <p14:nvPr/>
              </p14:nvContentPartPr>
              <p14:xfrm>
                <a:off x="7543500" y="4419720"/>
                <a:ext cx="16200" cy="151920"/>
              </p14:xfrm>
            </p:contentPart>
          </mc:Choice>
          <mc:Fallback xmlns="">
            <p:pic>
              <p:nvPicPr>
                <p:cNvPr id="12" name="Ink 11">
                  <a:extLst>
                    <a:ext uri="{FF2B5EF4-FFF2-40B4-BE49-F238E27FC236}">
                      <a16:creationId xmlns:a16="http://schemas.microsoft.com/office/drawing/2014/main" id="{A9A987C4-1D06-2751-1957-FD09DB847724}"/>
                    </a:ext>
                  </a:extLst>
                </p:cNvPr>
                <p:cNvPicPr/>
                <p:nvPr/>
              </p:nvPicPr>
              <p:blipFill>
                <a:blip r:embed="rId14"/>
                <a:stretch>
                  <a:fillRect/>
                </a:stretch>
              </p:blipFill>
              <p:spPr>
                <a:xfrm>
                  <a:off x="7537380" y="4413600"/>
                  <a:ext cx="284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87F3E36-89C3-51AF-A585-F3569AD4B257}"/>
                    </a:ext>
                  </a:extLst>
                </p14:cNvPr>
                <p14:cNvContentPartPr/>
                <p14:nvPr/>
              </p14:nvContentPartPr>
              <p14:xfrm>
                <a:off x="7551060" y="4503240"/>
                <a:ext cx="70200" cy="75600"/>
              </p14:xfrm>
            </p:contentPart>
          </mc:Choice>
          <mc:Fallback xmlns="">
            <p:pic>
              <p:nvPicPr>
                <p:cNvPr id="13" name="Ink 12">
                  <a:extLst>
                    <a:ext uri="{FF2B5EF4-FFF2-40B4-BE49-F238E27FC236}">
                      <a16:creationId xmlns:a16="http://schemas.microsoft.com/office/drawing/2014/main" id="{187F3E36-89C3-51AF-A585-F3569AD4B257}"/>
                    </a:ext>
                  </a:extLst>
                </p:cNvPr>
                <p:cNvPicPr/>
                <p:nvPr/>
              </p:nvPicPr>
              <p:blipFill>
                <a:blip r:embed="rId16"/>
                <a:stretch>
                  <a:fillRect/>
                </a:stretch>
              </p:blipFill>
              <p:spPr>
                <a:xfrm>
                  <a:off x="7544940" y="4497120"/>
                  <a:ext cx="824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3131E5D4-2D2E-83F5-11DE-63391A30EB10}"/>
                    </a:ext>
                  </a:extLst>
                </p14:cNvPr>
                <p14:cNvContentPartPr/>
                <p14:nvPr/>
              </p14:nvContentPartPr>
              <p14:xfrm>
                <a:off x="7650060" y="4495680"/>
                <a:ext cx="19440" cy="64800"/>
              </p14:xfrm>
            </p:contentPart>
          </mc:Choice>
          <mc:Fallback xmlns="">
            <p:pic>
              <p:nvPicPr>
                <p:cNvPr id="14" name="Ink 13">
                  <a:extLst>
                    <a:ext uri="{FF2B5EF4-FFF2-40B4-BE49-F238E27FC236}">
                      <a16:creationId xmlns:a16="http://schemas.microsoft.com/office/drawing/2014/main" id="{3131E5D4-2D2E-83F5-11DE-63391A30EB10}"/>
                    </a:ext>
                  </a:extLst>
                </p:cNvPr>
                <p:cNvPicPr/>
                <p:nvPr/>
              </p:nvPicPr>
              <p:blipFill>
                <a:blip r:embed="rId18"/>
                <a:stretch>
                  <a:fillRect/>
                </a:stretch>
              </p:blipFill>
              <p:spPr>
                <a:xfrm>
                  <a:off x="7643940" y="4489560"/>
                  <a:ext cx="316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A9E55C62-DA52-B0C9-8FDE-7B67EFC91FC2}"/>
                    </a:ext>
                  </a:extLst>
                </p14:cNvPr>
                <p14:cNvContentPartPr/>
                <p14:nvPr/>
              </p14:nvContentPartPr>
              <p14:xfrm>
                <a:off x="7642500" y="4374000"/>
                <a:ext cx="360" cy="360"/>
              </p14:xfrm>
            </p:contentPart>
          </mc:Choice>
          <mc:Fallback xmlns="">
            <p:pic>
              <p:nvPicPr>
                <p:cNvPr id="15" name="Ink 14">
                  <a:extLst>
                    <a:ext uri="{FF2B5EF4-FFF2-40B4-BE49-F238E27FC236}">
                      <a16:creationId xmlns:a16="http://schemas.microsoft.com/office/drawing/2014/main" id="{A9E55C62-DA52-B0C9-8FDE-7B67EFC91FC2}"/>
                    </a:ext>
                  </a:extLst>
                </p:cNvPr>
                <p:cNvPicPr/>
                <p:nvPr/>
              </p:nvPicPr>
              <p:blipFill>
                <a:blip r:embed="rId20"/>
                <a:stretch>
                  <a:fillRect/>
                </a:stretch>
              </p:blipFill>
              <p:spPr>
                <a:xfrm>
                  <a:off x="7636380" y="43678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FF654EF8-CC4B-1FAA-27DF-78748D508643}"/>
                    </a:ext>
                  </a:extLst>
                </p14:cNvPr>
                <p14:cNvContentPartPr/>
                <p14:nvPr/>
              </p14:nvContentPartPr>
              <p14:xfrm>
                <a:off x="7717380" y="4475160"/>
                <a:ext cx="70560" cy="120960"/>
              </p14:xfrm>
            </p:contentPart>
          </mc:Choice>
          <mc:Fallback xmlns="">
            <p:pic>
              <p:nvPicPr>
                <p:cNvPr id="17" name="Ink 16">
                  <a:extLst>
                    <a:ext uri="{FF2B5EF4-FFF2-40B4-BE49-F238E27FC236}">
                      <a16:creationId xmlns:a16="http://schemas.microsoft.com/office/drawing/2014/main" id="{FF654EF8-CC4B-1FAA-27DF-78748D508643}"/>
                    </a:ext>
                  </a:extLst>
                </p:cNvPr>
                <p:cNvPicPr/>
                <p:nvPr/>
              </p:nvPicPr>
              <p:blipFill>
                <a:blip r:embed="rId22"/>
                <a:stretch>
                  <a:fillRect/>
                </a:stretch>
              </p:blipFill>
              <p:spPr>
                <a:xfrm>
                  <a:off x="7711260" y="4469040"/>
                  <a:ext cx="828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F75FD007-32DE-2E6A-BE87-ABA36CCD639B}"/>
                    </a:ext>
                  </a:extLst>
                </p14:cNvPr>
                <p14:cNvContentPartPr/>
                <p14:nvPr/>
              </p14:nvContentPartPr>
              <p14:xfrm>
                <a:off x="7825380" y="4442400"/>
                <a:ext cx="360" cy="114120"/>
              </p14:xfrm>
            </p:contentPart>
          </mc:Choice>
          <mc:Fallback xmlns="">
            <p:pic>
              <p:nvPicPr>
                <p:cNvPr id="18" name="Ink 17">
                  <a:extLst>
                    <a:ext uri="{FF2B5EF4-FFF2-40B4-BE49-F238E27FC236}">
                      <a16:creationId xmlns:a16="http://schemas.microsoft.com/office/drawing/2014/main" id="{F75FD007-32DE-2E6A-BE87-ABA36CCD639B}"/>
                    </a:ext>
                  </a:extLst>
                </p:cNvPr>
                <p:cNvPicPr/>
                <p:nvPr/>
              </p:nvPicPr>
              <p:blipFill>
                <a:blip r:embed="rId24"/>
                <a:stretch>
                  <a:fillRect/>
                </a:stretch>
              </p:blipFill>
              <p:spPr>
                <a:xfrm>
                  <a:off x="7819260" y="4436280"/>
                  <a:ext cx="126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5AE807F0-5DE5-DD77-E6BC-B67DB1ED0C4F}"/>
                    </a:ext>
                  </a:extLst>
                </p14:cNvPr>
                <p14:cNvContentPartPr/>
                <p14:nvPr/>
              </p14:nvContentPartPr>
              <p14:xfrm>
                <a:off x="7825380" y="4504680"/>
                <a:ext cx="68040" cy="14400"/>
              </p14:xfrm>
            </p:contentPart>
          </mc:Choice>
          <mc:Fallback xmlns="">
            <p:pic>
              <p:nvPicPr>
                <p:cNvPr id="19" name="Ink 18">
                  <a:extLst>
                    <a:ext uri="{FF2B5EF4-FFF2-40B4-BE49-F238E27FC236}">
                      <a16:creationId xmlns:a16="http://schemas.microsoft.com/office/drawing/2014/main" id="{5AE807F0-5DE5-DD77-E6BC-B67DB1ED0C4F}"/>
                    </a:ext>
                  </a:extLst>
                </p:cNvPr>
                <p:cNvPicPr/>
                <p:nvPr/>
              </p:nvPicPr>
              <p:blipFill>
                <a:blip r:embed="rId26"/>
                <a:stretch>
                  <a:fillRect/>
                </a:stretch>
              </p:blipFill>
              <p:spPr>
                <a:xfrm>
                  <a:off x="7819260" y="4498560"/>
                  <a:ext cx="80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054AA50C-D068-7037-DF1A-896B5854A922}"/>
                    </a:ext>
                  </a:extLst>
                </p14:cNvPr>
                <p14:cNvContentPartPr/>
                <p14:nvPr/>
              </p14:nvContentPartPr>
              <p14:xfrm>
                <a:off x="7848420" y="4518720"/>
                <a:ext cx="41760" cy="42120"/>
              </p14:xfrm>
            </p:contentPart>
          </mc:Choice>
          <mc:Fallback xmlns="">
            <p:pic>
              <p:nvPicPr>
                <p:cNvPr id="20" name="Ink 19">
                  <a:extLst>
                    <a:ext uri="{FF2B5EF4-FFF2-40B4-BE49-F238E27FC236}">
                      <a16:creationId xmlns:a16="http://schemas.microsoft.com/office/drawing/2014/main" id="{054AA50C-D068-7037-DF1A-896B5854A922}"/>
                    </a:ext>
                  </a:extLst>
                </p:cNvPr>
                <p:cNvPicPr/>
                <p:nvPr/>
              </p:nvPicPr>
              <p:blipFill>
                <a:blip r:embed="rId28"/>
                <a:stretch>
                  <a:fillRect/>
                </a:stretch>
              </p:blipFill>
              <p:spPr>
                <a:xfrm>
                  <a:off x="7842300" y="4512600"/>
                  <a:ext cx="540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38D4500D-8DDB-04A4-9542-48AD6D7B5690}"/>
                    </a:ext>
                  </a:extLst>
                </p14:cNvPr>
                <p14:cNvContentPartPr/>
                <p14:nvPr/>
              </p14:nvContentPartPr>
              <p14:xfrm>
                <a:off x="7916820" y="4466160"/>
                <a:ext cx="64440" cy="130320"/>
              </p14:xfrm>
            </p:contentPart>
          </mc:Choice>
          <mc:Fallback xmlns="">
            <p:pic>
              <p:nvPicPr>
                <p:cNvPr id="21" name="Ink 20">
                  <a:extLst>
                    <a:ext uri="{FF2B5EF4-FFF2-40B4-BE49-F238E27FC236}">
                      <a16:creationId xmlns:a16="http://schemas.microsoft.com/office/drawing/2014/main" id="{38D4500D-8DDB-04A4-9542-48AD6D7B5690}"/>
                    </a:ext>
                  </a:extLst>
                </p:cNvPr>
                <p:cNvPicPr/>
                <p:nvPr/>
              </p:nvPicPr>
              <p:blipFill>
                <a:blip r:embed="rId30"/>
                <a:stretch>
                  <a:fillRect/>
                </a:stretch>
              </p:blipFill>
              <p:spPr>
                <a:xfrm>
                  <a:off x="7910700" y="4460040"/>
                  <a:ext cx="766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82D8FA1A-B9CF-E0DF-66F5-3D87BBFED330}"/>
                    </a:ext>
                  </a:extLst>
                </p14:cNvPr>
                <p14:cNvContentPartPr/>
                <p14:nvPr/>
              </p14:nvContentPartPr>
              <p14:xfrm>
                <a:off x="8000700" y="4495680"/>
                <a:ext cx="12600" cy="91080"/>
              </p14:xfrm>
            </p:contentPart>
          </mc:Choice>
          <mc:Fallback xmlns="">
            <p:pic>
              <p:nvPicPr>
                <p:cNvPr id="23" name="Ink 22">
                  <a:extLst>
                    <a:ext uri="{FF2B5EF4-FFF2-40B4-BE49-F238E27FC236}">
                      <a16:creationId xmlns:a16="http://schemas.microsoft.com/office/drawing/2014/main" id="{82D8FA1A-B9CF-E0DF-66F5-3D87BBFED330}"/>
                    </a:ext>
                  </a:extLst>
                </p:cNvPr>
                <p:cNvPicPr/>
                <p:nvPr/>
              </p:nvPicPr>
              <p:blipFill>
                <a:blip r:embed="rId32"/>
                <a:stretch>
                  <a:fillRect/>
                </a:stretch>
              </p:blipFill>
              <p:spPr>
                <a:xfrm>
                  <a:off x="7994580" y="4489560"/>
                  <a:ext cx="248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C144FD00-5C4B-20CB-0FC1-1F999164FF65}"/>
                    </a:ext>
                  </a:extLst>
                </p14:cNvPr>
                <p14:cNvContentPartPr/>
                <p14:nvPr/>
              </p14:nvContentPartPr>
              <p14:xfrm>
                <a:off x="8015820" y="4517640"/>
                <a:ext cx="44640" cy="31320"/>
              </p14:xfrm>
            </p:contentPart>
          </mc:Choice>
          <mc:Fallback xmlns="">
            <p:pic>
              <p:nvPicPr>
                <p:cNvPr id="24" name="Ink 23">
                  <a:extLst>
                    <a:ext uri="{FF2B5EF4-FFF2-40B4-BE49-F238E27FC236}">
                      <a16:creationId xmlns:a16="http://schemas.microsoft.com/office/drawing/2014/main" id="{C144FD00-5C4B-20CB-0FC1-1F999164FF65}"/>
                    </a:ext>
                  </a:extLst>
                </p:cNvPr>
                <p:cNvPicPr/>
                <p:nvPr/>
              </p:nvPicPr>
              <p:blipFill>
                <a:blip r:embed="rId34"/>
                <a:stretch>
                  <a:fillRect/>
                </a:stretch>
              </p:blipFill>
              <p:spPr>
                <a:xfrm>
                  <a:off x="8009700" y="4511520"/>
                  <a:ext cx="56880" cy="43560"/>
                </a:xfrm>
                <a:prstGeom prst="rect">
                  <a:avLst/>
                </a:prstGeom>
              </p:spPr>
            </p:pic>
          </mc:Fallback>
        </mc:AlternateContent>
      </p:grpSp>
      <p:graphicFrame>
        <p:nvGraphicFramePr>
          <p:cNvPr id="26" name="Table 25">
            <a:extLst>
              <a:ext uri="{FF2B5EF4-FFF2-40B4-BE49-F238E27FC236}">
                <a16:creationId xmlns:a16="http://schemas.microsoft.com/office/drawing/2014/main" id="{1D0C8824-A774-29CB-A0D7-D9F134899C42}"/>
              </a:ext>
            </a:extLst>
          </p:cNvPr>
          <p:cNvGraphicFramePr>
            <a:graphicFrameLocks noGrp="1"/>
          </p:cNvGraphicFramePr>
          <p:nvPr>
            <p:extLst>
              <p:ext uri="{D42A27DB-BD31-4B8C-83A1-F6EECF244321}">
                <p14:modId xmlns:p14="http://schemas.microsoft.com/office/powerpoint/2010/main" val="3546983452"/>
              </p:ext>
            </p:extLst>
          </p:nvPr>
        </p:nvGraphicFramePr>
        <p:xfrm>
          <a:off x="561340" y="2346990"/>
          <a:ext cx="3915554" cy="2249130"/>
        </p:xfrm>
        <a:graphic>
          <a:graphicData uri="http://schemas.openxmlformats.org/drawingml/2006/table">
            <a:tbl>
              <a:tblPr>
                <a:tableStyleId>{5C22544A-7EE6-4342-B048-85BDC9FD1C3A}</a:tableStyleId>
              </a:tblPr>
              <a:tblGrid>
                <a:gridCol w="2322786">
                  <a:extLst>
                    <a:ext uri="{9D8B030D-6E8A-4147-A177-3AD203B41FA5}">
                      <a16:colId xmlns:a16="http://schemas.microsoft.com/office/drawing/2014/main" val="1609653621"/>
                    </a:ext>
                  </a:extLst>
                </a:gridCol>
                <a:gridCol w="1592768">
                  <a:extLst>
                    <a:ext uri="{9D8B030D-6E8A-4147-A177-3AD203B41FA5}">
                      <a16:colId xmlns:a16="http://schemas.microsoft.com/office/drawing/2014/main" val="3265333604"/>
                    </a:ext>
                  </a:extLst>
                </a:gridCol>
              </a:tblGrid>
              <a:tr h="374855">
                <a:tc>
                  <a:txBody>
                    <a:bodyPr/>
                    <a:lstStyle/>
                    <a:p>
                      <a:pPr algn="l" fontAlgn="b"/>
                      <a:r>
                        <a:rPr lang="en-US" sz="1100" u="none" strike="noStrike">
                          <a:effectLst/>
                        </a:rPr>
                        <a:t>Q1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138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06479361"/>
                  </a:ext>
                </a:extLst>
              </a:tr>
              <a:tr h="374855">
                <a:tc>
                  <a:txBody>
                    <a:bodyPr/>
                    <a:lstStyle/>
                    <a:p>
                      <a:pPr algn="l" fontAlgn="b"/>
                      <a:r>
                        <a:rPr lang="en-US" sz="1100" u="none" strike="noStrike">
                          <a:effectLst/>
                        </a:rPr>
                        <a:t>Q3</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312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33941020"/>
                  </a:ext>
                </a:extLst>
              </a:tr>
              <a:tr h="374855">
                <a:tc>
                  <a:txBody>
                    <a:bodyPr/>
                    <a:lstStyle/>
                    <a:p>
                      <a:pPr algn="l" fontAlgn="b"/>
                      <a:r>
                        <a:rPr lang="en-US" sz="1100" u="none" strike="noStrike">
                          <a:effectLst/>
                        </a:rPr>
                        <a:t>IRQ</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174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11211849"/>
                  </a:ext>
                </a:extLst>
              </a:tr>
              <a:tr h="374855">
                <a:tc>
                  <a:txBody>
                    <a:bodyPr/>
                    <a:lstStyle/>
                    <a:p>
                      <a:pPr algn="l" fontAlgn="b"/>
                      <a:r>
                        <a:rPr lang="en-US" sz="1100" u="none" strike="noStrike">
                          <a:effectLst/>
                        </a:rPr>
                        <a:t>Lower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-123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7784766"/>
                  </a:ext>
                </a:extLst>
              </a:tr>
              <a:tr h="374855">
                <a:tc>
                  <a:txBody>
                    <a:bodyPr/>
                    <a:lstStyle/>
                    <a:p>
                      <a:pPr algn="l" fontAlgn="b"/>
                      <a:r>
                        <a:rPr lang="en-US" sz="1100" u="none" strike="noStrike">
                          <a:effectLst/>
                        </a:rPr>
                        <a:t>Upper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573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24145443"/>
                  </a:ext>
                </a:extLst>
              </a:tr>
              <a:tr h="374855">
                <a:tc>
                  <a:txBody>
                    <a:bodyPr/>
                    <a:lstStyle/>
                    <a:p>
                      <a:pPr algn="l" fontAlgn="b"/>
                      <a:r>
                        <a:rPr lang="en-US" sz="1100" u="none" strike="noStrike">
                          <a:effectLst/>
                        </a:rPr>
                        <a:t>Outliers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NONE</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23340275"/>
                  </a:ext>
                </a:extLst>
              </a:tr>
            </a:tbl>
          </a:graphicData>
        </a:graphic>
      </p:graphicFrame>
      <p:sp>
        <p:nvSpPr>
          <p:cNvPr id="8" name="Rectangle 7"/>
          <p:cNvSpPr/>
          <p:nvPr/>
        </p:nvSpPr>
        <p:spPr>
          <a:xfrm>
            <a:off x="2669930" y="5748045"/>
            <a:ext cx="8522678" cy="584775"/>
          </a:xfrm>
          <a:prstGeom prst="rect">
            <a:avLst/>
          </a:prstGeom>
        </p:spPr>
        <p:txBody>
          <a:bodyPr wrap="square">
            <a:spAutoFit/>
          </a:bodyPr>
          <a:lstStyle/>
          <a:p>
            <a:r>
              <a:rPr lang="en-US" sz="1600" dirty="0">
                <a:effectLst>
                  <a:outerShdw blurRad="38100" dist="38100" dir="2700000" algn="tl">
                    <a:srgbClr val="000000">
                      <a:alpha val="43137"/>
                    </a:srgbClr>
                  </a:outerShdw>
                </a:effectLst>
              </a:rPr>
              <a:t>The boxplot is a </a:t>
            </a:r>
            <a:r>
              <a:rPr lang="en-US" sz="1600" dirty="0" smtClean="0">
                <a:effectLst>
                  <a:outerShdw blurRad="38100" dist="38100" dir="2700000" algn="tl">
                    <a:srgbClr val="000000">
                      <a:alpha val="43137"/>
                    </a:srgbClr>
                  </a:outerShdw>
                </a:effectLst>
              </a:rPr>
              <a:t>visual </a:t>
            </a:r>
            <a:r>
              <a:rPr lang="en-US" sz="1600" dirty="0">
                <a:effectLst>
                  <a:outerShdw blurRad="38100" dist="38100" dir="2700000" algn="tl">
                    <a:srgbClr val="000000">
                      <a:alpha val="43137"/>
                    </a:srgbClr>
                  </a:outerShdw>
                </a:effectLst>
              </a:rPr>
              <a:t>representation of IQR and outliers. The box spans approximately from -</a:t>
            </a:r>
            <a:r>
              <a:rPr lang="en-US" sz="1600" dirty="0" smtClean="0">
                <a:effectLst>
                  <a:outerShdw blurRad="38100" dist="38100" dir="2700000" algn="tl">
                    <a:srgbClr val="000000">
                      <a:alpha val="43137"/>
                    </a:srgbClr>
                  </a:outerShdw>
                </a:effectLst>
              </a:rPr>
              <a:t>123 and 573 and that is why there are not any outliers.</a:t>
            </a:r>
            <a:endParaRPr lang="en-US" sz="1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0074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830580"/>
            <a:ext cx="6393180" cy="1630680"/>
          </a:xfrm>
        </p:spPr>
        <p:txBody>
          <a:bodyPr/>
          <a:lstStyle/>
          <a:p>
            <a:pPr algn="l"/>
            <a:r>
              <a:rPr lang="en-US" sz="2400" dirty="0">
                <a:latin typeface="Century Gothic" panose="020B0502020202020204" pitchFamily="34" charset="0"/>
              </a:rPr>
              <a:t>6.</a:t>
            </a:r>
            <a:r>
              <a:rPr lang="en-US" sz="2400" b="0" i="0" u="none" strike="noStrike" baseline="0" dirty="0">
                <a:solidFill>
                  <a:srgbClr val="000000"/>
                </a:solidFill>
                <a:latin typeface="Cambria" panose="02040503050406030204" pitchFamily="18" charset="0"/>
              </a:rPr>
              <a:t> </a:t>
            </a:r>
            <a:r>
              <a:rPr lang="en-US" sz="2400" i="0" u="none" strike="noStrike" baseline="0" dirty="0">
                <a:solidFill>
                  <a:schemeClr val="accent3">
                    <a:lumMod val="50000"/>
                  </a:schemeClr>
                </a:solidFill>
                <a:latin typeface="Century Gothic" panose="020B0502020202020204" pitchFamily="34" charset="0"/>
              </a:rPr>
              <a:t>Identify the outliers. Develop and discuss the boxplot for the distribution of each variable. (Beds)</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 </a:t>
            </a:r>
            <a:br>
              <a:rPr lang="en-US" sz="2400" i="0" u="none" strike="noStrike" baseline="0" dirty="0">
                <a:solidFill>
                  <a:schemeClr val="accent3">
                    <a:lumMod val="50000"/>
                  </a:schemeClr>
                </a:solidFill>
                <a:latin typeface="Century Gothic" panose="020B0502020202020204" pitchFamily="34" charset="0"/>
              </a:rPr>
            </a:br>
            <a:r>
              <a:rPr lang="en-US" sz="2400" dirty="0"/>
              <a:t>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24</a:t>
            </a:fld>
            <a:endParaRPr lang="en-US" dirty="0"/>
          </a:p>
        </p:txBody>
      </p:sp>
      <mc:AlternateContent xmlns:mc="http://schemas.openxmlformats.org/markup-compatibility/2006">
        <mc:Choice xmlns:cx1="http://schemas.microsoft.com/office/drawing/2015/9/8/chartex" xmlns="" Requires="cx1">
          <p:graphicFrame>
            <p:nvGraphicFramePr>
              <p:cNvPr id="3" name="Chart 2">
                <a:extLst>
                  <a:ext uri="{FF2B5EF4-FFF2-40B4-BE49-F238E27FC236}">
                    <a16:creationId xmlns:a16="http://schemas.microsoft.com/office/drawing/2014/main" id="{BDA5B71C-FFC7-4062-96F0-5FB832973216}"/>
                  </a:ext>
                </a:extLst>
              </p:cNvPr>
              <p:cNvGraphicFramePr/>
              <p:nvPr>
                <p:extLst>
                  <p:ext uri="{D42A27DB-BD31-4B8C-83A1-F6EECF244321}">
                    <p14:modId xmlns:p14="http://schemas.microsoft.com/office/powerpoint/2010/main" val="2807361458"/>
                  </p:ext>
                </p:extLst>
              </p:nvPr>
            </p:nvGraphicFramePr>
            <p:xfrm>
              <a:off x="7299960" y="2247900"/>
              <a:ext cx="4572000" cy="27432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3" name="Chart 2">
                <a:extLst>
                  <a:ext uri="{FF2B5EF4-FFF2-40B4-BE49-F238E27FC236}">
                    <a16:creationId xmlns:a16="http://schemas.microsoft.com/office/drawing/2014/main" id="{BDA5B71C-FFC7-4062-96F0-5FB832973216}"/>
                  </a:ext>
                </a:extLst>
              </p:cNvPr>
              <p:cNvPicPr>
                <a:picLocks noGrp="1" noRot="1" noChangeAspect="1" noMove="1" noResize="1" noEditPoints="1" noAdjustHandles="1" noChangeArrowheads="1" noChangeShapeType="1"/>
              </p:cNvPicPr>
              <p:nvPr/>
            </p:nvPicPr>
            <p:blipFill>
              <a:blip r:embed="rId3"/>
              <a:stretch>
                <a:fillRect/>
              </a:stretch>
            </p:blipFill>
            <p:spPr>
              <a:xfrm>
                <a:off x="7299960" y="2247900"/>
                <a:ext cx="4572000" cy="2743200"/>
              </a:xfrm>
              <a:prstGeom prst="rect">
                <a:avLst/>
              </a:prstGeom>
            </p:spPr>
          </p:pic>
        </mc:Fallback>
      </mc:AlternateContent>
      <p:graphicFrame>
        <p:nvGraphicFramePr>
          <p:cNvPr id="18" name="Table 17">
            <a:extLst>
              <a:ext uri="{FF2B5EF4-FFF2-40B4-BE49-F238E27FC236}">
                <a16:creationId xmlns:a16="http://schemas.microsoft.com/office/drawing/2014/main" id="{92CDEAC3-7E52-05B1-5071-99E774AA5D3F}"/>
              </a:ext>
            </a:extLst>
          </p:cNvPr>
          <p:cNvGraphicFramePr>
            <a:graphicFrameLocks noGrp="1"/>
          </p:cNvGraphicFramePr>
          <p:nvPr>
            <p:extLst>
              <p:ext uri="{D42A27DB-BD31-4B8C-83A1-F6EECF244321}">
                <p14:modId xmlns:p14="http://schemas.microsoft.com/office/powerpoint/2010/main" val="453938445"/>
              </p:ext>
            </p:extLst>
          </p:nvPr>
        </p:nvGraphicFramePr>
        <p:xfrm>
          <a:off x="932180" y="2160270"/>
          <a:ext cx="2006600" cy="16383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424959907"/>
                    </a:ext>
                  </a:extLst>
                </a:gridCol>
                <a:gridCol w="787400">
                  <a:extLst>
                    <a:ext uri="{9D8B030D-6E8A-4147-A177-3AD203B41FA5}">
                      <a16:colId xmlns:a16="http://schemas.microsoft.com/office/drawing/2014/main" val="1395728808"/>
                    </a:ext>
                  </a:extLst>
                </a:gridCol>
                <a:gridCol w="609600">
                  <a:extLst>
                    <a:ext uri="{9D8B030D-6E8A-4147-A177-3AD203B41FA5}">
                      <a16:colId xmlns:a16="http://schemas.microsoft.com/office/drawing/2014/main" val="385463053"/>
                    </a:ext>
                  </a:extLst>
                </a:gridCol>
              </a:tblGrid>
              <a:tr h="190500">
                <a:tc>
                  <a:txBody>
                    <a:bodyPr/>
                    <a:lstStyle/>
                    <a:p>
                      <a:pPr algn="l" fontAlgn="b"/>
                      <a:r>
                        <a:rPr lang="en-US" sz="1100" u="none" strike="noStrike">
                          <a:effectLst/>
                        </a:rPr>
                        <a:t>Q1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1805.5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11328708"/>
                  </a:ext>
                </a:extLst>
              </a:tr>
              <a:tr h="190500">
                <a:tc>
                  <a:txBody>
                    <a:bodyPr/>
                    <a:lstStyle/>
                    <a:p>
                      <a:pPr algn="l" fontAlgn="b"/>
                      <a:r>
                        <a:rPr lang="en-US" sz="1100" u="none" strike="noStrike">
                          <a:effectLst/>
                        </a:rPr>
                        <a:t>Q3</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3316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91697286"/>
                  </a:ext>
                </a:extLst>
              </a:tr>
              <a:tr h="190500">
                <a:tc>
                  <a:txBody>
                    <a:bodyPr/>
                    <a:lstStyle/>
                    <a:p>
                      <a:pPr algn="l" fontAlgn="b"/>
                      <a:r>
                        <a:rPr lang="en-US" sz="1100" u="none" strike="noStrike">
                          <a:effectLst/>
                        </a:rPr>
                        <a:t>IRQ</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1510.5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92648061"/>
                  </a:ext>
                </a:extLst>
              </a:tr>
              <a:tr h="190500">
                <a:tc>
                  <a:txBody>
                    <a:bodyPr/>
                    <a:lstStyle/>
                    <a:p>
                      <a:pPr algn="l" fontAlgn="b"/>
                      <a:r>
                        <a:rPr lang="en-US" sz="1100" u="none" strike="noStrike">
                          <a:effectLst/>
                        </a:rPr>
                        <a:t>Lower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-460.25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71637886"/>
                  </a:ext>
                </a:extLst>
              </a:tr>
              <a:tr h="190500">
                <a:tc>
                  <a:txBody>
                    <a:bodyPr/>
                    <a:lstStyle/>
                    <a:p>
                      <a:pPr algn="l" fontAlgn="b"/>
                      <a:r>
                        <a:rPr lang="en-US" sz="1100" u="none" strike="noStrike">
                          <a:effectLst/>
                        </a:rPr>
                        <a:t>Upper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5581.75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20433828"/>
                  </a:ext>
                </a:extLst>
              </a:tr>
              <a:tr h="190500">
                <a:tc>
                  <a:txBody>
                    <a:bodyPr/>
                    <a:lstStyle/>
                    <a:p>
                      <a:pPr algn="l" fontAlgn="b"/>
                      <a:r>
                        <a:rPr lang="en-US" sz="1100" u="none" strike="noStrike">
                          <a:effectLst/>
                        </a:rPr>
                        <a:t>Outliers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Neamt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7575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9513766"/>
                  </a:ext>
                </a:extLst>
              </a:tr>
              <a:tr h="190500">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Maramures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7142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66624393"/>
                  </a:ext>
                </a:extLst>
              </a:tr>
            </a:tbl>
          </a:graphicData>
        </a:graphic>
      </p:graphicFrame>
      <p:sp>
        <p:nvSpPr>
          <p:cNvPr id="6" name="Rectangle 5"/>
          <p:cNvSpPr/>
          <p:nvPr/>
        </p:nvSpPr>
        <p:spPr>
          <a:xfrm>
            <a:off x="2828192" y="5430262"/>
            <a:ext cx="8496300" cy="1077218"/>
          </a:xfrm>
          <a:prstGeom prst="rect">
            <a:avLst/>
          </a:prstGeom>
        </p:spPr>
        <p:txBody>
          <a:bodyPr wrap="square">
            <a:spAutoFit/>
          </a:bodyPr>
          <a:lstStyle/>
          <a:p>
            <a:r>
              <a:rPr lang="en-US" sz="1600" dirty="0">
                <a:effectLst>
                  <a:outerShdw blurRad="38100" dist="38100" dir="2700000" algn="tl">
                    <a:srgbClr val="000000">
                      <a:alpha val="43137"/>
                    </a:srgbClr>
                  </a:outerShdw>
                </a:effectLst>
              </a:rPr>
              <a:t>The boxplot is a </a:t>
            </a:r>
            <a:r>
              <a:rPr lang="en-US" sz="1600" dirty="0" smtClean="0">
                <a:effectLst>
                  <a:outerShdw blurRad="38100" dist="38100" dir="2700000" algn="tl">
                    <a:srgbClr val="000000">
                      <a:alpha val="43137"/>
                    </a:srgbClr>
                  </a:outerShdw>
                </a:effectLst>
              </a:rPr>
              <a:t>visual </a:t>
            </a:r>
            <a:r>
              <a:rPr lang="en-US" sz="1600" dirty="0">
                <a:effectLst>
                  <a:outerShdw blurRad="38100" dist="38100" dir="2700000" algn="tl">
                    <a:srgbClr val="000000">
                      <a:alpha val="43137"/>
                    </a:srgbClr>
                  </a:outerShdw>
                </a:effectLst>
              </a:rPr>
              <a:t>representation of IQR and outliers. The box spans approximately from </a:t>
            </a:r>
            <a:r>
              <a:rPr lang="en-US" sz="1600" dirty="0" smtClean="0">
                <a:effectLst>
                  <a:outerShdw blurRad="38100" dist="38100" dir="2700000" algn="tl">
                    <a:srgbClr val="000000">
                      <a:alpha val="43137"/>
                    </a:srgbClr>
                  </a:outerShdw>
                </a:effectLst>
              </a:rPr>
              <a:t>-460 </a:t>
            </a:r>
            <a:r>
              <a:rPr lang="en-US" sz="1600" dirty="0">
                <a:effectLst>
                  <a:outerShdw blurRad="38100" dist="38100" dir="2700000" algn="tl">
                    <a:srgbClr val="000000">
                      <a:alpha val="43137"/>
                    </a:srgbClr>
                  </a:outerShdw>
                </a:effectLst>
              </a:rPr>
              <a:t>to </a:t>
            </a:r>
            <a:r>
              <a:rPr lang="en-US" sz="1600" dirty="0" smtClean="0">
                <a:effectLst>
                  <a:outerShdw blurRad="38100" dist="38100" dir="2700000" algn="tl">
                    <a:srgbClr val="000000">
                      <a:alpha val="43137"/>
                    </a:srgbClr>
                  </a:outerShdw>
                </a:effectLst>
              </a:rPr>
              <a:t>5581 </a:t>
            </a:r>
            <a:r>
              <a:rPr lang="en-US" sz="1600" dirty="0">
                <a:effectLst>
                  <a:outerShdw blurRad="38100" dist="38100" dir="2700000" algn="tl">
                    <a:srgbClr val="000000">
                      <a:alpha val="43137"/>
                    </a:srgbClr>
                  </a:outerShdw>
                </a:effectLst>
              </a:rPr>
              <a:t>and the outliers are represented beyond the lower and upper bounds , that's why </a:t>
            </a:r>
            <a:r>
              <a:rPr lang="en-US" sz="1600" dirty="0" err="1" smtClean="0">
                <a:effectLst>
                  <a:outerShdw blurRad="38100" dist="38100" dir="2700000" algn="tl">
                    <a:srgbClr val="000000">
                      <a:alpha val="43137"/>
                    </a:srgbClr>
                  </a:outerShdw>
                </a:effectLst>
              </a:rPr>
              <a:t>Neamt</a:t>
            </a:r>
            <a:r>
              <a:rPr lang="en-US" sz="1600" dirty="0" smtClean="0">
                <a:effectLst>
                  <a:outerShdw blurRad="38100" dist="38100" dir="2700000" algn="tl">
                    <a:srgbClr val="000000">
                      <a:alpha val="43137"/>
                    </a:srgbClr>
                  </a:outerShdw>
                </a:effectLst>
              </a:rPr>
              <a:t> and </a:t>
            </a:r>
            <a:r>
              <a:rPr lang="en-US" sz="1600" dirty="0" err="1" smtClean="0">
                <a:effectLst>
                  <a:outerShdw blurRad="38100" dist="38100" dir="2700000" algn="tl">
                    <a:srgbClr val="000000">
                      <a:alpha val="43137"/>
                    </a:srgbClr>
                  </a:outerShdw>
                </a:effectLst>
              </a:rPr>
              <a:t>Maramures</a:t>
            </a:r>
            <a:r>
              <a:rPr lang="en-US" sz="1600" dirty="0" smtClean="0">
                <a:effectLst>
                  <a:outerShdw blurRad="38100" dist="38100" dir="2700000" algn="tl">
                    <a:srgbClr val="000000">
                      <a:alpha val="43137"/>
                    </a:srgbClr>
                  </a:outerShdw>
                </a:effectLst>
              </a:rPr>
              <a:t> are the outliers, </a:t>
            </a:r>
            <a:r>
              <a:rPr lang="en-US" sz="1600" dirty="0">
                <a:effectLst>
                  <a:outerShdw blurRad="38100" dist="38100" dir="2700000" algn="tl">
                    <a:srgbClr val="000000">
                      <a:alpha val="43137"/>
                    </a:srgbClr>
                  </a:outerShdw>
                </a:effectLst>
              </a:rPr>
              <a:t>with values significantly different from the majority</a:t>
            </a:r>
          </a:p>
        </p:txBody>
      </p:sp>
    </p:spTree>
    <p:extLst>
      <p:ext uri="{BB962C8B-B14F-4D97-AF65-F5344CB8AC3E}">
        <p14:creationId xmlns:p14="http://schemas.microsoft.com/office/powerpoint/2010/main" val="1702931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830580"/>
            <a:ext cx="6393180" cy="1630680"/>
          </a:xfrm>
        </p:spPr>
        <p:txBody>
          <a:bodyPr/>
          <a:lstStyle/>
          <a:p>
            <a:pPr algn="l"/>
            <a:r>
              <a:rPr lang="en-US" sz="2400" dirty="0">
                <a:latin typeface="Century Gothic" panose="020B0502020202020204" pitchFamily="34" charset="0"/>
              </a:rPr>
              <a:t>6.</a:t>
            </a:r>
            <a:r>
              <a:rPr lang="en-US" sz="2400" b="0" i="0" u="none" strike="noStrike" baseline="0" dirty="0">
                <a:solidFill>
                  <a:srgbClr val="000000"/>
                </a:solidFill>
                <a:latin typeface="Cambria" panose="02040503050406030204" pitchFamily="18" charset="0"/>
              </a:rPr>
              <a:t> </a:t>
            </a:r>
            <a:r>
              <a:rPr lang="en-US" sz="2400" i="0" u="none" strike="noStrike" baseline="0" dirty="0">
                <a:solidFill>
                  <a:schemeClr val="accent3">
                    <a:lumMod val="50000"/>
                  </a:schemeClr>
                </a:solidFill>
                <a:latin typeface="Century Gothic" panose="020B0502020202020204" pitchFamily="34" charset="0"/>
              </a:rPr>
              <a:t>Identify the outliers. Develop and discuss the boxplot for the distribution of each variable. (deaths)</a:t>
            </a:r>
            <a:br>
              <a:rPr lang="en-US" sz="2400" i="0" u="none" strike="noStrike" baseline="0" dirty="0">
                <a:solidFill>
                  <a:schemeClr val="accent3">
                    <a:lumMod val="50000"/>
                  </a:schemeClr>
                </a:solidFill>
                <a:latin typeface="Century Gothic" panose="020B0502020202020204" pitchFamily="34" charset="0"/>
              </a:rPr>
            </a:br>
            <a:r>
              <a:rPr lang="en-US" sz="2400" i="0" u="none" strike="noStrike" baseline="0" dirty="0">
                <a:solidFill>
                  <a:schemeClr val="accent3">
                    <a:lumMod val="50000"/>
                  </a:schemeClr>
                </a:solidFill>
                <a:latin typeface="Century Gothic" panose="020B0502020202020204" pitchFamily="34" charset="0"/>
              </a:rPr>
              <a:t> </a:t>
            </a:r>
            <a:br>
              <a:rPr lang="en-US" sz="2400" i="0" u="none" strike="noStrike" baseline="0" dirty="0">
                <a:solidFill>
                  <a:schemeClr val="accent3">
                    <a:lumMod val="50000"/>
                  </a:schemeClr>
                </a:solidFill>
                <a:latin typeface="Century Gothic" panose="020B0502020202020204" pitchFamily="34" charset="0"/>
              </a:rPr>
            </a:br>
            <a:r>
              <a:rPr lang="en-US" sz="2400" dirty="0"/>
              <a:t>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25</a:t>
            </a:fld>
            <a:endParaRPr lang="en-US" dirty="0"/>
          </a:p>
        </p:txBody>
      </p:sp>
      <mc:AlternateContent xmlns:mc="http://schemas.openxmlformats.org/markup-compatibility/2006">
        <mc:Choice xmlns:cx1="http://schemas.microsoft.com/office/drawing/2015/9/8/chartex" xmlns="" Requires="cx1">
          <p:graphicFrame>
            <p:nvGraphicFramePr>
              <p:cNvPr id="3" name="Chart 2">
                <a:extLst>
                  <a:ext uri="{FF2B5EF4-FFF2-40B4-BE49-F238E27FC236}">
                    <a16:creationId xmlns:a16="http://schemas.microsoft.com/office/drawing/2014/main" id="{921E54F4-1479-4062-887B-50736D7770DC}"/>
                  </a:ext>
                </a:extLst>
              </p:cNvPr>
              <p:cNvGraphicFramePr/>
              <p:nvPr>
                <p:extLst>
                  <p:ext uri="{D42A27DB-BD31-4B8C-83A1-F6EECF244321}">
                    <p14:modId xmlns:p14="http://schemas.microsoft.com/office/powerpoint/2010/main" val="2282678453"/>
                  </p:ext>
                </p:extLst>
              </p:nvPr>
            </p:nvGraphicFramePr>
            <p:xfrm>
              <a:off x="6682740" y="2156460"/>
              <a:ext cx="4572000" cy="27432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3" name="Chart 2">
                <a:extLst>
                  <a:ext uri="{FF2B5EF4-FFF2-40B4-BE49-F238E27FC236}">
                    <a16:creationId xmlns:a16="http://schemas.microsoft.com/office/drawing/2014/main" id="{921E54F4-1479-4062-887B-50736D7770DC}"/>
                  </a:ext>
                </a:extLst>
              </p:cNvPr>
              <p:cNvPicPr>
                <a:picLocks noGrp="1" noRot="1" noChangeAspect="1" noMove="1" noResize="1" noEditPoints="1" noAdjustHandles="1" noChangeArrowheads="1" noChangeShapeType="1"/>
              </p:cNvPicPr>
              <p:nvPr/>
            </p:nvPicPr>
            <p:blipFill>
              <a:blip r:embed="rId3"/>
              <a:stretch>
                <a:fillRect/>
              </a:stretch>
            </p:blipFill>
            <p:spPr>
              <a:xfrm>
                <a:off x="6682740" y="2156460"/>
                <a:ext cx="4572000" cy="2743200"/>
              </a:xfrm>
              <a:prstGeom prst="rect">
                <a:avLst/>
              </a:prstGeom>
            </p:spPr>
          </p:pic>
        </mc:Fallback>
      </mc:AlternateContent>
      <p:graphicFrame>
        <p:nvGraphicFramePr>
          <p:cNvPr id="6" name="Table 5">
            <a:extLst>
              <a:ext uri="{FF2B5EF4-FFF2-40B4-BE49-F238E27FC236}">
                <a16:creationId xmlns:a16="http://schemas.microsoft.com/office/drawing/2014/main" id="{90013A5C-6B93-B097-2CD6-4F2CEACC7B11}"/>
              </a:ext>
            </a:extLst>
          </p:cNvPr>
          <p:cNvGraphicFramePr>
            <a:graphicFrameLocks noGrp="1"/>
          </p:cNvGraphicFramePr>
          <p:nvPr>
            <p:extLst>
              <p:ext uri="{D42A27DB-BD31-4B8C-83A1-F6EECF244321}">
                <p14:modId xmlns:p14="http://schemas.microsoft.com/office/powerpoint/2010/main" val="2335841430"/>
              </p:ext>
            </p:extLst>
          </p:nvPr>
        </p:nvGraphicFramePr>
        <p:xfrm>
          <a:off x="495300" y="2461260"/>
          <a:ext cx="1828800" cy="19659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589207948"/>
                    </a:ext>
                  </a:extLst>
                </a:gridCol>
                <a:gridCol w="609600">
                  <a:extLst>
                    <a:ext uri="{9D8B030D-6E8A-4147-A177-3AD203B41FA5}">
                      <a16:colId xmlns:a16="http://schemas.microsoft.com/office/drawing/2014/main" val="435208474"/>
                    </a:ext>
                  </a:extLst>
                </a:gridCol>
                <a:gridCol w="609600">
                  <a:extLst>
                    <a:ext uri="{9D8B030D-6E8A-4147-A177-3AD203B41FA5}">
                      <a16:colId xmlns:a16="http://schemas.microsoft.com/office/drawing/2014/main" val="1450909712"/>
                    </a:ext>
                  </a:extLst>
                </a:gridCol>
              </a:tblGrid>
              <a:tr h="518160">
                <a:tc>
                  <a:txBody>
                    <a:bodyPr/>
                    <a:lstStyle/>
                    <a:p>
                      <a:pPr algn="l" fontAlgn="b"/>
                      <a:r>
                        <a:rPr lang="en-US" sz="1100" u="none" strike="noStrike">
                          <a:effectLst/>
                        </a:rPr>
                        <a:t>Q1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4519.5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01561440"/>
                  </a:ext>
                </a:extLst>
              </a:tr>
              <a:tr h="190500">
                <a:tc>
                  <a:txBody>
                    <a:bodyPr/>
                    <a:lstStyle/>
                    <a:p>
                      <a:pPr algn="l" fontAlgn="b"/>
                      <a:r>
                        <a:rPr lang="en-US" sz="1100" u="none" strike="noStrike">
                          <a:effectLst/>
                        </a:rPr>
                        <a:t>Q3</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7622.25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2338109"/>
                  </a:ext>
                </a:extLst>
              </a:tr>
              <a:tr h="190500">
                <a:tc>
                  <a:txBody>
                    <a:bodyPr/>
                    <a:lstStyle/>
                    <a:p>
                      <a:pPr algn="l" fontAlgn="b"/>
                      <a:r>
                        <a:rPr lang="en-US" sz="1100" u="none" strike="noStrike">
                          <a:effectLst/>
                        </a:rPr>
                        <a:t>IRQ</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3102.75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9135466"/>
                  </a:ext>
                </a:extLst>
              </a:tr>
              <a:tr h="190500">
                <a:tc>
                  <a:txBody>
                    <a:bodyPr/>
                    <a:lstStyle/>
                    <a:p>
                      <a:pPr algn="l" fontAlgn="b"/>
                      <a:r>
                        <a:rPr lang="en-US" sz="1100" u="none" strike="noStrike">
                          <a:effectLst/>
                        </a:rPr>
                        <a:t>Lower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-134.625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3096012"/>
                  </a:ext>
                </a:extLst>
              </a:tr>
              <a:tr h="190500">
                <a:tc>
                  <a:txBody>
                    <a:bodyPr/>
                    <a:lstStyle/>
                    <a:p>
                      <a:pPr algn="l" fontAlgn="b"/>
                      <a:r>
                        <a:rPr lang="en-US" sz="1100" u="none" strike="noStrike">
                          <a:effectLst/>
                        </a:rPr>
                        <a:t>Upper Bound</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12276.38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7242082"/>
                  </a:ext>
                </a:extLst>
              </a:tr>
              <a:tr h="190500">
                <a:tc>
                  <a:txBody>
                    <a:bodyPr/>
                    <a:lstStyle/>
                    <a:p>
                      <a:pPr algn="l" fontAlgn="b"/>
                      <a:r>
                        <a:rPr lang="en-US" sz="1100" u="none" strike="noStrike">
                          <a:effectLst/>
                        </a:rPr>
                        <a:t>Outliers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Cluj</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7142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97628402"/>
                  </a:ext>
                </a:extLst>
              </a:tr>
              <a:tr h="190500">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Iasi</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7575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75549393"/>
                  </a:ext>
                </a:extLst>
              </a:tr>
            </a:tbl>
          </a:graphicData>
        </a:graphic>
      </p:graphicFrame>
      <p:sp>
        <p:nvSpPr>
          <p:cNvPr id="7" name="Rectangle 6"/>
          <p:cNvSpPr/>
          <p:nvPr/>
        </p:nvSpPr>
        <p:spPr>
          <a:xfrm>
            <a:off x="2646191" y="5603623"/>
            <a:ext cx="8608549" cy="830997"/>
          </a:xfrm>
          <a:prstGeom prst="rect">
            <a:avLst/>
          </a:prstGeom>
        </p:spPr>
        <p:txBody>
          <a:bodyPr wrap="square">
            <a:spAutoFit/>
          </a:bodyPr>
          <a:lstStyle/>
          <a:p>
            <a:r>
              <a:rPr lang="en-US" sz="1600" dirty="0">
                <a:effectLst>
                  <a:outerShdw blurRad="38100" dist="38100" dir="2700000" algn="tl">
                    <a:srgbClr val="000000">
                      <a:alpha val="43137"/>
                    </a:srgbClr>
                  </a:outerShdw>
                </a:effectLst>
              </a:rPr>
              <a:t>The boxplot is a </a:t>
            </a:r>
            <a:r>
              <a:rPr lang="en-US" sz="1600" dirty="0" smtClean="0">
                <a:effectLst>
                  <a:outerShdw blurRad="38100" dist="38100" dir="2700000" algn="tl">
                    <a:srgbClr val="000000">
                      <a:alpha val="43137"/>
                    </a:srgbClr>
                  </a:outerShdw>
                </a:effectLst>
              </a:rPr>
              <a:t>visual </a:t>
            </a:r>
            <a:r>
              <a:rPr lang="en-US" sz="1600" dirty="0">
                <a:effectLst>
                  <a:outerShdw blurRad="38100" dist="38100" dir="2700000" algn="tl">
                    <a:srgbClr val="000000">
                      <a:alpha val="43137"/>
                    </a:srgbClr>
                  </a:outerShdw>
                </a:effectLst>
              </a:rPr>
              <a:t>representation of IQR and outliers. The box spans approximately from -</a:t>
            </a:r>
            <a:r>
              <a:rPr lang="en-US" sz="1600" dirty="0" smtClean="0">
                <a:effectLst>
                  <a:outerShdw blurRad="38100" dist="38100" dir="2700000" algn="tl">
                    <a:srgbClr val="000000">
                      <a:alpha val="43137"/>
                    </a:srgbClr>
                  </a:outerShdw>
                </a:effectLst>
              </a:rPr>
              <a:t>134 to 12276 </a:t>
            </a:r>
            <a:r>
              <a:rPr lang="en-US" sz="1600" dirty="0">
                <a:effectLst>
                  <a:outerShdw blurRad="38100" dist="38100" dir="2700000" algn="tl">
                    <a:srgbClr val="000000">
                      <a:alpha val="43137"/>
                    </a:srgbClr>
                  </a:outerShdw>
                </a:effectLst>
              </a:rPr>
              <a:t>and the outliers are represented beyond the lower and upper bounds , that's why </a:t>
            </a:r>
            <a:r>
              <a:rPr lang="en-US" sz="1600" dirty="0" err="1" smtClean="0">
                <a:effectLst>
                  <a:outerShdw blurRad="38100" dist="38100" dir="2700000" algn="tl">
                    <a:srgbClr val="000000">
                      <a:alpha val="43137"/>
                    </a:srgbClr>
                  </a:outerShdw>
                </a:effectLst>
              </a:rPr>
              <a:t>Cluj</a:t>
            </a:r>
            <a:r>
              <a:rPr lang="en-US" sz="1600" dirty="0" smtClean="0">
                <a:effectLst>
                  <a:outerShdw blurRad="38100" dist="38100" dir="2700000" algn="tl">
                    <a:srgbClr val="000000">
                      <a:alpha val="43137"/>
                    </a:srgbClr>
                  </a:outerShdw>
                </a:effectLst>
              </a:rPr>
              <a:t> and Iasi are the outliers with </a:t>
            </a:r>
            <a:r>
              <a:rPr lang="en-US" sz="1600" dirty="0">
                <a:effectLst>
                  <a:outerShdw blurRad="38100" dist="38100" dir="2700000" algn="tl">
                    <a:srgbClr val="000000">
                      <a:alpha val="43137"/>
                    </a:srgbClr>
                  </a:outerShdw>
                </a:effectLst>
              </a:rPr>
              <a:t>values significantly different from the majority</a:t>
            </a:r>
          </a:p>
        </p:txBody>
      </p:sp>
    </p:spTree>
    <p:extLst>
      <p:ext uri="{BB962C8B-B14F-4D97-AF65-F5344CB8AC3E}">
        <p14:creationId xmlns:p14="http://schemas.microsoft.com/office/powerpoint/2010/main" val="1556941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B6D7EFF-B730-AC4A-BB8A-A5E1C806985D}"/>
              </a:ext>
            </a:extLst>
          </p:cNvPr>
          <p:cNvSpPr txBox="1"/>
          <p:nvPr/>
        </p:nvSpPr>
        <p:spPr>
          <a:xfrm>
            <a:off x="281940" y="403860"/>
            <a:ext cx="9715500" cy="1754326"/>
          </a:xfrm>
          <a:prstGeom prst="rect">
            <a:avLst/>
          </a:prstGeom>
          <a:noFill/>
        </p:spPr>
        <p:txBody>
          <a:bodyPr wrap="square" rtlCol="0">
            <a:spAutoFit/>
          </a:bodyPr>
          <a:lstStyle/>
          <a:p>
            <a:pPr algn="l"/>
            <a:endParaRPr lang="en-US"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 </a:t>
            </a:r>
          </a:p>
          <a:p>
            <a:r>
              <a:rPr lang="en-US" sz="1800" b="1" i="0" u="none" strike="noStrike" baseline="0" dirty="0">
                <a:solidFill>
                  <a:schemeClr val="accent3">
                    <a:lumMod val="50000"/>
                  </a:schemeClr>
                </a:solidFill>
                <a:latin typeface="Century Gothic" panose="020B0502020202020204" pitchFamily="34" charset="0"/>
              </a:rPr>
              <a:t>7.Using Excel functions, compute covariance and coefficient of correlation. Comment the results. At this point, make sure that the variables included in the analysis ARE COMPARABLE. </a:t>
            </a:r>
          </a:p>
          <a:p>
            <a:endParaRPr lang="en-US" dirty="0"/>
          </a:p>
        </p:txBody>
      </p:sp>
      <p:graphicFrame>
        <p:nvGraphicFramePr>
          <p:cNvPr id="19" name="Table 18">
            <a:extLst>
              <a:ext uri="{FF2B5EF4-FFF2-40B4-BE49-F238E27FC236}">
                <a16:creationId xmlns:a16="http://schemas.microsoft.com/office/drawing/2014/main" id="{3F37277C-D5AA-A7F5-7FBE-FAFBC505E6EA}"/>
              </a:ext>
            </a:extLst>
          </p:cNvPr>
          <p:cNvGraphicFramePr>
            <a:graphicFrameLocks noGrp="1"/>
          </p:cNvGraphicFramePr>
          <p:nvPr>
            <p:extLst>
              <p:ext uri="{D42A27DB-BD31-4B8C-83A1-F6EECF244321}">
                <p14:modId xmlns:p14="http://schemas.microsoft.com/office/powerpoint/2010/main" val="179553937"/>
              </p:ext>
            </p:extLst>
          </p:nvPr>
        </p:nvGraphicFramePr>
        <p:xfrm>
          <a:off x="411480" y="1798320"/>
          <a:ext cx="9532621" cy="2575877"/>
        </p:xfrm>
        <a:graphic>
          <a:graphicData uri="http://schemas.openxmlformats.org/drawingml/2006/table">
            <a:tbl>
              <a:tblPr>
                <a:tableStyleId>{5C22544A-7EE6-4342-B048-85BDC9FD1C3A}</a:tableStyleId>
              </a:tblPr>
              <a:tblGrid>
                <a:gridCol w="1439331">
                  <a:extLst>
                    <a:ext uri="{9D8B030D-6E8A-4147-A177-3AD203B41FA5}">
                      <a16:colId xmlns:a16="http://schemas.microsoft.com/office/drawing/2014/main" val="368133237"/>
                    </a:ext>
                  </a:extLst>
                </a:gridCol>
                <a:gridCol w="1144386">
                  <a:extLst>
                    <a:ext uri="{9D8B030D-6E8A-4147-A177-3AD203B41FA5}">
                      <a16:colId xmlns:a16="http://schemas.microsoft.com/office/drawing/2014/main" val="1103930264"/>
                    </a:ext>
                  </a:extLst>
                </a:gridCol>
                <a:gridCol w="2052817">
                  <a:extLst>
                    <a:ext uri="{9D8B030D-6E8A-4147-A177-3AD203B41FA5}">
                      <a16:colId xmlns:a16="http://schemas.microsoft.com/office/drawing/2014/main" val="281099867"/>
                    </a:ext>
                  </a:extLst>
                </a:gridCol>
                <a:gridCol w="1191578">
                  <a:extLst>
                    <a:ext uri="{9D8B030D-6E8A-4147-A177-3AD203B41FA5}">
                      <a16:colId xmlns:a16="http://schemas.microsoft.com/office/drawing/2014/main" val="4218845934"/>
                    </a:ext>
                  </a:extLst>
                </a:gridCol>
                <a:gridCol w="2630909">
                  <a:extLst>
                    <a:ext uri="{9D8B030D-6E8A-4147-A177-3AD203B41FA5}">
                      <a16:colId xmlns:a16="http://schemas.microsoft.com/office/drawing/2014/main" val="2106117800"/>
                    </a:ext>
                  </a:extLst>
                </a:gridCol>
                <a:gridCol w="1073600">
                  <a:extLst>
                    <a:ext uri="{9D8B030D-6E8A-4147-A177-3AD203B41FA5}">
                      <a16:colId xmlns:a16="http://schemas.microsoft.com/office/drawing/2014/main" val="2910714128"/>
                    </a:ext>
                  </a:extLst>
                </a:gridCol>
              </a:tblGrid>
              <a:tr h="259665">
                <a:tc gridSpan="6">
                  <a:txBody>
                    <a:bodyPr/>
                    <a:lstStyle/>
                    <a:p>
                      <a:pPr algn="ctr" fontAlgn="b"/>
                      <a:r>
                        <a:rPr lang="en-US" sz="1100" u="none" strike="noStrike">
                          <a:effectLst/>
                        </a:rPr>
                        <a:t>Sample Covariance</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78164021"/>
                  </a:ext>
                </a:extLst>
              </a:tr>
              <a:tr h="467397">
                <a:tc>
                  <a:txBody>
                    <a:bodyPr/>
                    <a:lstStyle/>
                    <a:p>
                      <a:pPr algn="ctr" fontAlgn="b"/>
                      <a:r>
                        <a:rPr lang="en-US" sz="1100" u="none" strike="noStrike">
                          <a:effectLst/>
                        </a:rPr>
                        <a:t> </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No. of hospitals</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Physicians (dentists excluded)</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Family doctors</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No. of the beds from sanitary units</a:t>
                      </a:r>
                      <a:endParaRPr lang="en-US" sz="1100" b="0" i="1"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No. of deaths</a:t>
                      </a:r>
                      <a:endParaRPr lang="en-US" sz="1100" b="0" i="1"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60360680"/>
                  </a:ext>
                </a:extLst>
              </a:tr>
              <a:tr h="311598">
                <a:tc>
                  <a:txBody>
                    <a:bodyPr/>
                    <a:lstStyle/>
                    <a:p>
                      <a:pPr algn="l" fontAlgn="b"/>
                      <a:r>
                        <a:rPr lang="en-US" sz="1100" u="none" strike="noStrike">
                          <a:effectLst/>
                        </a:rPr>
                        <a:t>No. of hospitals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72.06436782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07166874"/>
                  </a:ext>
                </a:extLst>
              </a:tr>
              <a:tr h="467397">
                <a:tc>
                  <a:txBody>
                    <a:bodyPr/>
                    <a:lstStyle/>
                    <a:p>
                      <a:pPr algn="l" fontAlgn="b"/>
                      <a:r>
                        <a:rPr lang="en-US" sz="1100" u="none" strike="noStrike">
                          <a:effectLst/>
                        </a:rPr>
                        <a:t>Physicians (dentists excluded)</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8743.172414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1432752.069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24130393"/>
                  </a:ext>
                </a:extLst>
              </a:tr>
              <a:tr h="290825">
                <a:tc>
                  <a:txBody>
                    <a:bodyPr/>
                    <a:lstStyle/>
                    <a:p>
                      <a:pPr algn="l" fontAlgn="b"/>
                      <a:r>
                        <a:rPr lang="en-US" sz="1100" u="none" strike="noStrike">
                          <a:effectLst/>
                        </a:rPr>
                        <a:t>Family doctors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984.8597701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138245.7241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16139.96437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93227459"/>
                  </a:ext>
                </a:extLst>
              </a:tr>
              <a:tr h="467397">
                <a:tc>
                  <a:txBody>
                    <a:bodyPr/>
                    <a:lstStyle/>
                    <a:p>
                      <a:pPr algn="l" fontAlgn="b"/>
                      <a:r>
                        <a:rPr lang="en-US" sz="1100" u="none" strike="noStrike">
                          <a:effectLst/>
                        </a:rPr>
                        <a:t>No. of the beds from sanitary units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12972.0069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1840020.448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196808.2966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2666786.731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10936690"/>
                  </a:ext>
                </a:extLst>
              </a:tr>
              <a:tr h="311598">
                <a:tc>
                  <a:txBody>
                    <a:bodyPr/>
                    <a:lstStyle/>
                    <a:p>
                      <a:pPr algn="l" fontAlgn="b"/>
                      <a:r>
                        <a:rPr lang="en-US" sz="1100" u="none" strike="noStrike">
                          <a:effectLst/>
                        </a:rPr>
                        <a:t>No. of deaths</a:t>
                      </a:r>
                      <a:endParaRPr lang="en-US" sz="1100" b="1" i="0" u="none" strike="noStrike">
                        <a:solidFill>
                          <a:srgbClr val="44546A"/>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13919.45747</a:t>
                      </a:r>
                      <a:endParaRPr lang="en-US" sz="1100" b="1" i="0" u="none" strike="noStrike">
                        <a:solidFill>
                          <a:srgbClr val="44546A"/>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1576528.724</a:t>
                      </a:r>
                      <a:endParaRPr lang="en-US" sz="1100" b="1" i="0" u="none" strike="noStrike">
                        <a:solidFill>
                          <a:srgbClr val="44546A"/>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221277.4701</a:t>
                      </a:r>
                      <a:endParaRPr lang="en-US" sz="1100" b="1" i="0" u="none" strike="noStrike">
                        <a:solidFill>
                          <a:srgbClr val="44546A"/>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2770369.641</a:t>
                      </a:r>
                      <a:endParaRPr lang="en-US" sz="1100" b="1" i="0" u="none" strike="noStrike">
                        <a:solidFill>
                          <a:srgbClr val="44546A"/>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4676739.275</a:t>
                      </a:r>
                      <a:endParaRPr lang="en-US" sz="1100" b="1" i="0" u="none" strike="noStrike" dirty="0">
                        <a:solidFill>
                          <a:srgbClr val="44546A"/>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9268541"/>
                  </a:ext>
                </a:extLst>
              </a:tr>
            </a:tbl>
          </a:graphicData>
        </a:graphic>
      </p:graphicFrame>
      <p:sp>
        <p:nvSpPr>
          <p:cNvPr id="21" name="TextBox 20">
            <a:extLst>
              <a:ext uri="{FF2B5EF4-FFF2-40B4-BE49-F238E27FC236}">
                <a16:creationId xmlns:a16="http://schemas.microsoft.com/office/drawing/2014/main" id="{25D906B2-9971-3067-7915-8E674F41D625}"/>
              </a:ext>
            </a:extLst>
          </p:cNvPr>
          <p:cNvSpPr txBox="1"/>
          <p:nvPr/>
        </p:nvSpPr>
        <p:spPr>
          <a:xfrm>
            <a:off x="1701164" y="4386313"/>
            <a:ext cx="8791575" cy="646331"/>
          </a:xfrm>
          <a:prstGeom prst="rect">
            <a:avLst/>
          </a:prstGeom>
          <a:noFill/>
        </p:spPr>
        <p:txBody>
          <a:bodyPr wrap="square">
            <a:spAutoFit/>
          </a:bodyPr>
          <a:lstStyle/>
          <a:p>
            <a:r>
              <a:rPr lang="en-US" b="0" i="0" dirty="0">
                <a:solidFill>
                  <a:srgbClr val="040C28"/>
                </a:solidFill>
                <a:effectLst/>
                <a:latin typeface="Google Sans"/>
              </a:rPr>
              <a:t>We have positive </a:t>
            </a:r>
            <a:r>
              <a:rPr lang="en-US" b="0" i="0" dirty="0" err="1">
                <a:solidFill>
                  <a:srgbClr val="040C28"/>
                </a:solidFill>
                <a:effectLst/>
                <a:latin typeface="Google Sans"/>
              </a:rPr>
              <a:t>covariance.A</a:t>
            </a:r>
            <a:r>
              <a:rPr lang="en-US" b="0" i="0" dirty="0">
                <a:solidFill>
                  <a:srgbClr val="040C28"/>
                </a:solidFill>
                <a:effectLst/>
                <a:latin typeface="Google Sans"/>
              </a:rPr>
              <a:t> positive covariance means that both variables tend to be high or low at the same time</a:t>
            </a:r>
            <a:r>
              <a:rPr lang="en-US" dirty="0">
                <a:solidFill>
                  <a:srgbClr val="040C28"/>
                </a:solidFill>
                <a:latin typeface="Google Sans"/>
              </a:rPr>
              <a:t> .</a:t>
            </a:r>
            <a:endParaRPr lang="en-US" dirty="0"/>
          </a:p>
        </p:txBody>
      </p:sp>
    </p:spTree>
    <p:extLst>
      <p:ext uri="{BB962C8B-B14F-4D97-AF65-F5344CB8AC3E}">
        <p14:creationId xmlns:p14="http://schemas.microsoft.com/office/powerpoint/2010/main" val="3170280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B6D7EFF-B730-AC4A-BB8A-A5E1C806985D}"/>
              </a:ext>
            </a:extLst>
          </p:cNvPr>
          <p:cNvSpPr txBox="1"/>
          <p:nvPr/>
        </p:nvSpPr>
        <p:spPr>
          <a:xfrm>
            <a:off x="198120" y="-502920"/>
            <a:ext cx="9997440" cy="1754326"/>
          </a:xfrm>
          <a:prstGeom prst="rect">
            <a:avLst/>
          </a:prstGeom>
          <a:noFill/>
        </p:spPr>
        <p:txBody>
          <a:bodyPr wrap="square" rtlCol="0">
            <a:spAutoFit/>
          </a:bodyPr>
          <a:lstStyle/>
          <a:p>
            <a:pPr algn="l"/>
            <a:endParaRPr lang="en-US"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 </a:t>
            </a:r>
          </a:p>
          <a:p>
            <a:r>
              <a:rPr lang="en-US" sz="1800" b="1" i="0" u="none" strike="noStrike" baseline="0" dirty="0">
                <a:solidFill>
                  <a:schemeClr val="accent3">
                    <a:lumMod val="50000"/>
                  </a:schemeClr>
                </a:solidFill>
                <a:latin typeface="Century Gothic" panose="020B0502020202020204" pitchFamily="34" charset="0"/>
              </a:rPr>
              <a:t>7.Using Excel functions, compute covariance and coefficient of correlation. Comment the results. At this point, make sure that the variables included in the analysis ARE COMPARABLE. </a:t>
            </a:r>
          </a:p>
          <a:p>
            <a:endParaRPr lang="en-US" dirty="0"/>
          </a:p>
        </p:txBody>
      </p:sp>
      <p:sp>
        <p:nvSpPr>
          <p:cNvPr id="3" name="TextBox 2">
            <a:extLst>
              <a:ext uri="{FF2B5EF4-FFF2-40B4-BE49-F238E27FC236}">
                <a16:creationId xmlns:a16="http://schemas.microsoft.com/office/drawing/2014/main" id="{9BF29E7C-097F-15D7-067E-BE3FBE188AFF}"/>
              </a:ext>
            </a:extLst>
          </p:cNvPr>
          <p:cNvSpPr txBox="1"/>
          <p:nvPr/>
        </p:nvSpPr>
        <p:spPr>
          <a:xfrm>
            <a:off x="198120" y="998218"/>
            <a:ext cx="11993880" cy="2585323"/>
          </a:xfrm>
          <a:prstGeom prst="rect">
            <a:avLst/>
          </a:prstGeom>
          <a:noFill/>
        </p:spPr>
        <p:txBody>
          <a:bodyPr wrap="square">
            <a:spAutoFit/>
          </a:bodyPr>
          <a:lstStyle/>
          <a:p>
            <a:r>
              <a:rPr lang="en-US" dirty="0"/>
              <a:t>We did the </a:t>
            </a:r>
            <a:r>
              <a:rPr lang="en-US" b="1" i="1" u="sng" dirty="0"/>
              <a:t>Sample covariance </a:t>
            </a:r>
            <a:r>
              <a:rPr lang="en-US" dirty="0"/>
              <a:t>which is used when you only have a sample from the population and want to estimate the covariance for the entire population and the </a:t>
            </a:r>
            <a:r>
              <a:rPr lang="en-US" b="1" i="1" u="sng" dirty="0"/>
              <a:t>Population covariance </a:t>
            </a:r>
            <a:r>
              <a:rPr lang="en-US" dirty="0"/>
              <a:t>is used when you have data for the entire population and want to understand the relationship between two variables. In our case there is not big of a difference between the two tables but the sample covariance is the better option because we need to compare it with the coefficient of correlation.</a:t>
            </a:r>
          </a:p>
          <a:p>
            <a:r>
              <a:rPr lang="en-US" dirty="0"/>
              <a:t> </a:t>
            </a:r>
            <a:r>
              <a:rPr lang="en-US" b="1" i="1" u="sng" dirty="0"/>
              <a:t>Correlation coefficients </a:t>
            </a:r>
            <a:r>
              <a:rPr lang="en-US" dirty="0"/>
              <a:t>provide a standardized measure of the strength and direction of linear relationships, while </a:t>
            </a:r>
            <a:r>
              <a:rPr lang="en-US" b="1" i="1" dirty="0"/>
              <a:t>covariance values </a:t>
            </a:r>
            <a:r>
              <a:rPr lang="en-US" dirty="0"/>
              <a:t>are in the units of the </a:t>
            </a:r>
            <a:r>
              <a:rPr lang="en-US" dirty="0" err="1"/>
              <a:t>variables.</a:t>
            </a:r>
            <a:r>
              <a:rPr lang="en-US" b="1" i="1" u="sng" dirty="0" err="1"/>
              <a:t>The</a:t>
            </a:r>
            <a:r>
              <a:rPr lang="en-US" b="1" i="1" u="sng" dirty="0"/>
              <a:t> correlation matrix ranges from -1 to 1, while the covariance matrix can take any real </a:t>
            </a:r>
            <a:r>
              <a:rPr lang="en-US" b="1" i="1" u="sng" dirty="0" err="1"/>
              <a:t>value.</a:t>
            </a:r>
            <a:r>
              <a:rPr lang="en-US" dirty="0" err="1"/>
              <a:t>Interpretation</a:t>
            </a:r>
            <a:r>
              <a:rPr lang="en-US" dirty="0"/>
              <a:t> of correlation coefficients is more straightforward (e.g., a correlation of 0.8 indicates a strong positive relationship), while interpretation of covariance values requires considering the scale of the variables.</a:t>
            </a:r>
          </a:p>
        </p:txBody>
      </p:sp>
    </p:spTree>
    <p:extLst>
      <p:ext uri="{BB962C8B-B14F-4D97-AF65-F5344CB8AC3E}">
        <p14:creationId xmlns:p14="http://schemas.microsoft.com/office/powerpoint/2010/main" val="1983490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251460" y="647700"/>
            <a:ext cx="11612880" cy="1623060"/>
          </a:xfrm>
        </p:spPr>
        <p:txBody>
          <a:bodyPr/>
          <a:lstStyle/>
          <a:p>
            <a:r>
              <a:rPr lang="en-US" sz="1800" b="0" i="0" u="none" strike="noStrike" baseline="0" dirty="0">
                <a:solidFill>
                  <a:schemeClr val="accent3">
                    <a:lumMod val="50000"/>
                  </a:schemeClr>
                </a:solidFill>
                <a:latin typeface="Century Gothic" panose="020B0502020202020204" pitchFamily="34" charset="0"/>
              </a:rPr>
              <a:t/>
            </a:r>
            <a:br>
              <a:rPr lang="en-US" sz="1800" b="0" i="0" u="none" strike="noStrike" baseline="0" dirty="0">
                <a:solidFill>
                  <a:schemeClr val="accent3">
                    <a:lumMod val="50000"/>
                  </a:schemeClr>
                </a:solidFill>
                <a:latin typeface="Century Gothic" panose="020B0502020202020204" pitchFamily="34" charset="0"/>
              </a:rPr>
            </a:br>
            <a:r>
              <a:rPr lang="en-US" sz="1800" b="0" i="0" u="none" strike="noStrike" baseline="0" dirty="0">
                <a:solidFill>
                  <a:schemeClr val="accent3">
                    <a:lumMod val="50000"/>
                  </a:schemeClr>
                </a:solidFill>
                <a:latin typeface="Century Gothic" panose="020B0502020202020204" pitchFamily="34" charset="0"/>
              </a:rPr>
              <a:t> </a:t>
            </a:r>
            <a:br>
              <a:rPr lang="en-US" sz="1800" b="0" i="0" u="none" strike="noStrike" baseline="0" dirty="0">
                <a:solidFill>
                  <a:schemeClr val="accent3">
                    <a:lumMod val="50000"/>
                  </a:schemeClr>
                </a:solidFill>
                <a:latin typeface="Century Gothic" panose="020B0502020202020204" pitchFamily="34" charset="0"/>
              </a:rPr>
            </a:br>
            <a:r>
              <a:rPr lang="en-US" sz="1800" b="0" i="0" u="none" strike="noStrike" baseline="0" dirty="0">
                <a:solidFill>
                  <a:schemeClr val="accent3">
                    <a:lumMod val="50000"/>
                  </a:schemeClr>
                </a:solidFill>
                <a:latin typeface="Century Gothic" panose="020B0502020202020204" pitchFamily="34" charset="0"/>
              </a:rPr>
              <a:t>8.Use a selection of 10 units and Analyze the correlation between two variables using two non-parametric coefficients. (SPEARMAN)</a:t>
            </a:r>
            <a:br>
              <a:rPr lang="en-US" sz="1800" b="0" i="0" u="none" strike="noStrike" baseline="0" dirty="0">
                <a:solidFill>
                  <a:schemeClr val="accent3">
                    <a:lumMod val="50000"/>
                  </a:schemeClr>
                </a:solidFill>
                <a:latin typeface="Century Gothic" panose="020B0502020202020204" pitchFamily="34" charset="0"/>
              </a:rPr>
            </a:br>
            <a:endParaRPr lang="en-US" dirty="0">
              <a:solidFill>
                <a:schemeClr val="accent3">
                  <a:lumMod val="50000"/>
                </a:schemeClr>
              </a:solidFill>
              <a:latin typeface="Century Gothic" panose="020B0502020202020204" pitchFamily="34" charset="0"/>
            </a:endParaRPr>
          </a:p>
        </p:txBody>
      </p:sp>
      <p:graphicFrame>
        <p:nvGraphicFramePr>
          <p:cNvPr id="3" name="Table 2">
            <a:extLst>
              <a:ext uri="{FF2B5EF4-FFF2-40B4-BE49-F238E27FC236}">
                <a16:creationId xmlns:a16="http://schemas.microsoft.com/office/drawing/2014/main" id="{2E2C7BED-2C6A-6071-A94B-5C151614BA43}"/>
              </a:ext>
            </a:extLst>
          </p:cNvPr>
          <p:cNvGraphicFramePr>
            <a:graphicFrameLocks noGrp="1"/>
          </p:cNvGraphicFramePr>
          <p:nvPr>
            <p:extLst>
              <p:ext uri="{D42A27DB-BD31-4B8C-83A1-F6EECF244321}">
                <p14:modId xmlns:p14="http://schemas.microsoft.com/office/powerpoint/2010/main" val="1631425767"/>
              </p:ext>
            </p:extLst>
          </p:nvPr>
        </p:nvGraphicFramePr>
        <p:xfrm>
          <a:off x="251460" y="2332990"/>
          <a:ext cx="5613400" cy="313944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817748436"/>
                    </a:ext>
                  </a:extLst>
                </a:gridCol>
                <a:gridCol w="1054100">
                  <a:extLst>
                    <a:ext uri="{9D8B030D-6E8A-4147-A177-3AD203B41FA5}">
                      <a16:colId xmlns:a16="http://schemas.microsoft.com/office/drawing/2014/main" val="4000318792"/>
                    </a:ext>
                  </a:extLst>
                </a:gridCol>
                <a:gridCol w="1511300">
                  <a:extLst>
                    <a:ext uri="{9D8B030D-6E8A-4147-A177-3AD203B41FA5}">
                      <a16:colId xmlns:a16="http://schemas.microsoft.com/office/drawing/2014/main" val="1523639960"/>
                    </a:ext>
                  </a:extLst>
                </a:gridCol>
                <a:gridCol w="609600">
                  <a:extLst>
                    <a:ext uri="{9D8B030D-6E8A-4147-A177-3AD203B41FA5}">
                      <a16:colId xmlns:a16="http://schemas.microsoft.com/office/drawing/2014/main" val="3623231529"/>
                    </a:ext>
                  </a:extLst>
                </a:gridCol>
                <a:gridCol w="609600">
                  <a:extLst>
                    <a:ext uri="{9D8B030D-6E8A-4147-A177-3AD203B41FA5}">
                      <a16:colId xmlns:a16="http://schemas.microsoft.com/office/drawing/2014/main" val="219917385"/>
                    </a:ext>
                  </a:extLst>
                </a:gridCol>
                <a:gridCol w="609600">
                  <a:extLst>
                    <a:ext uri="{9D8B030D-6E8A-4147-A177-3AD203B41FA5}">
                      <a16:colId xmlns:a16="http://schemas.microsoft.com/office/drawing/2014/main" val="568149317"/>
                    </a:ext>
                  </a:extLst>
                </a:gridCol>
                <a:gridCol w="609600">
                  <a:extLst>
                    <a:ext uri="{9D8B030D-6E8A-4147-A177-3AD203B41FA5}">
                      <a16:colId xmlns:a16="http://schemas.microsoft.com/office/drawing/2014/main" val="1548606171"/>
                    </a:ext>
                  </a:extLst>
                </a:gridCol>
              </a:tblGrid>
              <a:tr h="510540">
                <a:tc>
                  <a:txBody>
                    <a:bodyPr/>
                    <a:lstStyle/>
                    <a:p>
                      <a:pPr algn="l" fontAlgn="b"/>
                      <a:r>
                        <a:rPr lang="en-US" sz="1000" u="none" strike="noStrike">
                          <a:effectLst/>
                        </a:rPr>
                        <a:t>No. of hospitals</a:t>
                      </a:r>
                      <a:endParaRPr lang="en-US" sz="1000" b="1"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000" u="none" strike="noStrike">
                          <a:effectLst/>
                        </a:rPr>
                        <a:t>Physicians (dentists excluded)</a:t>
                      </a:r>
                      <a:endParaRPr lang="en-US" sz="1000" b="1"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000" u="none" strike="noStrike">
                          <a:effectLst/>
                        </a:rPr>
                        <a:t>Region</a:t>
                      </a:r>
                      <a:endParaRPr lang="en-US" sz="1000" b="1" i="0" u="none" strike="noStrike">
                        <a:solidFill>
                          <a:srgbClr val="000000"/>
                        </a:solidFill>
                        <a:effectLst/>
                        <a:latin typeface="Arial" panose="020B0604020202020204" pitchFamily="34" charset="0"/>
                      </a:endParaRPr>
                    </a:p>
                  </a:txBody>
                  <a:tcPr marL="7620" marR="7620" marT="7620" marB="0" anchor="b"/>
                </a:tc>
                <a:tc>
                  <a:txBody>
                    <a:bodyPr/>
                    <a:lstStyle/>
                    <a:p>
                      <a:pPr algn="ctr" fontAlgn="ctr"/>
                      <a:r>
                        <a:rPr lang="en-US" sz="1100" u="none" strike="noStrike">
                          <a:effectLst/>
                        </a:rPr>
                        <a:t>R</a:t>
                      </a:r>
                      <a:r>
                        <a:rPr lang="en-US" sz="1100" u="none" strike="noStrike" baseline="-25000">
                          <a:effectLst/>
                        </a:rPr>
                        <a:t>x</a:t>
                      </a:r>
                      <a:endParaRPr lang="en-US" sz="1100" b="1"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100" u="none" strike="noStrike">
                          <a:effectLst/>
                        </a:rPr>
                        <a:t>R</a:t>
                      </a:r>
                      <a:r>
                        <a:rPr lang="en-US" sz="1100" u="none" strike="noStrike" baseline="-25000">
                          <a:effectLst/>
                        </a:rPr>
                        <a:t>y</a:t>
                      </a:r>
                      <a:endParaRPr lang="en-US" sz="1100" b="1"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100" u="none" strike="noStrike">
                          <a:effectLst/>
                        </a:rPr>
                        <a:t>d</a:t>
                      </a:r>
                      <a:r>
                        <a:rPr lang="en-US" sz="1100" u="none" strike="noStrike" baseline="-25000">
                          <a:effectLst/>
                        </a:rPr>
                        <a:t>i</a:t>
                      </a:r>
                      <a:endParaRPr lang="en-US" sz="1100" b="1" i="0" u="none" strike="noStrike">
                        <a:solidFill>
                          <a:srgbClr val="000000"/>
                        </a:solidFill>
                        <a:effectLst/>
                        <a:latin typeface="Times New Roman" panose="02020603050405020304" pitchFamily="18" charset="0"/>
                      </a:endParaRPr>
                    </a:p>
                  </a:txBody>
                  <a:tcPr marL="7620" marR="7620" marT="7620" marB="0" anchor="ctr"/>
                </a:tc>
                <a:tc>
                  <a:txBody>
                    <a:bodyPr/>
                    <a:lstStyle/>
                    <a:p>
                      <a:pPr algn="ctr" fontAlgn="ctr"/>
                      <a:r>
                        <a:rPr lang="en-US" sz="1100" u="none" strike="noStrike">
                          <a:effectLst/>
                        </a:rPr>
                        <a:t>d</a:t>
                      </a:r>
                      <a:r>
                        <a:rPr lang="en-US" sz="1100" u="none" strike="noStrike" baseline="-25000">
                          <a:effectLst/>
                        </a:rPr>
                        <a:t>i</a:t>
                      </a:r>
                      <a:r>
                        <a:rPr lang="en-US" sz="1100" u="none" strike="noStrike" baseline="30000">
                          <a:effectLst/>
                        </a:rPr>
                        <a:t>2</a:t>
                      </a:r>
                      <a:endParaRPr lang="en-US" sz="1100" b="1" i="0" u="none" strike="noStrike">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869011249"/>
                  </a:ext>
                </a:extLst>
              </a:tr>
              <a:tr h="457200">
                <a:tc>
                  <a:txBody>
                    <a:bodyPr/>
                    <a:lstStyle/>
                    <a:p>
                      <a:pPr algn="r" fontAlgn="b"/>
                      <a:r>
                        <a:rPr lang="en-US" sz="1100" u="none" strike="noStrike">
                          <a:effectLst/>
                        </a:rPr>
                        <a:t>4</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504</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Bistrita-Nasaud</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387214"/>
                  </a:ext>
                </a:extLst>
              </a:tr>
              <a:tr h="411480">
                <a:tc>
                  <a:txBody>
                    <a:bodyPr/>
                    <a:lstStyle/>
                    <a:p>
                      <a:pPr algn="r" fontAlgn="b"/>
                      <a:r>
                        <a:rPr lang="en-US" sz="1100" u="none" strike="noStrike">
                          <a:effectLst/>
                        </a:rPr>
                        <a:t>37</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4383</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Cluj</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00043876"/>
                  </a:ext>
                </a:extLst>
              </a:tr>
              <a:tr h="388620">
                <a:tc>
                  <a:txBody>
                    <a:bodyPr/>
                    <a:lstStyle/>
                    <a:p>
                      <a:pPr algn="r" fontAlgn="b"/>
                      <a:r>
                        <a:rPr lang="en-US" sz="1100" u="none" strike="noStrike">
                          <a:effectLst/>
                        </a:rPr>
                        <a:t>15</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948</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Maramures</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3186289"/>
                  </a:ext>
                </a:extLst>
              </a:tr>
              <a:tr h="182880">
                <a:tc>
                  <a:txBody>
                    <a:bodyPr/>
                    <a:lstStyle/>
                    <a:p>
                      <a:pPr algn="r" fontAlgn="b"/>
                      <a:r>
                        <a:rPr lang="en-US" sz="1100" u="none" strike="noStrike">
                          <a:effectLst/>
                        </a:rPr>
                        <a:t>6</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630</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Satu Mare</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3.5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55810414"/>
                  </a:ext>
                </a:extLst>
              </a:tr>
              <a:tr h="182880">
                <a:tc>
                  <a:txBody>
                    <a:bodyPr/>
                    <a:lstStyle/>
                    <a:p>
                      <a:pPr algn="r" fontAlgn="b"/>
                      <a:r>
                        <a:rPr lang="en-US" sz="1100" u="none" strike="noStrike">
                          <a:effectLst/>
                        </a:rPr>
                        <a:t>6</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456</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Salaj</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3.5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2.25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6409104"/>
                  </a:ext>
                </a:extLst>
              </a:tr>
              <a:tr h="182880">
                <a:tc>
                  <a:txBody>
                    <a:bodyPr/>
                    <a:lstStyle/>
                    <a:p>
                      <a:pPr algn="r" fontAlgn="b"/>
                      <a:r>
                        <a:rPr lang="en-US" sz="1100" u="none" strike="noStrike">
                          <a:effectLst/>
                        </a:rPr>
                        <a:t>11</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672</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Alba</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90078324"/>
                  </a:ext>
                </a:extLst>
              </a:tr>
              <a:tr h="198120">
                <a:tc>
                  <a:txBody>
                    <a:bodyPr/>
                    <a:lstStyle/>
                    <a:p>
                      <a:pPr algn="r" fontAlgn="b"/>
                      <a:r>
                        <a:rPr lang="en-US" sz="1100" u="none" strike="noStrike">
                          <a:effectLst/>
                        </a:rPr>
                        <a:t>23</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2035</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Brasov</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915895"/>
                  </a:ext>
                </a:extLst>
              </a:tr>
              <a:tr h="198120">
                <a:tc>
                  <a:txBody>
                    <a:bodyPr/>
                    <a:lstStyle/>
                    <a:p>
                      <a:pPr algn="r" fontAlgn="b"/>
                      <a:r>
                        <a:rPr lang="en-US" sz="1100" u="none" strike="noStrike">
                          <a:effectLst/>
                        </a:rPr>
                        <a:t>4</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436</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Covasna</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0.25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12054599"/>
                  </a:ext>
                </a:extLst>
              </a:tr>
              <a:tr h="243840">
                <a:tc>
                  <a:txBody>
                    <a:bodyPr/>
                    <a:lstStyle/>
                    <a:p>
                      <a:pPr algn="r" fontAlgn="b"/>
                      <a:r>
                        <a:rPr lang="en-US" sz="1100" u="none" strike="noStrike">
                          <a:effectLst/>
                        </a:rPr>
                        <a:t>7</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620</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Harghita</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58542880"/>
                  </a:ext>
                </a:extLst>
              </a:tr>
              <a:tr h="182880">
                <a:tc>
                  <a:txBody>
                    <a:bodyPr/>
                    <a:lstStyle/>
                    <a:p>
                      <a:pPr algn="r" fontAlgn="b"/>
                      <a:r>
                        <a:rPr lang="en-US" sz="1100" u="none" strike="noStrike">
                          <a:effectLst/>
                        </a:rPr>
                        <a:t>16</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2984</a:t>
                      </a:r>
                      <a:endParaRPr lang="en-US" sz="1100" b="0" i="0" u="none" strike="noStrike">
                        <a:solidFill>
                          <a:srgbClr val="000000"/>
                        </a:solidFill>
                        <a:effectLst/>
                        <a:latin typeface="Verdana" panose="020B0604030504040204" pitchFamily="34" charset="0"/>
                      </a:endParaRPr>
                    </a:p>
                  </a:txBody>
                  <a:tcPr marL="7620" marR="7620" marT="7620" marB="0" anchor="b"/>
                </a:tc>
                <a:tc>
                  <a:txBody>
                    <a:bodyPr/>
                    <a:lstStyle/>
                    <a:p>
                      <a:pPr algn="l" fontAlgn="b"/>
                      <a:r>
                        <a:rPr lang="en-US" sz="1100" u="none" strike="noStrike">
                          <a:effectLst/>
                        </a:rPr>
                        <a:t>Mures</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24574713"/>
                  </a:ext>
                </a:extLst>
              </a:tr>
            </a:tbl>
          </a:graphicData>
        </a:graphic>
      </p:graphicFrame>
      <p:graphicFrame>
        <p:nvGraphicFramePr>
          <p:cNvPr id="6" name="Table 5">
            <a:extLst>
              <a:ext uri="{FF2B5EF4-FFF2-40B4-BE49-F238E27FC236}">
                <a16:creationId xmlns:a16="http://schemas.microsoft.com/office/drawing/2014/main" id="{CF3CFD69-B1AF-4425-2D90-67E13A020B86}"/>
              </a:ext>
            </a:extLst>
          </p:cNvPr>
          <p:cNvGraphicFramePr>
            <a:graphicFrameLocks noGrp="1"/>
          </p:cNvGraphicFramePr>
          <p:nvPr>
            <p:extLst>
              <p:ext uri="{D42A27DB-BD31-4B8C-83A1-F6EECF244321}">
                <p14:modId xmlns:p14="http://schemas.microsoft.com/office/powerpoint/2010/main" val="3195206439"/>
              </p:ext>
            </p:extLst>
          </p:nvPr>
        </p:nvGraphicFramePr>
        <p:xfrm>
          <a:off x="8850630" y="2332990"/>
          <a:ext cx="2324100" cy="2316480"/>
        </p:xfrm>
        <a:graphic>
          <a:graphicData uri="http://schemas.openxmlformats.org/drawingml/2006/table">
            <a:tbl>
              <a:tblPr>
                <a:tableStyleId>{5C22544A-7EE6-4342-B048-85BDC9FD1C3A}</a:tableStyleId>
              </a:tblPr>
              <a:tblGrid>
                <a:gridCol w="1714500">
                  <a:extLst>
                    <a:ext uri="{9D8B030D-6E8A-4147-A177-3AD203B41FA5}">
                      <a16:colId xmlns:a16="http://schemas.microsoft.com/office/drawing/2014/main" val="3069094622"/>
                    </a:ext>
                  </a:extLst>
                </a:gridCol>
                <a:gridCol w="609600">
                  <a:extLst>
                    <a:ext uri="{9D8B030D-6E8A-4147-A177-3AD203B41FA5}">
                      <a16:colId xmlns:a16="http://schemas.microsoft.com/office/drawing/2014/main" val="437408868"/>
                    </a:ext>
                  </a:extLst>
                </a:gridCol>
              </a:tblGrid>
              <a:tr h="510540">
                <a:tc>
                  <a:txBody>
                    <a:bodyPr/>
                    <a:lstStyle/>
                    <a:p>
                      <a:pPr algn="l" fontAlgn="b"/>
                      <a:r>
                        <a:rPr lang="en-US" sz="1100" u="none" strike="noStrike">
                          <a:effectLst/>
                        </a:rPr>
                        <a:t>Spearman correlation</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0.939042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93339500"/>
                  </a:ext>
                </a:extLst>
              </a:tr>
              <a:tr h="457200">
                <a:tc>
                  <a:txBody>
                    <a:bodyPr/>
                    <a:lstStyle/>
                    <a:p>
                      <a:pPr algn="l" fontAlgn="b"/>
                      <a:r>
                        <a:rPr lang="en-US" sz="1100" u="none" strike="noStrike">
                          <a:effectLst/>
                        </a:rPr>
                        <a:t>Pearson correlation</a:t>
                      </a:r>
                      <a:endParaRPr lang="en-US" sz="1100" b="1" i="0" u="none" strike="noStrike">
                        <a:solidFill>
                          <a:srgbClr val="000000"/>
                        </a:solidFill>
                        <a:effectLst/>
                        <a:latin typeface="Verdana" panose="020B0604030504040204" pitchFamily="34" charset="0"/>
                      </a:endParaRPr>
                    </a:p>
                  </a:txBody>
                  <a:tcPr marL="7620" marR="7620" marT="7620" marB="0" anchor="b"/>
                </a:tc>
                <a:tc>
                  <a:txBody>
                    <a:bodyPr/>
                    <a:lstStyle/>
                    <a:p>
                      <a:pPr algn="r" fontAlgn="b"/>
                      <a:r>
                        <a:rPr lang="en-US" sz="1100" u="none" strike="noStrike">
                          <a:effectLst/>
                        </a:rPr>
                        <a:t>0.916995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78644639"/>
                  </a:ext>
                </a:extLst>
              </a:tr>
              <a:tr h="411480">
                <a:tc>
                  <a:txBody>
                    <a:bodyPr/>
                    <a:lstStyle/>
                    <a:p>
                      <a:pPr algn="l" fontAlgn="b"/>
                      <a:r>
                        <a:rPr lang="en-US" sz="1100" u="none" strike="noStrike">
                          <a:effectLst/>
                        </a:rPr>
                        <a:t>Spearman correlation coefficient</a:t>
                      </a:r>
                      <a:endParaRPr lang="en-US" sz="1100" b="1" i="0" u="none" strike="noStrike">
                        <a:solidFill>
                          <a:srgbClr val="000000"/>
                        </a:solidFill>
                        <a:effectLst/>
                        <a:latin typeface="Veranda"/>
                      </a:endParaRPr>
                    </a:p>
                  </a:txBody>
                  <a:tcPr marL="7620" marR="7620" marT="7620" marB="0" anchor="b"/>
                </a:tc>
                <a:tc>
                  <a:txBody>
                    <a:bodyPr/>
                    <a:lstStyle/>
                    <a:p>
                      <a:pPr algn="r" fontAlgn="b"/>
                      <a:r>
                        <a:rPr lang="en-US" sz="1100" u="none" strike="noStrike">
                          <a:effectLst/>
                        </a:rPr>
                        <a:t>0.939394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3485947"/>
                  </a:ext>
                </a:extLst>
              </a:tr>
              <a:tr h="388620">
                <a:tc>
                  <a:txBody>
                    <a:bodyPr/>
                    <a:lstStyle/>
                    <a:p>
                      <a:pPr algn="l" fontAlgn="b"/>
                      <a:r>
                        <a:rPr lang="en-US" sz="1100" u="none" strike="noStrike">
                          <a:effectLst/>
                        </a:rPr>
                        <a:t>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27146897"/>
                  </a:ext>
                </a:extLst>
              </a:tr>
              <a:tr h="182880">
                <a:tc>
                  <a:txBody>
                    <a:bodyPr/>
                    <a:lstStyle/>
                    <a:p>
                      <a:pPr algn="l" fontAlgn="b"/>
                      <a:r>
                        <a:rPr lang="en-US" sz="1100" u="none" strike="noStrike">
                          <a:effectLst/>
                        </a:rPr>
                        <a:t>T statistic</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7.725391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24872679"/>
                  </a:ext>
                </a:extLst>
              </a:tr>
              <a:tr h="182880">
                <a:tc>
                  <a:txBody>
                    <a:bodyPr/>
                    <a:lstStyle/>
                    <a:p>
                      <a:pPr algn="l" fontAlgn="b"/>
                      <a:r>
                        <a:rPr lang="en-US" sz="1100" u="none" strike="noStrike">
                          <a:effectLst/>
                        </a:rPr>
                        <a:t>Degrees of freedom</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13097015"/>
                  </a:ext>
                </a:extLst>
              </a:tr>
              <a:tr h="182880">
                <a:tc>
                  <a:txBody>
                    <a:bodyPr/>
                    <a:lstStyle/>
                    <a:p>
                      <a:pPr algn="l" fontAlgn="b"/>
                      <a:r>
                        <a:rPr lang="en-US" sz="1100" u="none" strike="noStrike">
                          <a:effectLst/>
                        </a:rPr>
                        <a:t>p value</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5.61E-05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39269299"/>
                  </a:ext>
                </a:extLst>
              </a:tr>
            </a:tbl>
          </a:graphicData>
        </a:graphic>
      </p:graphicFrame>
      <p:sp>
        <p:nvSpPr>
          <p:cNvPr id="9" name="TextBox 8">
            <a:extLst>
              <a:ext uri="{FF2B5EF4-FFF2-40B4-BE49-F238E27FC236}">
                <a16:creationId xmlns:a16="http://schemas.microsoft.com/office/drawing/2014/main" id="{73736ADE-6A15-2171-DC27-0A4F4289C5E0}"/>
              </a:ext>
            </a:extLst>
          </p:cNvPr>
          <p:cNvSpPr txBox="1"/>
          <p:nvPr/>
        </p:nvSpPr>
        <p:spPr>
          <a:xfrm>
            <a:off x="5864860" y="4727892"/>
            <a:ext cx="6667500" cy="369332"/>
          </a:xfrm>
          <a:prstGeom prst="rect">
            <a:avLst/>
          </a:prstGeom>
          <a:noFill/>
        </p:spPr>
        <p:txBody>
          <a:bodyPr wrap="square">
            <a:spAutoFit/>
          </a:bodyPr>
          <a:lstStyle/>
          <a:p>
            <a:r>
              <a:rPr lang="en-US" b="1" i="0" dirty="0">
                <a:effectLst/>
                <a:latin typeface="Söhne"/>
              </a:rPr>
              <a:t>0.9 &lt; ρ (</a:t>
            </a:r>
            <a:r>
              <a:rPr lang="en-US" b="1" i="0" dirty="0" err="1">
                <a:effectLst/>
                <a:latin typeface="Söhne"/>
              </a:rPr>
              <a:t>rs</a:t>
            </a:r>
            <a:r>
              <a:rPr lang="en-US" b="1" i="0" dirty="0">
                <a:effectLst/>
                <a:latin typeface="Söhne"/>
              </a:rPr>
              <a:t>) &lt; 1:</a:t>
            </a:r>
            <a:r>
              <a:rPr lang="en-US" b="0" i="0" dirty="0">
                <a:solidFill>
                  <a:srgbClr val="374151"/>
                </a:solidFill>
                <a:effectLst/>
                <a:latin typeface="Söhne"/>
              </a:rPr>
              <a:t> Strong positive monotonic relationship(Spearman)</a:t>
            </a:r>
            <a:endParaRPr lang="en-US" dirty="0"/>
          </a:p>
        </p:txBody>
      </p:sp>
      <p:sp>
        <p:nvSpPr>
          <p:cNvPr id="11" name="TextBox 10">
            <a:extLst>
              <a:ext uri="{FF2B5EF4-FFF2-40B4-BE49-F238E27FC236}">
                <a16:creationId xmlns:a16="http://schemas.microsoft.com/office/drawing/2014/main" id="{CB9D88A5-7910-739C-BB20-AE2DFB740AAA}"/>
              </a:ext>
            </a:extLst>
          </p:cNvPr>
          <p:cNvSpPr txBox="1"/>
          <p:nvPr/>
        </p:nvSpPr>
        <p:spPr>
          <a:xfrm>
            <a:off x="6478111" y="4990980"/>
            <a:ext cx="10924857" cy="369332"/>
          </a:xfrm>
          <a:prstGeom prst="rect">
            <a:avLst/>
          </a:prstGeom>
          <a:noFill/>
        </p:spPr>
        <p:txBody>
          <a:bodyPr wrap="square">
            <a:spAutoFit/>
          </a:bodyPr>
          <a:lstStyle/>
          <a:p>
            <a:r>
              <a:rPr lang="en-US" b="0" i="0" dirty="0">
                <a:solidFill>
                  <a:srgbClr val="374151"/>
                </a:solidFill>
                <a:effectLst/>
                <a:latin typeface="Söhne"/>
              </a:rPr>
              <a:t>0.9&lt;r&lt;1: Strong positive linear relationship(Pearson)</a:t>
            </a:r>
            <a:endParaRPr lang="en-US" dirty="0"/>
          </a:p>
        </p:txBody>
      </p:sp>
    </p:spTree>
    <p:extLst>
      <p:ext uri="{BB962C8B-B14F-4D97-AF65-F5344CB8AC3E}">
        <p14:creationId xmlns:p14="http://schemas.microsoft.com/office/powerpoint/2010/main" val="3196271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251460" y="647700"/>
            <a:ext cx="11612880" cy="1623060"/>
          </a:xfrm>
        </p:spPr>
        <p:txBody>
          <a:bodyPr/>
          <a:lstStyle/>
          <a:p>
            <a:r>
              <a:rPr lang="en-US" sz="1800" b="0" i="0" u="none" strike="noStrike" baseline="0" dirty="0">
                <a:solidFill>
                  <a:schemeClr val="accent3">
                    <a:lumMod val="50000"/>
                  </a:schemeClr>
                </a:solidFill>
                <a:latin typeface="Century Gothic" panose="020B0502020202020204" pitchFamily="34" charset="0"/>
              </a:rPr>
              <a:t/>
            </a:r>
            <a:br>
              <a:rPr lang="en-US" sz="1800" b="0" i="0" u="none" strike="noStrike" baseline="0" dirty="0">
                <a:solidFill>
                  <a:schemeClr val="accent3">
                    <a:lumMod val="50000"/>
                  </a:schemeClr>
                </a:solidFill>
                <a:latin typeface="Century Gothic" panose="020B0502020202020204" pitchFamily="34" charset="0"/>
              </a:rPr>
            </a:br>
            <a:r>
              <a:rPr lang="en-US" sz="1800" b="0" i="0" u="none" strike="noStrike" baseline="0" dirty="0">
                <a:solidFill>
                  <a:schemeClr val="accent3">
                    <a:lumMod val="50000"/>
                  </a:schemeClr>
                </a:solidFill>
                <a:latin typeface="Century Gothic" panose="020B0502020202020204" pitchFamily="34" charset="0"/>
              </a:rPr>
              <a:t> </a:t>
            </a:r>
            <a:br>
              <a:rPr lang="en-US" sz="1800" b="0" i="0" u="none" strike="noStrike" baseline="0" dirty="0">
                <a:solidFill>
                  <a:schemeClr val="accent3">
                    <a:lumMod val="50000"/>
                  </a:schemeClr>
                </a:solidFill>
                <a:latin typeface="Century Gothic" panose="020B0502020202020204" pitchFamily="34" charset="0"/>
              </a:rPr>
            </a:br>
            <a:r>
              <a:rPr lang="en-US" sz="1800" b="0" i="0" u="none" strike="noStrike" baseline="0" dirty="0">
                <a:solidFill>
                  <a:schemeClr val="accent3">
                    <a:lumMod val="50000"/>
                  </a:schemeClr>
                </a:solidFill>
                <a:latin typeface="Century Gothic" panose="020B0502020202020204" pitchFamily="34" charset="0"/>
              </a:rPr>
              <a:t>8.Use a selection of 10 units and Analyze the correlation between two variables using two non-parametric coefficients. (KENDALL)</a:t>
            </a:r>
            <a:br>
              <a:rPr lang="en-US" sz="1800" b="0" i="0" u="none" strike="noStrike" baseline="0" dirty="0">
                <a:solidFill>
                  <a:schemeClr val="accent3">
                    <a:lumMod val="50000"/>
                  </a:schemeClr>
                </a:solidFill>
                <a:latin typeface="Century Gothic" panose="020B0502020202020204" pitchFamily="34" charset="0"/>
              </a:rPr>
            </a:br>
            <a:endParaRPr lang="en-US" dirty="0">
              <a:solidFill>
                <a:schemeClr val="accent3">
                  <a:lumMod val="50000"/>
                </a:schemeClr>
              </a:solidFill>
              <a:latin typeface="Century Gothic" panose="020B0502020202020204" pitchFamily="34" charset="0"/>
            </a:endParaRPr>
          </a:p>
        </p:txBody>
      </p:sp>
      <p:graphicFrame>
        <p:nvGraphicFramePr>
          <p:cNvPr id="4" name="Table 3">
            <a:extLst>
              <a:ext uri="{FF2B5EF4-FFF2-40B4-BE49-F238E27FC236}">
                <a16:creationId xmlns:a16="http://schemas.microsoft.com/office/drawing/2014/main" id="{D38255E0-1EE4-AAB4-919A-4CF63BFFC770}"/>
              </a:ext>
            </a:extLst>
          </p:cNvPr>
          <p:cNvGraphicFramePr>
            <a:graphicFrameLocks noGrp="1"/>
          </p:cNvGraphicFramePr>
          <p:nvPr>
            <p:extLst>
              <p:ext uri="{D42A27DB-BD31-4B8C-83A1-F6EECF244321}">
                <p14:modId xmlns:p14="http://schemas.microsoft.com/office/powerpoint/2010/main" val="3450851882"/>
              </p:ext>
            </p:extLst>
          </p:nvPr>
        </p:nvGraphicFramePr>
        <p:xfrm>
          <a:off x="7566660" y="2148241"/>
          <a:ext cx="4625340" cy="2972040"/>
        </p:xfrm>
        <a:graphic>
          <a:graphicData uri="http://schemas.openxmlformats.org/drawingml/2006/table">
            <a:tbl>
              <a:tblPr>
                <a:tableStyleId>{5C22544A-7EE6-4342-B048-85BDC9FD1C3A}</a:tableStyleId>
              </a:tblPr>
              <a:tblGrid>
                <a:gridCol w="770890">
                  <a:extLst>
                    <a:ext uri="{9D8B030D-6E8A-4147-A177-3AD203B41FA5}">
                      <a16:colId xmlns:a16="http://schemas.microsoft.com/office/drawing/2014/main" val="1216969932"/>
                    </a:ext>
                  </a:extLst>
                </a:gridCol>
                <a:gridCol w="770890">
                  <a:extLst>
                    <a:ext uri="{9D8B030D-6E8A-4147-A177-3AD203B41FA5}">
                      <a16:colId xmlns:a16="http://schemas.microsoft.com/office/drawing/2014/main" val="1926191424"/>
                    </a:ext>
                  </a:extLst>
                </a:gridCol>
                <a:gridCol w="770890">
                  <a:extLst>
                    <a:ext uri="{9D8B030D-6E8A-4147-A177-3AD203B41FA5}">
                      <a16:colId xmlns:a16="http://schemas.microsoft.com/office/drawing/2014/main" val="1933142152"/>
                    </a:ext>
                  </a:extLst>
                </a:gridCol>
                <a:gridCol w="770890">
                  <a:extLst>
                    <a:ext uri="{9D8B030D-6E8A-4147-A177-3AD203B41FA5}">
                      <a16:colId xmlns:a16="http://schemas.microsoft.com/office/drawing/2014/main" val="3142660600"/>
                    </a:ext>
                  </a:extLst>
                </a:gridCol>
                <a:gridCol w="770890">
                  <a:extLst>
                    <a:ext uri="{9D8B030D-6E8A-4147-A177-3AD203B41FA5}">
                      <a16:colId xmlns:a16="http://schemas.microsoft.com/office/drawing/2014/main" val="298518942"/>
                    </a:ext>
                  </a:extLst>
                </a:gridCol>
                <a:gridCol w="770890">
                  <a:extLst>
                    <a:ext uri="{9D8B030D-6E8A-4147-A177-3AD203B41FA5}">
                      <a16:colId xmlns:a16="http://schemas.microsoft.com/office/drawing/2014/main" val="2551439956"/>
                    </a:ext>
                  </a:extLst>
                </a:gridCol>
              </a:tblGrid>
              <a:tr h="458341">
                <a:tc>
                  <a:txBody>
                    <a:bodyPr/>
                    <a:lstStyle/>
                    <a:p>
                      <a:pPr algn="l" fontAlgn="b"/>
                      <a:r>
                        <a:rPr lang="en-US" sz="1000" u="none" strike="noStrike">
                          <a:effectLst/>
                        </a:rPr>
                        <a:t>No. of hospitals</a:t>
                      </a:r>
                      <a:endParaRPr lang="en-US" sz="1000" b="1" i="0" u="none" strike="noStrike">
                        <a:solidFill>
                          <a:srgbClr val="000000"/>
                        </a:solidFill>
                        <a:effectLst/>
                        <a:latin typeface="Arial" panose="020B0604020202020204" pitchFamily="34" charset="0"/>
                      </a:endParaRPr>
                    </a:p>
                  </a:txBody>
                  <a:tcPr marL="7515" marR="7515" marT="7515" marB="0" anchor="b"/>
                </a:tc>
                <a:tc>
                  <a:txBody>
                    <a:bodyPr/>
                    <a:lstStyle/>
                    <a:p>
                      <a:pPr algn="l" fontAlgn="b"/>
                      <a:r>
                        <a:rPr lang="en-US" sz="1000" u="none" strike="noStrike">
                          <a:effectLst/>
                        </a:rPr>
                        <a:t>Physicians (dentists excluded)</a:t>
                      </a:r>
                      <a:endParaRPr lang="en-US" sz="1000" b="1" i="0" u="none" strike="noStrike">
                        <a:solidFill>
                          <a:srgbClr val="000000"/>
                        </a:solidFill>
                        <a:effectLst/>
                        <a:latin typeface="Arial" panose="020B0604020202020204" pitchFamily="34" charset="0"/>
                      </a:endParaRPr>
                    </a:p>
                  </a:txBody>
                  <a:tcPr marL="7515" marR="7515" marT="7515" marB="0" anchor="b"/>
                </a:tc>
                <a:tc>
                  <a:txBody>
                    <a:bodyPr/>
                    <a:lstStyle/>
                    <a:p>
                      <a:pPr algn="l" fontAlgn="b"/>
                      <a:r>
                        <a:rPr lang="en-US" sz="1000" u="none" strike="noStrike" dirty="0">
                          <a:effectLst/>
                        </a:rPr>
                        <a:t>Region</a:t>
                      </a:r>
                      <a:endParaRPr lang="en-US" sz="1000" b="1" i="0" u="none" strike="noStrike" dirty="0">
                        <a:solidFill>
                          <a:srgbClr val="000000"/>
                        </a:solidFill>
                        <a:effectLst/>
                        <a:latin typeface="Arial" panose="020B0604020202020204" pitchFamily="34" charset="0"/>
                      </a:endParaRPr>
                    </a:p>
                  </a:txBody>
                  <a:tcPr marL="7515" marR="7515" marT="7515" marB="0" anchor="b"/>
                </a:tc>
                <a:tc>
                  <a:txBody>
                    <a:bodyPr/>
                    <a:lstStyle/>
                    <a:p>
                      <a:pPr algn="l" fontAlgn="b"/>
                      <a:r>
                        <a:rPr lang="en-US" sz="1000" u="none" strike="noStrike">
                          <a:effectLst/>
                        </a:rPr>
                        <a:t>Concordant</a:t>
                      </a:r>
                      <a:endParaRPr lang="en-US" sz="1000" b="1" i="0" u="none" strike="noStrike">
                        <a:solidFill>
                          <a:srgbClr val="000000"/>
                        </a:solidFill>
                        <a:effectLst/>
                        <a:latin typeface="Arial" panose="020B0604020202020204" pitchFamily="34" charset="0"/>
                      </a:endParaRPr>
                    </a:p>
                  </a:txBody>
                  <a:tcPr marL="7515" marR="7515" marT="7515" marB="0" anchor="b"/>
                </a:tc>
                <a:tc>
                  <a:txBody>
                    <a:bodyPr/>
                    <a:lstStyle/>
                    <a:p>
                      <a:pPr algn="l" fontAlgn="b"/>
                      <a:r>
                        <a:rPr lang="en-US" sz="1000" u="none" strike="noStrike">
                          <a:effectLst/>
                        </a:rPr>
                        <a:t>Discordant</a:t>
                      </a:r>
                      <a:endParaRPr lang="en-US" sz="1000" b="1" i="0" u="none" strike="noStrike">
                        <a:solidFill>
                          <a:srgbClr val="000000"/>
                        </a:solidFill>
                        <a:effectLst/>
                        <a:latin typeface="Arial" panose="020B0604020202020204" pitchFamily="34" charset="0"/>
                      </a:endParaRPr>
                    </a:p>
                  </a:txBody>
                  <a:tcPr marL="7515" marR="7515" marT="7515" marB="0" anchor="b"/>
                </a:tc>
                <a:tc>
                  <a:txBody>
                    <a:bodyPr/>
                    <a:lstStyle/>
                    <a:p>
                      <a:pPr algn="l" fontAlgn="b"/>
                      <a:r>
                        <a:rPr lang="en-US" sz="1000" u="none" strike="noStrike">
                          <a:effectLst/>
                        </a:rPr>
                        <a:t> </a:t>
                      </a:r>
                      <a:endParaRPr lang="en-US" sz="1000" b="1" i="0" u="none" strike="noStrike">
                        <a:solidFill>
                          <a:srgbClr val="000000"/>
                        </a:solidFill>
                        <a:effectLst/>
                        <a:latin typeface="Arial" panose="020B0604020202020204" pitchFamily="34" charset="0"/>
                      </a:endParaRPr>
                    </a:p>
                  </a:txBody>
                  <a:tcPr marL="7515" marR="7515" marT="7515" marB="0" anchor="b"/>
                </a:tc>
                <a:extLst>
                  <a:ext uri="{0D108BD9-81ED-4DB2-BD59-A6C34878D82A}">
                    <a16:rowId xmlns:a16="http://schemas.microsoft.com/office/drawing/2014/main" val="3814598634"/>
                  </a:ext>
                </a:extLst>
              </a:tr>
              <a:tr h="306648">
                <a:tc>
                  <a:txBody>
                    <a:bodyPr/>
                    <a:lstStyle/>
                    <a:p>
                      <a:pPr algn="r" fontAlgn="b"/>
                      <a:r>
                        <a:rPr lang="en-US" sz="1100" u="none" strike="noStrike">
                          <a:effectLst/>
                        </a:rPr>
                        <a:t>4</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504</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Bistrita-Nasaud</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2847593234"/>
                  </a:ext>
                </a:extLst>
              </a:tr>
              <a:tr h="264269">
                <a:tc>
                  <a:txBody>
                    <a:bodyPr/>
                    <a:lstStyle/>
                    <a:p>
                      <a:pPr algn="r" fontAlgn="b"/>
                      <a:r>
                        <a:rPr lang="en-US" sz="1100" u="none" strike="noStrike">
                          <a:effectLst/>
                        </a:rPr>
                        <a:t>37</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4383</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Cluj</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843558090"/>
                  </a:ext>
                </a:extLst>
              </a:tr>
              <a:tr h="306648">
                <a:tc>
                  <a:txBody>
                    <a:bodyPr/>
                    <a:lstStyle/>
                    <a:p>
                      <a:pPr algn="r" fontAlgn="b"/>
                      <a:r>
                        <a:rPr lang="en-US" sz="1100" u="none" strike="noStrike">
                          <a:effectLst/>
                        </a:rPr>
                        <a:t>15</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948</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Maramures</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2463374880"/>
                  </a:ext>
                </a:extLst>
              </a:tr>
              <a:tr h="306648">
                <a:tc>
                  <a:txBody>
                    <a:bodyPr/>
                    <a:lstStyle/>
                    <a:p>
                      <a:pPr algn="r" fontAlgn="b"/>
                      <a:r>
                        <a:rPr lang="en-US" sz="1100" u="none" strike="noStrike">
                          <a:effectLst/>
                        </a:rPr>
                        <a:t>6</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630</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Satu Mare</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3736289139"/>
                  </a:ext>
                </a:extLst>
              </a:tr>
              <a:tr h="156685">
                <a:tc>
                  <a:txBody>
                    <a:bodyPr/>
                    <a:lstStyle/>
                    <a:p>
                      <a:pPr algn="r" fontAlgn="b"/>
                      <a:r>
                        <a:rPr lang="en-US" sz="1100" u="none" strike="noStrike">
                          <a:effectLst/>
                        </a:rPr>
                        <a:t>6</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456</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Salaj</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3115659898"/>
                  </a:ext>
                </a:extLst>
              </a:tr>
              <a:tr h="156685">
                <a:tc>
                  <a:txBody>
                    <a:bodyPr/>
                    <a:lstStyle/>
                    <a:p>
                      <a:pPr algn="r" fontAlgn="b"/>
                      <a:r>
                        <a:rPr lang="en-US" sz="1100" u="none" strike="noStrike">
                          <a:effectLst/>
                        </a:rPr>
                        <a:t>11</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672</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Alba</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1396140698"/>
                  </a:ext>
                </a:extLst>
              </a:tr>
              <a:tr h="198201">
                <a:tc>
                  <a:txBody>
                    <a:bodyPr/>
                    <a:lstStyle/>
                    <a:p>
                      <a:pPr algn="r" fontAlgn="b"/>
                      <a:r>
                        <a:rPr lang="en-US" sz="1100" u="none" strike="noStrike">
                          <a:effectLst/>
                        </a:rPr>
                        <a:t>23</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2035</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Brasov</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294101224"/>
                  </a:ext>
                </a:extLst>
              </a:tr>
              <a:tr h="194072">
                <a:tc>
                  <a:txBody>
                    <a:bodyPr/>
                    <a:lstStyle/>
                    <a:p>
                      <a:pPr algn="r" fontAlgn="b"/>
                      <a:r>
                        <a:rPr lang="en-US" sz="1100" u="none" strike="noStrike">
                          <a:effectLst/>
                        </a:rPr>
                        <a:t>4</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436</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Covasna</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3402188955"/>
                  </a:ext>
                </a:extLst>
              </a:tr>
              <a:tr h="194072">
                <a:tc>
                  <a:txBody>
                    <a:bodyPr/>
                    <a:lstStyle/>
                    <a:p>
                      <a:pPr algn="r" fontAlgn="b"/>
                      <a:r>
                        <a:rPr lang="en-US" sz="1100" u="none" strike="noStrike">
                          <a:effectLst/>
                        </a:rPr>
                        <a:t>7</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620</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Harghita</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863108514"/>
                  </a:ext>
                </a:extLst>
              </a:tr>
              <a:tr h="156685">
                <a:tc>
                  <a:txBody>
                    <a:bodyPr/>
                    <a:lstStyle/>
                    <a:p>
                      <a:pPr algn="r" fontAlgn="b"/>
                      <a:r>
                        <a:rPr lang="en-US" sz="1100" u="none" strike="noStrike">
                          <a:effectLst/>
                        </a:rPr>
                        <a:t>16</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2984</a:t>
                      </a:r>
                      <a:endParaRPr lang="en-US" sz="1100" b="0" i="0" u="none" strike="noStrike">
                        <a:solidFill>
                          <a:srgbClr val="000000"/>
                        </a:solidFill>
                        <a:effectLst/>
                        <a:latin typeface="Verdana" panose="020B0604030504040204" pitchFamily="34" charset="0"/>
                      </a:endParaRPr>
                    </a:p>
                  </a:txBody>
                  <a:tcPr marL="7515" marR="7515" marT="7515" marB="0" anchor="b"/>
                </a:tc>
                <a:tc>
                  <a:txBody>
                    <a:bodyPr/>
                    <a:lstStyle/>
                    <a:p>
                      <a:pPr algn="l" fontAlgn="b"/>
                      <a:r>
                        <a:rPr lang="en-US" sz="1100" u="none" strike="noStrike">
                          <a:effectLst/>
                        </a:rPr>
                        <a:t>Mures</a:t>
                      </a:r>
                      <a:endParaRPr lang="en-US" sz="1100" b="1" i="0" u="none" strike="noStrike">
                        <a:solidFill>
                          <a:srgbClr val="000000"/>
                        </a:solidFill>
                        <a:effectLst/>
                        <a:latin typeface="Verdana" panose="020B0604030504040204" pitchFamily="34" charset="0"/>
                      </a:endParaRPr>
                    </a:p>
                  </a:txBody>
                  <a:tcPr marL="7515" marR="7515" marT="751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818730108"/>
                  </a:ext>
                </a:extLst>
              </a:tr>
              <a:tr h="156685">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80</a:t>
                      </a:r>
                      <a:endParaRPr lang="en-US" sz="1100" b="1" i="0" u="none" strike="noStrike">
                        <a:solidFill>
                          <a:srgbClr val="000000"/>
                        </a:solidFill>
                        <a:effectLst/>
                        <a:latin typeface="Calibri" panose="020F0502020204030204" pitchFamily="34" charset="0"/>
                      </a:endParaRPr>
                    </a:p>
                  </a:txBody>
                  <a:tcPr marL="7515" marR="7515" marT="7515" marB="0" anchor="b"/>
                </a:tc>
                <a:tc>
                  <a:txBody>
                    <a:bodyPr/>
                    <a:lstStyle/>
                    <a:p>
                      <a:pPr algn="r" fontAlgn="b"/>
                      <a:r>
                        <a:rPr lang="en-US" sz="1100" u="none" strike="noStrike">
                          <a:effectLst/>
                        </a:rPr>
                        <a:t>6</a:t>
                      </a:r>
                      <a:endParaRPr lang="en-US" sz="1100" b="1" i="0" u="none" strike="noStrike">
                        <a:solidFill>
                          <a:srgbClr val="000000"/>
                        </a:solidFill>
                        <a:effectLst/>
                        <a:latin typeface="Calibri" panose="020F0502020204030204" pitchFamily="34" charset="0"/>
                      </a:endParaRPr>
                    </a:p>
                  </a:txBody>
                  <a:tcPr marL="7515" marR="7515" marT="7515" marB="0" anchor="b"/>
                </a:tc>
                <a:tc>
                  <a:txBody>
                    <a:bodyPr/>
                    <a:lstStyle/>
                    <a:p>
                      <a:pPr algn="l" fontAlgn="b"/>
                      <a:r>
                        <a:rPr lang="en-US" sz="1100" u="none" strike="noStrike" dirty="0">
                          <a:effectLst/>
                        </a:rPr>
                        <a:t>SUM</a:t>
                      </a:r>
                      <a:endParaRPr lang="en-US" sz="1100" b="0" i="0" u="none" strike="noStrike" dirty="0">
                        <a:solidFill>
                          <a:srgbClr val="000000"/>
                        </a:solidFill>
                        <a:effectLst/>
                        <a:latin typeface="Calibri" panose="020F0502020204030204" pitchFamily="34" charset="0"/>
                      </a:endParaRPr>
                    </a:p>
                  </a:txBody>
                  <a:tcPr marL="7515" marR="7515" marT="7515" marB="0" anchor="b"/>
                </a:tc>
                <a:extLst>
                  <a:ext uri="{0D108BD9-81ED-4DB2-BD59-A6C34878D82A}">
                    <a16:rowId xmlns:a16="http://schemas.microsoft.com/office/drawing/2014/main" val="676528101"/>
                  </a:ext>
                </a:extLst>
              </a:tr>
            </a:tbl>
          </a:graphicData>
        </a:graphic>
      </p:graphicFrame>
      <p:graphicFrame>
        <p:nvGraphicFramePr>
          <p:cNvPr id="5" name="Table 4">
            <a:extLst>
              <a:ext uri="{FF2B5EF4-FFF2-40B4-BE49-F238E27FC236}">
                <a16:creationId xmlns:a16="http://schemas.microsoft.com/office/drawing/2014/main" id="{75450E18-16F8-98E2-1D4F-BE54C50A9C91}"/>
              </a:ext>
            </a:extLst>
          </p:cNvPr>
          <p:cNvGraphicFramePr>
            <a:graphicFrameLocks noGrp="1"/>
          </p:cNvGraphicFramePr>
          <p:nvPr>
            <p:extLst>
              <p:ext uri="{D42A27DB-BD31-4B8C-83A1-F6EECF244321}">
                <p14:modId xmlns:p14="http://schemas.microsoft.com/office/powerpoint/2010/main" val="911896752"/>
              </p:ext>
            </p:extLst>
          </p:nvPr>
        </p:nvGraphicFramePr>
        <p:xfrm>
          <a:off x="251460" y="2270760"/>
          <a:ext cx="2463800" cy="2217420"/>
        </p:xfrm>
        <a:graphic>
          <a:graphicData uri="http://schemas.openxmlformats.org/drawingml/2006/table">
            <a:tbl>
              <a:tblPr>
                <a:tableStyleId>{5C22544A-7EE6-4342-B048-85BDC9FD1C3A}</a:tableStyleId>
              </a:tblPr>
              <a:tblGrid>
                <a:gridCol w="2463800">
                  <a:extLst>
                    <a:ext uri="{9D8B030D-6E8A-4147-A177-3AD203B41FA5}">
                      <a16:colId xmlns:a16="http://schemas.microsoft.com/office/drawing/2014/main" val="105817679"/>
                    </a:ext>
                  </a:extLst>
                </a:gridCol>
              </a:tblGrid>
              <a:tr h="845820">
                <a:tc>
                  <a:txBody>
                    <a:bodyPr/>
                    <a:lstStyle/>
                    <a:p>
                      <a:pPr algn="l" fontAlgn="b"/>
                      <a:r>
                        <a:rPr lang="en-US" sz="1100" u="none" strike="noStrike">
                          <a:effectLst/>
                        </a:rPr>
                        <a:t>Rule</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87220046"/>
                  </a:ext>
                </a:extLst>
              </a:tr>
              <a:tr h="510540">
                <a:tc>
                  <a:txBody>
                    <a:bodyPr/>
                    <a:lstStyle/>
                    <a:p>
                      <a:pPr algn="l" fontAlgn="ctr"/>
                      <a:r>
                        <a:rPr lang="en-US" sz="1200" u="none" strike="noStrike">
                          <a:effectLst/>
                        </a:rPr>
                        <a:t>concordant if (xi &gt; xj and yi &gt; yj) or (xi &lt; xj and yi &lt; yj)</a:t>
                      </a:r>
                      <a:endParaRPr lang="en-US" sz="1200" b="0" i="0" u="none" strike="noStrike">
                        <a:solidFill>
                          <a:srgbClr val="111111"/>
                        </a:solidFill>
                        <a:effectLst/>
                        <a:latin typeface="Georgia" panose="02040502050405020303" pitchFamily="18" charset="0"/>
                      </a:endParaRPr>
                    </a:p>
                  </a:txBody>
                  <a:tcPr marR="7620" marT="7620" marB="0" anchor="ctr"/>
                </a:tc>
                <a:extLst>
                  <a:ext uri="{0D108BD9-81ED-4DB2-BD59-A6C34878D82A}">
                    <a16:rowId xmlns:a16="http://schemas.microsoft.com/office/drawing/2014/main" val="1247881522"/>
                  </a:ext>
                </a:extLst>
              </a:tr>
              <a:tr h="487680">
                <a:tc>
                  <a:txBody>
                    <a:bodyPr/>
                    <a:lstStyle/>
                    <a:p>
                      <a:pPr algn="l" fontAlgn="ctr"/>
                      <a:r>
                        <a:rPr lang="en-US" sz="1200" u="none" strike="noStrike">
                          <a:effectLst/>
                        </a:rPr>
                        <a:t>discordant if (xi &gt; xj and yi &lt; yj) or (xi &lt; xj and yi &gt; yj)</a:t>
                      </a:r>
                      <a:endParaRPr lang="en-US" sz="1200" b="0" i="0" u="none" strike="noStrike">
                        <a:solidFill>
                          <a:srgbClr val="111111"/>
                        </a:solidFill>
                        <a:effectLst/>
                        <a:latin typeface="Georgia" panose="02040502050405020303" pitchFamily="18" charset="0"/>
                      </a:endParaRPr>
                    </a:p>
                  </a:txBody>
                  <a:tcPr marR="7620" marT="7620" marB="0" anchor="ctr"/>
                </a:tc>
                <a:extLst>
                  <a:ext uri="{0D108BD9-81ED-4DB2-BD59-A6C34878D82A}">
                    <a16:rowId xmlns:a16="http://schemas.microsoft.com/office/drawing/2014/main" val="2290915553"/>
                  </a:ext>
                </a:extLst>
              </a:tr>
              <a:tr h="373380">
                <a:tc>
                  <a:txBody>
                    <a:bodyPr/>
                    <a:lstStyle/>
                    <a:p>
                      <a:pPr algn="l" fontAlgn="ctr"/>
                      <a:r>
                        <a:rPr lang="en-US" sz="1200" u="none" strike="noStrike" dirty="0">
                          <a:effectLst/>
                        </a:rPr>
                        <a:t>neither if xi = </a:t>
                      </a:r>
                      <a:r>
                        <a:rPr lang="en-US" sz="1200" u="none" strike="noStrike" dirty="0" err="1">
                          <a:effectLst/>
                        </a:rPr>
                        <a:t>xj</a:t>
                      </a:r>
                      <a:r>
                        <a:rPr lang="en-US" sz="1200" u="none" strike="noStrike" dirty="0">
                          <a:effectLst/>
                        </a:rPr>
                        <a:t> or </a:t>
                      </a:r>
                      <a:r>
                        <a:rPr lang="en-US" sz="1200" u="none" strike="noStrike" dirty="0" err="1">
                          <a:effectLst/>
                        </a:rPr>
                        <a:t>yi</a:t>
                      </a:r>
                      <a:r>
                        <a:rPr lang="en-US" sz="1200" u="none" strike="noStrike" dirty="0">
                          <a:effectLst/>
                        </a:rPr>
                        <a:t> = </a:t>
                      </a:r>
                      <a:r>
                        <a:rPr lang="en-US" sz="1200" u="none" strike="noStrike" dirty="0" err="1">
                          <a:effectLst/>
                        </a:rPr>
                        <a:t>yj</a:t>
                      </a:r>
                      <a:r>
                        <a:rPr lang="en-US" sz="1200" u="none" strike="noStrike" dirty="0">
                          <a:effectLst/>
                        </a:rPr>
                        <a:t> (i.e. ties are not counted).</a:t>
                      </a:r>
                      <a:endParaRPr lang="en-US" sz="1200" b="0" i="0" u="none" strike="noStrike" dirty="0">
                        <a:solidFill>
                          <a:srgbClr val="111111"/>
                        </a:solidFill>
                        <a:effectLst/>
                        <a:latin typeface="Georgia" panose="02040502050405020303" pitchFamily="18" charset="0"/>
                      </a:endParaRPr>
                    </a:p>
                  </a:txBody>
                  <a:tcPr marR="7620" marT="7620" marB="0" anchor="ctr"/>
                </a:tc>
                <a:extLst>
                  <a:ext uri="{0D108BD9-81ED-4DB2-BD59-A6C34878D82A}">
                    <a16:rowId xmlns:a16="http://schemas.microsoft.com/office/drawing/2014/main" val="3010564045"/>
                  </a:ext>
                </a:extLst>
              </a:tr>
            </a:tbl>
          </a:graphicData>
        </a:graphic>
      </p:graphicFrame>
      <p:sp>
        <p:nvSpPr>
          <p:cNvPr id="7" name="TextBox 6">
            <a:extLst>
              <a:ext uri="{FF2B5EF4-FFF2-40B4-BE49-F238E27FC236}">
                <a16:creationId xmlns:a16="http://schemas.microsoft.com/office/drawing/2014/main" id="{E3A04B06-190E-CF18-744C-C1E46D4896DD}"/>
              </a:ext>
            </a:extLst>
          </p:cNvPr>
          <p:cNvSpPr txBox="1"/>
          <p:nvPr/>
        </p:nvSpPr>
        <p:spPr>
          <a:xfrm>
            <a:off x="156210" y="4877038"/>
            <a:ext cx="6103620" cy="738664"/>
          </a:xfrm>
          <a:prstGeom prst="rect">
            <a:avLst/>
          </a:prstGeom>
          <a:noFill/>
        </p:spPr>
        <p:txBody>
          <a:bodyPr wrap="square">
            <a:spAutoFit/>
          </a:bodyPr>
          <a:lstStyle/>
          <a:p>
            <a:r>
              <a:rPr lang="en-US" sz="2400" b="1" i="0" u="none" strike="noStrike" dirty="0">
                <a:solidFill>
                  <a:srgbClr val="000000"/>
                </a:solidFill>
                <a:effectLst/>
                <a:latin typeface="Verdana" panose="020B0604030504040204" pitchFamily="34" charset="0"/>
              </a:rPr>
              <a:t>Kendall’s Tau</a:t>
            </a:r>
            <a:r>
              <a:rPr lang="en-US" dirty="0"/>
              <a:t> </a:t>
            </a:r>
            <a:r>
              <a:rPr lang="en-US" sz="1800" b="0" i="0" u="none" strike="noStrike" dirty="0">
                <a:solidFill>
                  <a:srgbClr val="000000"/>
                </a:solidFill>
                <a:effectLst/>
                <a:latin typeface="Calibri" panose="020F0502020204030204" pitchFamily="34" charset="0"/>
              </a:rPr>
              <a:t>0.860465116</a:t>
            </a:r>
            <a:r>
              <a:rPr lang="en-US" dirty="0"/>
              <a:t> </a:t>
            </a:r>
            <a:r>
              <a:rPr lang="en-US" sz="1800" b="0" i="0" u="none" strike="noStrike" dirty="0">
                <a:solidFill>
                  <a:srgbClr val="000000"/>
                </a:solidFill>
                <a:effectLst/>
                <a:latin typeface="Calibri" panose="020F0502020204030204" pitchFamily="34" charset="0"/>
              </a:rPr>
              <a:t>(very strong positive correlation)</a:t>
            </a:r>
            <a:r>
              <a:rPr lang="en-US" sz="1800" b="0" i="0" u="none" strike="noStrike" dirty="0">
                <a:solidFill>
                  <a:srgbClr val="000000"/>
                </a:solidFill>
                <a:effectLst/>
                <a:latin typeface="Calibri" panose="020F0502020204030204" pitchFamily="34" charset="0"/>
                <a:sym typeface="Wingdings" panose="05000000000000000000" pitchFamily="2" charset="2"/>
              </a:rPr>
              <a:t></a:t>
            </a:r>
            <a:r>
              <a:rPr lang="en-US" sz="1800" b="0" i="0" u="none" strike="noStrike" dirty="0">
                <a:solidFill>
                  <a:srgbClr val="000000"/>
                </a:solidFill>
                <a:effectLst/>
                <a:latin typeface="Calibri" panose="020F0502020204030204" pitchFamily="34" charset="0"/>
              </a:rPr>
              <a:t>if the correlation is between 0.8-1</a:t>
            </a:r>
            <a:r>
              <a:rPr lang="en-US" dirty="0"/>
              <a:t> </a:t>
            </a:r>
          </a:p>
        </p:txBody>
      </p:sp>
    </p:spTree>
    <p:extLst>
      <p:ext uri="{BB962C8B-B14F-4D97-AF65-F5344CB8AC3E}">
        <p14:creationId xmlns:p14="http://schemas.microsoft.com/office/powerpoint/2010/main" val="1003962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4214264" y="1816817"/>
            <a:ext cx="4220610" cy="667512"/>
          </a:xfrm>
        </p:spPr>
        <p:txBody>
          <a:bodyPr/>
          <a:lstStyle/>
          <a:p>
            <a:r>
              <a:rPr lang="en-US" kern="6400" spc="600" dirty="0">
                <a:latin typeface="Century Gothic" panose="020B0502020202020204" pitchFamily="34" charset="0"/>
              </a:rPr>
              <a:t>REFERENCES</a:t>
            </a:r>
          </a:p>
        </p:txBody>
      </p:sp>
      <p:sp>
        <p:nvSpPr>
          <p:cNvPr id="5" name="TextBox 4">
            <a:extLst>
              <a:ext uri="{FF2B5EF4-FFF2-40B4-BE49-F238E27FC236}">
                <a16:creationId xmlns:a16="http://schemas.microsoft.com/office/drawing/2014/main" id="{306852CC-0C53-4203-3EC3-2DEDE6E78DF4}"/>
              </a:ext>
            </a:extLst>
          </p:cNvPr>
          <p:cNvSpPr txBox="1"/>
          <p:nvPr/>
        </p:nvSpPr>
        <p:spPr>
          <a:xfrm>
            <a:off x="360348" y="2590914"/>
            <a:ext cx="7197448" cy="1154162"/>
          </a:xfrm>
          <a:prstGeom prst="rect">
            <a:avLst/>
          </a:prstGeom>
          <a:noFill/>
        </p:spPr>
        <p:txBody>
          <a:bodyPr wrap="square">
            <a:spAutoFit/>
          </a:bodyPr>
          <a:lstStyle/>
          <a:p>
            <a:r>
              <a:rPr lang="en-US" sz="2300" dirty="0">
                <a:solidFill>
                  <a:schemeClr val="accent3">
                    <a:lumMod val="50000"/>
                  </a:schemeClr>
                </a:solidFill>
              </a:rPr>
              <a:t>1-chrome-extension://</a:t>
            </a:r>
            <a:r>
              <a:rPr lang="en-US" sz="2300" dirty="0" err="1">
                <a:solidFill>
                  <a:schemeClr val="accent3">
                    <a:lumMod val="50000"/>
                  </a:schemeClr>
                </a:solidFill>
              </a:rPr>
              <a:t>efaidnbmnnnibpcajpcglclefindmkaj</a:t>
            </a:r>
            <a:r>
              <a:rPr lang="en-US" sz="2300" dirty="0">
                <a:solidFill>
                  <a:schemeClr val="accent3">
                    <a:lumMod val="50000"/>
                  </a:schemeClr>
                </a:solidFill>
              </a:rPr>
              <a:t>/https://www.rjlm.ro/system/revista/52/399-404.pdf</a:t>
            </a:r>
          </a:p>
        </p:txBody>
      </p:sp>
      <p:sp>
        <p:nvSpPr>
          <p:cNvPr id="7" name="TextBox 6">
            <a:extLst>
              <a:ext uri="{FF2B5EF4-FFF2-40B4-BE49-F238E27FC236}">
                <a16:creationId xmlns:a16="http://schemas.microsoft.com/office/drawing/2014/main" id="{32083E84-222F-10B9-6D9A-C22728452FFE}"/>
              </a:ext>
            </a:extLst>
          </p:cNvPr>
          <p:cNvSpPr txBox="1"/>
          <p:nvPr/>
        </p:nvSpPr>
        <p:spPr>
          <a:xfrm>
            <a:off x="360347" y="3897828"/>
            <a:ext cx="7309415" cy="800219"/>
          </a:xfrm>
          <a:prstGeom prst="rect">
            <a:avLst/>
          </a:prstGeom>
          <a:noFill/>
        </p:spPr>
        <p:txBody>
          <a:bodyPr wrap="square">
            <a:spAutoFit/>
          </a:bodyPr>
          <a:lstStyle/>
          <a:p>
            <a:r>
              <a:rPr lang="en-US" sz="2300" dirty="0">
                <a:solidFill>
                  <a:schemeClr val="accent3">
                    <a:lumMod val="50000"/>
                  </a:schemeClr>
                </a:solidFill>
              </a:rPr>
              <a:t>2-https://www.ncbi.nlm.nih.gov/pmc/articles/PMC9719376/</a:t>
            </a:r>
          </a:p>
        </p:txBody>
      </p:sp>
    </p:spTree>
    <p:extLst>
      <p:ext uri="{BB962C8B-B14F-4D97-AF65-F5344CB8AC3E}">
        <p14:creationId xmlns:p14="http://schemas.microsoft.com/office/powerpoint/2010/main" val="3921708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p:txBody>
          <a:bodyPr/>
          <a:lstStyle/>
          <a:p>
            <a:r>
              <a:rPr lang="en-US" dirty="0" err="1"/>
              <a:t>Secarea</a:t>
            </a:r>
            <a:r>
              <a:rPr lang="en-US" dirty="0"/>
              <a:t> Diana</a:t>
            </a:r>
          </a:p>
          <a:p>
            <a:r>
              <a:rPr lang="en-US" dirty="0" err="1"/>
              <a:t>Stoimenova</a:t>
            </a:r>
            <a:r>
              <a:rPr lang="en-US" dirty="0"/>
              <a:t> Stela</a:t>
            </a:r>
          </a:p>
          <a:p>
            <a:r>
              <a:rPr lang="en-US" dirty="0"/>
              <a:t>Toma Bianca</a:t>
            </a:r>
          </a:p>
        </p:txBody>
      </p:sp>
    </p:spTree>
    <p:extLst>
      <p:ext uri="{BB962C8B-B14F-4D97-AF65-F5344CB8AC3E}">
        <p14:creationId xmlns:p14="http://schemas.microsoft.com/office/powerpoint/2010/main" val="709539801"/>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 id="{8E8E6382-84E0-47AA-A2A2-8ED603AAB26E}" vid="{692203AD-8BB8-47BB-AF1A-2D7F125D9E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9060146-7700-4F6C-986B-89E3839BD4ED}">
  <ds:schemaRefs>
    <ds:schemaRef ds:uri="http://schemas.microsoft.com/sharepoint/v3/contenttype/forms"/>
  </ds:schemaRefs>
</ds:datastoreItem>
</file>

<file path=customXml/itemProps2.xml><?xml version="1.0" encoding="utf-8"?>
<ds:datastoreItem xmlns:ds="http://schemas.openxmlformats.org/officeDocument/2006/customXml" ds:itemID="{08FC98CF-E78A-425D-90FD-55D1C468A3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35FEF8-1733-4347-95CE-3BB62B2B8D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{5CFC89E4-AE17-4A63-B026-1B3A87BCDB5C}tf78438558_win32</Template>
  <TotalTime>4850</TotalTime>
  <Words>1891</Words>
  <Application>Microsoft Office PowerPoint</Application>
  <PresentationFormat>Widescreen</PresentationFormat>
  <Paragraphs>638</Paragraphs>
  <Slides>31</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31</vt:i4>
      </vt:variant>
    </vt:vector>
  </HeadingPairs>
  <TitlesOfParts>
    <vt:vector size="48" baseType="lpstr">
      <vt:lpstr>Arial</vt:lpstr>
      <vt:lpstr>Arial Black</vt:lpstr>
      <vt:lpstr>Calibri</vt:lpstr>
      <vt:lpstr>Cambria</vt:lpstr>
      <vt:lpstr>Century Gothic</vt:lpstr>
      <vt:lpstr>Constantia</vt:lpstr>
      <vt:lpstr>Georgia</vt:lpstr>
      <vt:lpstr>Google Sans</vt:lpstr>
      <vt:lpstr>Helvetica Neue</vt:lpstr>
      <vt:lpstr>Sabon Next LT</vt:lpstr>
      <vt:lpstr>Sabon Next LT (Body)</vt:lpstr>
      <vt:lpstr>Söhne</vt:lpstr>
      <vt:lpstr>Times New Roman</vt:lpstr>
      <vt:lpstr>Veranda</vt:lpstr>
      <vt:lpstr>Verdana</vt:lpstr>
      <vt:lpstr>Wingdings</vt:lpstr>
      <vt:lpstr>Office Theme</vt:lpstr>
      <vt:lpstr>The qualityof HEAlth care</vt:lpstr>
      <vt:lpstr> 1. Explain the selection of the variables; describe the data sources and the metadata for the selected variables.  </vt:lpstr>
      <vt:lpstr>I. Explain the relevance of your analysis and use some references in this purpose. literature REVIew</vt:lpstr>
      <vt:lpstr>2. Describe your data with graphical tools; No. of Hospitals  </vt:lpstr>
      <vt:lpstr>2. Describe your data with graphical tools; No. of Hospitals  </vt:lpstr>
      <vt:lpstr>2. Describe your data with graphical tools; No. of Hospitals  </vt:lpstr>
      <vt:lpstr>2. Describe your data with graphical tools; No. of Hospitals  </vt:lpstr>
      <vt:lpstr>2. Describe your data with graphical tools; No. of Hospitals  </vt:lpstr>
      <vt:lpstr>   3. Group the statistical units into classes; plot the histograms, based on your classification. </vt:lpstr>
      <vt:lpstr>   3. Group the statistical units into classes; plot the histograms, based on your classification. </vt:lpstr>
      <vt:lpstr>   3. Group the statistical units into classes; plot the histograms, based on your classification. </vt:lpstr>
      <vt:lpstr>   3. Group the statistical units into classes; plot the histograms, based on your classification. </vt:lpstr>
      <vt:lpstr>   3. Group the statistical units into classes; plot the histograms, based on your classification. </vt:lpstr>
      <vt:lpstr>   4.Summarize sample data using the descriptive statistics measures. Apply Excel facilities and comment the results. (Hospitals) </vt:lpstr>
      <vt:lpstr>   4.Summarize sample data using the descriptive statistics measures. Apply Excel facilities and comment the results. (hospitals) </vt:lpstr>
      <vt:lpstr>   4.Summarize sample data using the descriptive statistics measures. Apply Excel facilities and comment the results. (Physicians) </vt:lpstr>
      <vt:lpstr>   4.Summarize sample data using the descriptive statistics measures. Apply Excel facilities and comment the results.(Family doctors)  </vt:lpstr>
      <vt:lpstr>   4.Summarize sample data using the descriptive statistics measures. Apply Excel facilities and comment the results. (Beds)</vt:lpstr>
      <vt:lpstr>   4.Summarize sample data using the descriptive statistics measures. Apply Excel facilities and comment the results. (Deaths) </vt:lpstr>
      <vt:lpstr>PowerPoint Presentation</vt:lpstr>
      <vt:lpstr>6. Identify the outliers. Develop and discuss the boxplot for the distribution of each variable. (Hospitals)    </vt:lpstr>
      <vt:lpstr>6. Identify the outliers. Develop and discuss the boxplot for the distribution of each variable. (Physicians)    </vt:lpstr>
      <vt:lpstr>6. Identify the outliers. Develop and discuss the boxplot for the distribution of each variable. (Family doctors)    </vt:lpstr>
      <vt:lpstr>6. Identify the outliers. Develop and discuss the boxplot for the distribution of each variable. (Beds)    </vt:lpstr>
      <vt:lpstr>6. Identify the outliers. Develop and discuss the boxplot for the distribution of each variable. (deaths)    </vt:lpstr>
      <vt:lpstr>PowerPoint Presentation</vt:lpstr>
      <vt:lpstr>PowerPoint Presentation</vt:lpstr>
      <vt:lpstr>   8.Use a selection of 10 units and Analyze the correlation between two variables using two non-parametric coefficients. (SPEARMAN) </vt:lpstr>
      <vt:lpstr>   8.Use a selection of 10 units and Analyze the correlation between two variables using two non-parametric coefficients. (KENDALL)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PROJECT</dc:title>
  <dc:subject/>
  <dc:creator>Bianca TomaRO</dc:creator>
  <cp:lastModifiedBy>DIA</cp:lastModifiedBy>
  <cp:revision>4</cp:revision>
  <dcterms:created xsi:type="dcterms:W3CDTF">2024-01-04T14:15:37Z</dcterms:created>
  <dcterms:modified xsi:type="dcterms:W3CDTF">2024-01-12T07:02:35Z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